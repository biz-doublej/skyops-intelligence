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3657600" y="73152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38BDF8"/>
                </a:solidFill>
              </a:rPr>
              <a:t>✈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457200" y="17373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SkyOps Intelligence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8BDF8"/>
                </a:solidFill>
              </a:rPr>
              <a:t>실시간 항공 운항 이상 탐지 및 AI 관제 보조 플랫폼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2026학년도 1학기 캡스톤디자인  |  DoubleJ팀  |  정재원  |  지도교수: 조상구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문제 정의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항공 산업이 직면한 핵심 과제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💰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연간 330억 달러 손실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FAA 기준 항공편 지연으로 인한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경제적 손실 (전 세계)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6032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256032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⏱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69748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배치 기반 시스템 한계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9748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사후 분석 중심으로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실시간 대응 불가능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466344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🔇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480060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도메인 LLM 부재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0060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ATC 전문 용어/절차에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특화된 AI 어시스턴트 없음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766560" y="1371600"/>
            <a:ext cx="1920240" cy="2560320"/>
          </a:xfrm>
          <a:prstGeom prst="roundRect">
            <a:avLst>
              <a:gd name="adj" fmla="val 381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1554480"/>
            <a:ext cx="1920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rgbClr val="000000"/>
                </a:solidFill>
              </a:rPr>
              <a:t>📊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6903720" y="214884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수동 이상 탐지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903720" y="260604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관제사 육안 모니터링 의존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자동 감지 시스템 부재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솔루션 개요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5-Layer 아키텍처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3716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38BDF8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Layer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103120" y="13716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데이터 수집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0" y="13716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OpenSky · METAR · Kaggle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18288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↓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48640" y="20574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0EA5E9">
              <a:alpha val="8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057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EA5E9"/>
                </a:solidFill>
              </a:rPr>
              <a:t>Layer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103120" y="2057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스트리밍 처리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72000" y="20574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Kafka · Flink · Redis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25146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↓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48640" y="27432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A78BFA">
              <a:alpha val="80000"/>
            </a:srgbClr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27432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A78BFA"/>
                </a:solidFill>
              </a:rPr>
              <a:t>Layer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103120" y="27432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AI 모델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572000" y="27432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XGBoost · IF · LLM · RAG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↓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48640" y="34290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FBBF24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4290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Layer 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103120" y="34290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API 서빙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572000" y="34290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FastAPI · vLLM · WebSocket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8862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334155"/>
                </a:solidFill>
              </a:rPr>
              <a:t>↓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48640" y="4114800"/>
            <a:ext cx="1371600" cy="502920"/>
          </a:xfrm>
          <a:prstGeom prst="roundRect">
            <a:avLst>
              <a:gd name="adj" fmla="val 10909"/>
            </a:avLst>
          </a:prstGeom>
          <a:solidFill>
            <a:srgbClr val="22C55E">
              <a:alpha val="80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41148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2C55E"/>
                </a:solidFill>
              </a:rPr>
              <a:t>Layer 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103120" y="41148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1F5F9"/>
                </a:solidFill>
              </a:rPr>
              <a:t>대시보드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4572000" y="4114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Next.js · Leaflet · MapLibre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데이터 수집 (Layer 1)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실시간 + 배치 데이터 통합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60~80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대/30초 (한국 영공)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13,969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Kaggle 학습 데이터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95K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LLM 학습 데이터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30초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폴링 주기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OpenSky ADS-B API — 전 세계 30,000+ 수신기 기반 실시간 항공기 위치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NOAA METAR/TAF — 공항별 기상 데이터 (풍속, 시정, 운고)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Kaggle Flight Delay Dataset — 미국 국내선 13,969건 (Feature Engineering 기반)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• LiveATC.net STT (Whisper large-v3) — ATC 교신 10시간 녹취 변환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스트리밍 파이프라인 (Layer 2)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Apache Kafka + PyFlink + Redis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토픽 × 파티션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슬라이딩 윈도우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600s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Redis TTL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CEP 이상 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38BDF8"/>
                </a:solidFill>
              </a:rPr>
              <a:t>Kafka Topics: flight-position, weather-event, gate-event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PyFlink: 5분 윈도우 집계 (avg/min/max 고도, 속도, 수직속도)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Redis: ZSET(항공기 인덱스) + HASH(상태) + LIST(이상 이벤트)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CEP: ALTITUDE_SPIKE(152m/30s), VELOCITY_SPIKE, PATH_DEVIATION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Feature Engineering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20개 수치형 + 3개 범주형 = 23개 Feature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02920" y="150876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38BDF8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02920" y="15087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시간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" y="201168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dep_hour, dep_dayofweek,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dep_month, dep_dayofyear, is_weekend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029968" y="137160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258568" y="150876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0EA5E9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258568" y="15087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EA5E9"/>
                </a:solidFill>
              </a:rPr>
              <a:t>노선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121408" y="201168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distance_miles,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sched_elapsed_min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85616" y="137160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014216" y="150876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014216" y="15087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이력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877056" y="201168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prev_dep_delay, prev_arr_delay,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is_prev_delayed, carrier/route_hist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541264" y="137160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5769864" y="150876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FBBF24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5769864" y="15087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혼잡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632704" y="201168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origin_hourly_departures,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dest_hourly_arrivals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296912" y="1371600"/>
            <a:ext cx="1600200" cy="2286000"/>
          </a:xfrm>
          <a:prstGeom prst="roundRect">
            <a:avLst>
              <a:gd name="adj" fmla="val 4571"/>
            </a:avLst>
          </a:prstGeom>
          <a:solidFill>
            <a:srgbClr val="1E293B"/>
          </a:solidFill>
          <a:ln/>
        </p:spPr>
      </p:sp>
      <p:sp>
        <p:nvSpPr>
          <p:cNvPr id="22" name="Shape 20"/>
          <p:cNvSpPr/>
          <p:nvPr/>
        </p:nvSpPr>
        <p:spPr>
          <a:xfrm>
            <a:off x="7525512" y="1508760"/>
            <a:ext cx="1143000" cy="365760"/>
          </a:xfrm>
          <a:prstGeom prst="roundRect">
            <a:avLst>
              <a:gd name="adj" fmla="val 15000"/>
            </a:avLst>
          </a:prstGeom>
          <a:solidFill>
            <a:srgbClr val="22C55E">
              <a:alpha val="7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525512" y="1508760"/>
            <a:ext cx="1143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기상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7388352" y="2011680"/>
            <a:ext cx="1417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weather_score,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origin/dest_weather_hist_delay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XGBoost 지연 예측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Optuna 하이퍼파라미터 최적화 + 5-Fold CV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1828800"/>
                <a:gridCol w="1828800"/>
                <a:gridCol w="18288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모델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정확도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DummyMean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27.13분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17.52분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88.8%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LinearRegression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25.34분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11.49분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87.8%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RandomForest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24.69분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11.29분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88.2%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XGBoost+Optuna 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24.64분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11.50분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88.3%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10.4초</a:t>
            </a:r>
            <a:endParaRPr lang="en-US" sz="2800" dirty="0"/>
          </a:p>
        </p:txBody>
      </p:sp>
      <p:sp>
        <p:nvSpPr>
          <p:cNvPr id="8" name="Text 5"/>
          <p:cNvSpPr/>
          <p:nvPr/>
        </p:nvSpPr>
        <p:spPr>
          <a:xfrm>
            <a:off x="45720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학습 시간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46888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0" name="Text 7"/>
          <p:cNvSpPr/>
          <p:nvPr/>
        </p:nvSpPr>
        <p:spPr>
          <a:xfrm>
            <a:off x="246888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88.3%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46888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분류 정확도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480560" y="347472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3" name="Text 10"/>
          <p:cNvSpPr/>
          <p:nvPr/>
        </p:nvSpPr>
        <p:spPr>
          <a:xfrm>
            <a:off x="4480560" y="356616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0.090</a:t>
            </a:r>
            <a:endParaRPr lang="en-US" sz="2800" dirty="0"/>
          </a:p>
        </p:txBody>
      </p:sp>
      <p:sp>
        <p:nvSpPr>
          <p:cNvPr id="14" name="Text 11"/>
          <p:cNvSpPr/>
          <p:nvPr/>
        </p:nvSpPr>
        <p:spPr>
          <a:xfrm>
            <a:off x="4480560" y="4069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R² Score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SHAP Feature Importance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XGBoost 예측 해석 — 상위 5 Feature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716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dep_dayofyear (연중일)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931920" y="1417320"/>
            <a:ext cx="3703320" cy="2743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7" name="Text 5"/>
          <p:cNvSpPr/>
          <p:nvPr/>
        </p:nvSpPr>
        <p:spPr>
          <a:xfrm>
            <a:off x="7726680" y="13716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5.702분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20116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prev_arr_delay (직전편 지연)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931920" y="2057400"/>
            <a:ext cx="1933956" cy="2743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10" name="Text 8"/>
          <p:cNvSpPr/>
          <p:nvPr/>
        </p:nvSpPr>
        <p:spPr>
          <a:xfrm>
            <a:off x="5957316" y="20116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2.930분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26517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route_hist_delay (노선 이력)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931920" y="2697480"/>
            <a:ext cx="1563624" cy="2743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13" name="Text 11"/>
          <p:cNvSpPr/>
          <p:nvPr/>
        </p:nvSpPr>
        <p:spPr>
          <a:xfrm>
            <a:off x="5586984" y="265176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2.401분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29184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dep_hour (출발 시간)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31920" y="3337560"/>
            <a:ext cx="1234440" cy="2743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32918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1.871분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48640" y="393192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carrier_hist_delay (항공사)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931920" y="3977640"/>
            <a:ext cx="576072" cy="274320"/>
          </a:xfrm>
          <a:prstGeom prst="roundRect">
            <a:avLst>
              <a:gd name="adj" fmla="val 13333"/>
            </a:avLst>
          </a:prstGeom>
          <a:solidFill>
            <a:srgbClr val="38BDF8"/>
          </a:solidFill>
          <a:ln/>
        </p:spPr>
      </p:sp>
      <p:sp>
        <p:nvSpPr>
          <p:cNvPr id="19" name="Text 17"/>
          <p:cNvSpPr/>
          <p:nvPr/>
        </p:nvSpPr>
        <p:spPr>
          <a:xfrm>
            <a:off x="4599432" y="39319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0.869분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3840480"/>
            <a:ext cx="8229600" cy="822960"/>
          </a:xfrm>
          <a:prstGeom prst="roundRect">
            <a:avLst>
              <a:gd name="adj" fmla="val 8889"/>
            </a:avLst>
          </a:prstGeom>
          <a:solidFill>
            <a:srgbClr val="1E293B"/>
          </a:solidFill>
          <a:ln/>
        </p:spPr>
      </p:sp>
      <p:sp>
        <p:nvSpPr>
          <p:cNvPr id="21" name="Text 19"/>
          <p:cNvSpPr/>
          <p:nvPr/>
        </p:nvSpPr>
        <p:spPr>
          <a:xfrm>
            <a:off x="731520" y="39776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BBF24"/>
                </a:solidFill>
              </a:rPr>
              <a:t>핵심 인사이트: Cascade Delay — 직전편 지연이 체인처럼 전파 (prev_arr + prev_dep = 3.26분)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이상 탐지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Isolation Forest + CEP 룰 엔진 앙상블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44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0.335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IF F1 Score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0.359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Precision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0.314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Recall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3종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CEP 룰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CEP 룰 엔진 (실시간 ADS-B 스트림)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ALTITUDE_SPIKE: 고도 급변 &gt; 152m/30초 (FAA AIM 기준 500ft/분)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VELOCITY_SPIKE: 속도 이상 &gt; 50m/s/30초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PATH_DEVIATION: 경로 이탈 &gt; 5km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• 심각도 3단계: LOW(1~1.5배) / MEDIUM(1.5~2배) / HIGH(2배+)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LLM 학습 데이터 구축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항공 도메인 특화 95K건 데이터셋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60K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GPT-4 QA 생성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10K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이상 탐지 설명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5K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승객 안내문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10h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ATC 교신 STT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데이터 파이프라인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1. LiveATC.net 공개 녹취 → Whisper large-v3 STT 변환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2. ICAO 문서 PDF 파싱 (AIM, FAR Part 91/121)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3. GPT-4 API로 Instruction-Input-Output QA 쌍 자동 생성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4. Alpaca 포맷 전처리 → 최종 데이터셋 저장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QLoRA 파인튜닝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Qwen2.5-7B-Instruct · 4-bit NF4 · RTX 3070 8GB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0.1053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Train Loss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97.88%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Token 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9시간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학습 시간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0.92%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학습 파라미터 비율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학습 설정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LoRA rank: 64 / alpha: 16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Batch size: 1 (grad_accum: 16)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Learning rate: 2e-4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Epochs: 2 / Steps: 1,594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결과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Eval Loss: 0.0445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Trainable Params: 40.4M / 4.4B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Adapter Size: 155 MB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Samples/sec: 0.787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DPO 선호도 정렬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Direct Preference Optimization · 12시간 학습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Rewards Accuracy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0.0294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Eval Loss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8.91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Margins (최종)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34%↓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SFT 대비 개선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04672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DPO 핵심 결과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Step 20부터 chosen &gt; rejected 100% 판별 성공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Rewards Margins: 0.80 → 8.91 (선호도 격차 지속 확대)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• Eval Loss: SFT(0.0445) → DPO(0.0294) — 34% 개선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• 총 119 Steps / 1 Epoch / beta=0.1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도메인 벤치마크 평가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500건 평가셋 · ROUGE-L / BLEU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유형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ROUGE-L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BLEU-1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전체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500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0.169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38BDF8"/>
                          </a:solidFill>
                        </a:rPr>
                        <a:t>0.121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이상 탐지 설명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331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0.159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0.111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승객 안내문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125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0.225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0.170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규정 QA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44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0.090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0.064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3474720"/>
            <a:ext cx="8046720" cy="1097280"/>
          </a:xfrm>
          <a:prstGeom prst="roundRect">
            <a:avLst>
              <a:gd name="adj" fmla="val 6667"/>
            </a:avLst>
          </a:prstGeom>
          <a:solidFill>
            <a:srgbClr val="1E293B"/>
          </a:solidFill>
          <a:ln/>
        </p:spPr>
      </p:sp>
      <p:sp>
        <p:nvSpPr>
          <p:cNvPr id="7" name="Text 4"/>
          <p:cNvSpPr/>
          <p:nvPr/>
        </p:nvSpPr>
        <p:spPr>
          <a:xfrm>
            <a:off x="731520" y="356616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해석: 생성형 LLM은 동일 의미를 다른 어휘로 표현해도 BLEU/ROUGE가 낮게 측정됨.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승객 안내문(ROUGE 0.225)은 정형화된 문체 학습 효과 확인. 규정 QA(0.090)는 학습 데이터 부족.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MLOps 파이프라인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자동 재학습 + 드리프트 감지 + 모니터링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594360" y="15544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38BDF8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MLflow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실험 추적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파라미터·메트릭 자동 로깅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모델 버전 관리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68880" y="13716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0" name="Shape 8"/>
          <p:cNvSpPr/>
          <p:nvPr/>
        </p:nvSpPr>
        <p:spPr>
          <a:xfrm>
            <a:off x="2788920" y="15544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FBBF24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278892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F24"/>
                </a:solidFill>
              </a:rPr>
              <a:t>Airflow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65176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일 1회 재학습 DAG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데이터 신선도 체크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조건부 재학습 트리거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63440" y="13716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83480" y="15544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A78BFA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498348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</a:rPr>
              <a:t>EvidentlyAI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84632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Feature 분포 드리프트 감지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Jensen-Shannon 발산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키워드 빈도 모니터링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858000" y="1371600"/>
            <a:ext cx="2011680" cy="2743200"/>
          </a:xfrm>
          <a:prstGeom prst="roundRect">
            <a:avLst>
              <a:gd name="adj" fmla="val 3636"/>
            </a:avLst>
          </a:prstGeom>
          <a:solidFill>
            <a:srgbClr val="1E293B"/>
          </a:solidFill>
          <a:ln/>
        </p:spPr>
      </p:sp>
      <p:sp>
        <p:nvSpPr>
          <p:cNvPr id="18" name="Shape 16"/>
          <p:cNvSpPr/>
          <p:nvPr/>
        </p:nvSpPr>
        <p:spPr>
          <a:xfrm>
            <a:off x="7178040" y="1554480"/>
            <a:ext cx="1371600" cy="365760"/>
          </a:xfrm>
          <a:prstGeom prst="roundRect">
            <a:avLst>
              <a:gd name="adj" fmla="val 15000"/>
            </a:avLst>
          </a:prstGeom>
          <a:solidFill>
            <a:srgbClr val="22C55E">
              <a:alpha val="7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7178040" y="155448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Slack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7040880" y="2103120"/>
            <a:ext cx="1645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Webhook 알림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재학습 결과 통보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이상 감지 경고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vLLM 서빙 + RAG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AWQ 4-bit 양자화 · ChromaDB + LangChain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4-bit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AWQ 양자화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47분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양자화 시간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5.2GB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GPU 메모리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A78BF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5~13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tok/s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vLLM 서빙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awq_marlin 커널 (최적화)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Max Model Len: 2,048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KV Cache: 3,680 토큰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OpenAI 호환 API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2743200"/>
            <a:ext cx="3840480" cy="1645920"/>
          </a:xfrm>
          <a:prstGeom prst="roundRect">
            <a:avLst>
              <a:gd name="adj" fmla="val 4444"/>
            </a:avLst>
          </a:prstGeom>
          <a:solidFill>
            <a:srgbClr val="1E293B"/>
          </a:solidFill>
          <a:ln/>
        </p:spPr>
      </p:sp>
      <p:sp>
        <p:nvSpPr>
          <p:cNvPr id="20" name="Text 18"/>
          <p:cNvSpPr/>
          <p:nvPr/>
        </p:nvSpPr>
        <p:spPr>
          <a:xfrm>
            <a:off x="4846320" y="288036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22C55E"/>
                </a:solidFill>
              </a:rPr>
              <a:t>RAG 체인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ChromaDB 벡터 DB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BAAI/bge-m3 임베딩 (CPU)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LangChain LCEL 체인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• Top-K: 4 / Temp: 0.2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FastAPI 서빙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13개 엔드포인트 · REST + WebSocket + Prometheus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11ms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지연 예측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46888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2C55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15ms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46888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이상 탐지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48056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2" name="Text 10"/>
          <p:cNvSpPr/>
          <p:nvPr/>
        </p:nvSpPr>
        <p:spPr>
          <a:xfrm>
            <a:off x="448056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BBF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~1초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48056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LLM 직접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92240" y="1371600"/>
            <a:ext cx="1828800" cy="1005840"/>
          </a:xfrm>
          <a:prstGeom prst="roundRect">
            <a:avLst>
              <a:gd name="adj" fmla="val 7273"/>
            </a:avLst>
          </a:prstGeom>
          <a:solidFill>
            <a:srgbClr val="1E293B"/>
          </a:solidFill>
          <a:ln/>
        </p:spPr>
      </p:sp>
      <p:sp>
        <p:nvSpPr>
          <p:cNvPr id="15" name="Text 13"/>
          <p:cNvSpPr/>
          <p:nvPr/>
        </p:nvSpPr>
        <p:spPr>
          <a:xfrm>
            <a:off x="6492240" y="1463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13개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492240" y="196596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엔드포인트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2743200"/>
            <a:ext cx="8046720" cy="1828800"/>
          </a:xfrm>
          <a:prstGeom prst="roundRect">
            <a:avLst>
              <a:gd name="adj" fmla="val 4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2880360"/>
            <a:ext cx="74980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8BDF8"/>
                </a:solidFill>
              </a:rPr>
              <a:t>REST: /predict/delay, /detect/anomaly, /chat, /explain/anomaly, /generate/announcement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REST: /aircraft/live, /aircraft/h3, /anomaly/recent, /health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C55E"/>
                </a:solidFill>
              </a:rPr>
              <a:t>WebSocket: /ws/aircraft (3초), /ws/anomalies (1초)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BBF24"/>
                </a:solidFill>
              </a:rPr>
              <a:t>Prometheus: /metrics (요청 수, 레이턴시, 상태코드)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한국어 후처리: _clean_korean() — 중국어 코드스위칭 필터링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Next.js 실시간 관제 대시보드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6개 페이지 · 다크 테마 · WebSocket 실시간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13716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463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대시보드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KPI 카드 4종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알림 + 항공기 요약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46120" y="13716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3246120" y="1463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🗺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24612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실시간 지도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42900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Leaflet 라이브맵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WebSocket + SWR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126480" y="137160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4" name="Text 12"/>
          <p:cNvSpPr/>
          <p:nvPr/>
        </p:nvSpPr>
        <p:spPr>
          <a:xfrm>
            <a:off x="6126480" y="146304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🚨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126480" y="187452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이상 탐지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09360" y="21945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실시간 피드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AI 분석 버튼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65760" y="3611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지연 예측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항공사/공항 폼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XGBoost 결과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46120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2" name="Text 20"/>
          <p:cNvSpPr/>
          <p:nvPr/>
        </p:nvSpPr>
        <p:spPr>
          <a:xfrm>
            <a:off x="324612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🔥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246120" y="3611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혼잡도 맵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2900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MapLibre GL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H3 히트맵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126480" y="3108960"/>
            <a:ext cx="2697480" cy="1463040"/>
          </a:xfrm>
          <a:prstGeom prst="roundRect">
            <a:avLst>
              <a:gd name="adj" fmla="val 5000"/>
            </a:avLst>
          </a:prstGeom>
          <a:solidFill>
            <a:srgbClr val="1E293B"/>
          </a:solidFill>
          <a:ln/>
        </p:spPr>
      </p:sp>
      <p:sp>
        <p:nvSpPr>
          <p:cNvPr id="26" name="Text 24"/>
          <p:cNvSpPr/>
          <p:nvPr/>
        </p:nvSpPr>
        <p:spPr>
          <a:xfrm>
            <a:off x="6126480" y="32004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126480" y="3611880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8BDF8"/>
                </a:solidFill>
              </a:rPr>
              <a:t>AI 챗봇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09360" y="393192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RAG 채팅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안내문 생성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사용자 시나리오 3종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실제 운영 상황 기반 데모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3716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</p:sp>
      <p:sp>
        <p:nvSpPr>
          <p:cNvPr id="6" name="Shape 4"/>
          <p:cNvSpPr/>
          <p:nvPr/>
        </p:nvSpPr>
        <p:spPr>
          <a:xfrm>
            <a:off x="1280160" y="1554480"/>
            <a:ext cx="731520" cy="731520"/>
          </a:xfrm>
          <a:prstGeom prst="ellipse">
            <a:avLst/>
          </a:prstGeom>
          <a:solidFill>
            <a:srgbClr val="FBBF24">
              <a:alpha val="70000"/>
            </a:srgbClr>
          </a:solidFill>
          <a:ln/>
        </p:spPr>
      </p:sp>
      <p:sp>
        <p:nvSpPr>
          <p:cNvPr id="7" name="Text 5"/>
          <p:cNvSpPr/>
          <p:nvPr/>
        </p:nvSpPr>
        <p:spPr>
          <a:xfrm>
            <a:off x="128016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BBF24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1148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BBF24"/>
                </a:solidFill>
              </a:rPr>
              <a:t>기상 악화 → 지연 예측 → 안내문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880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인천공항 강풍 45노트 감지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→ XGBoost +38분 지연 예측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→ AI 승객 안내문 자동 생성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0" y="13716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</p:sp>
      <p:sp>
        <p:nvSpPr>
          <p:cNvPr id="11" name="Shape 9"/>
          <p:cNvSpPr/>
          <p:nvPr/>
        </p:nvSpPr>
        <p:spPr>
          <a:xfrm>
            <a:off x="4206240" y="1554480"/>
            <a:ext cx="731520" cy="731520"/>
          </a:xfrm>
          <a:prstGeom prst="ellipse">
            <a:avLst/>
          </a:prstGeom>
          <a:solidFill>
            <a:srgbClr val="EF4444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420624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F4444"/>
                </a:solidFill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333756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</a:rPr>
              <a:t>이상 비행 → LLM 설명 → 대응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37560" y="2880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KAL1133 고도 급변 427m/23초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→ AI 원인 분석 (HIGH)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→ FAA AIM 기반 대응 절차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1371600"/>
            <a:ext cx="2743200" cy="2926080"/>
          </a:xfrm>
          <a:prstGeom prst="roundRect">
            <a:avLst>
              <a:gd name="adj" fmla="val 2667"/>
            </a:avLst>
          </a:prstGeom>
          <a:solidFill>
            <a:srgbClr val="1E293B"/>
          </a:solidFill>
          <a:ln/>
        </p:spPr>
      </p:sp>
      <p:sp>
        <p:nvSpPr>
          <p:cNvPr id="16" name="Shape 14"/>
          <p:cNvSpPr/>
          <p:nvPr/>
        </p:nvSpPr>
        <p:spPr>
          <a:xfrm>
            <a:off x="7132320" y="1554480"/>
            <a:ext cx="731520" cy="731520"/>
          </a:xfrm>
          <a:prstGeom prst="ellipse">
            <a:avLst/>
          </a:prstGeom>
          <a:solidFill>
            <a:srgbClr val="38BDF8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0" y="15544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</a:rPr>
              <a:t>3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6263640" y="24231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38BDF8"/>
                </a:solidFill>
              </a:rPr>
              <a:t>FAA 규정 QA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63640" y="2880360"/>
            <a:ext cx="2468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관제사: '비상 선언 항공기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7700 Squawk 대응 절차는?'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→ RAG 검색 + LLM 답변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종합 성능 벤치마크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목표 대비 달성 현황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1828800"/>
                <a:gridCol w="137160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지표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목표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1F5F9"/>
                          </a:solidFill>
                        </a:rPr>
                        <a:t>실측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415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지연 예측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≤15분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24.64분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BBF24"/>
                          </a:solidFill>
                        </a:rPr>
                        <a:t>△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지연 예측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분류 정확도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≥75%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88.3%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이상 탐지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F1 Score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≥0.85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0.335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F4444"/>
                          </a:solidFill>
                        </a:rPr>
                        <a:t>✗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LLM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Token Acc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97.88%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DPO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Rewards Acc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100%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API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지연 예측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F1F5F9"/>
                          </a:solidFill>
                        </a:rPr>
                        <a:t>≤500ms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11ms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2C55E"/>
                          </a:solidFill>
                        </a:rPr>
                        <a:t>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한계 및 개선 방향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솔직한 분석 + 다음 단계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38BDF8">
              <a:alpha val="1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280160"/>
            <a:ext cx="73152" cy="685800"/>
          </a:xfrm>
          <a:prstGeom prst="rect">
            <a:avLst/>
          </a:prstGeom>
          <a:solidFill>
            <a:srgbClr val="FBBF2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BBF24"/>
                </a:solidFill>
              </a:rPr>
              <a:t>RMSE 24.64분 (목표 15분)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00400" y="12801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미국 데이터, 기상 미반영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669280" y="128016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한국공항공사 ACDM API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실시간 METAR Feature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57200" y="2148840"/>
            <a:ext cx="73152" cy="6858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F4444"/>
                </a:solidFill>
              </a:rPr>
              <a:t>IF F1 0.335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0" y="214884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비지도 학습 한계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669280" y="214884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Autoencoder 전환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반지도 학습 적용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73152" cy="685800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78BFA"/>
                </a:solidFill>
              </a:rPr>
              <a:t>LLM 중국어 혼합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01752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Qwen2.5 기본 언어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0" y="301752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한국어 특화 모델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(SOLAR/KULLM)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886200"/>
            <a:ext cx="73152" cy="685800"/>
          </a:xfrm>
          <a:prstGeom prst="rect">
            <a:avLst/>
          </a:prstGeom>
          <a:solidFill>
            <a:srgbClr val="38BDF8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</a:rPr>
              <a:t>추론 5~13 tok/s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200400" y="388620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RTX 3070 8GB 제한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3886200"/>
            <a:ext cx="3017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GPU 업그레이드 (A100)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1F5F9"/>
                </a:solidFill>
              </a:rPr>
              <a:t>Speculative Decoding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3152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한계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00400" y="10058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원인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10058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34155"/>
                </a:solidFill>
              </a:rPr>
              <a:t>개선 방향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1F5F9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결론 &amp; 기대효과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71600" y="114300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실시간 스트리밍 + ML + LLM + RAG + 대시보드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엔드투엔드 AI 관제 보조 시스템 PoC 완성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2011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🛡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관제 안전성 향상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이중 확인 체계 (AI 보조 + 관제사 판단)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83464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880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71600" y="288036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관제사 업무 경감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안내문 5초 생성, SOP 즉시 검색, 이상 자동 설명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8229600" cy="731520"/>
          </a:xfrm>
          <a:prstGeom prst="roundRect">
            <a:avLst>
              <a:gd name="adj" fmla="val 10000"/>
            </a:avLst>
          </a:prstGeom>
          <a:solidFill>
            <a:srgbClr val="1E293B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749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🎯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371600" y="3749040"/>
            <a:ext cx="6858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ML/AI 엔지니어 포트폴리오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1F5F9"/>
                </a:solidFill>
              </a:rPr>
              <a:t>Kafka, vLLM, QLoRA, DPO, Next.js 풀스택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8BD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감사합니다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SkyOps Intelligence — 최종 발표</dc:title>
  <dc:subject>PptxGenJS Presentation</dc:subject>
  <dc:creator>정재원</dc:creator>
  <cp:lastModifiedBy>정재원</cp:lastModifiedBy>
  <cp:revision>1</cp:revision>
  <dcterms:created xsi:type="dcterms:W3CDTF">2026-04-04T07:43:03Z</dcterms:created>
  <dcterms:modified xsi:type="dcterms:W3CDTF">2026-04-04T07:43:03Z</dcterms:modified>
</cp:coreProperties>
</file>