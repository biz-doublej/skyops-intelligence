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>
                <a:solidFill>
                  <a:srgbClr val="065A82"/>
                </a:solidFill>
              </a:rPr>
              <a:t>Training &amp; Eval Loss Curve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Loss</c:v>
                </c:pt>
              </c:strCache>
            </c:strRef>
          </c:tx>
          <c:spPr>
            <a:ln w="25400">
              <a:solidFill>
                <a:srgbClr val="065A82"/>
              </a:solidFill>
            </a:ln>
          </c:spPr>
          <c:marker>
            <c:symbol val="none"/>
          </c:marker>
          <c:cat>
            <c:strRef>
              <c:f>Sheet1!$A$2:$A$16</c:f>
              <c:strCache>
                <c:ptCount val="15"/>
                <c:pt idx="0">
                  <c:v>0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  <c:pt idx="4">
                  <c:v>400</c:v>
                </c:pt>
                <c:pt idx="5">
                  <c:v>500</c:v>
                </c:pt>
                <c:pt idx="6">
                  <c:v>600</c:v>
                </c:pt>
                <c:pt idx="7">
                  <c:v>700</c:v>
                </c:pt>
                <c:pt idx="8">
                  <c:v>800</c:v>
                </c:pt>
                <c:pt idx="9">
                  <c:v>900</c:v>
                </c:pt>
                <c:pt idx="10">
                  <c:v>1000</c:v>
                </c:pt>
                <c:pt idx="11">
                  <c:v>1100</c:v>
                </c:pt>
                <c:pt idx="12">
                  <c:v>1200</c:v>
                </c:pt>
                <c:pt idx="13">
                  <c:v>1300</c:v>
                </c:pt>
                <c:pt idx="14">
                  <c:v>1594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0.721</c:v>
                </c:pt>
                <c:pt idx="1">
                  <c:v>0.412</c:v>
                </c:pt>
                <c:pt idx="2">
                  <c:v>0.285</c:v>
                </c:pt>
                <c:pt idx="3">
                  <c:v>0.218</c:v>
                </c:pt>
                <c:pt idx="4">
                  <c:v>0.178</c:v>
                </c:pt>
                <c:pt idx="5">
                  <c:v>0.151</c:v>
                </c:pt>
                <c:pt idx="6">
                  <c:v>0.132</c:v>
                </c:pt>
                <c:pt idx="7">
                  <c:v>0.118</c:v>
                </c:pt>
                <c:pt idx="8">
                  <c:v>0.108</c:v>
                </c:pt>
                <c:pt idx="9">
                  <c:v>0.098</c:v>
                </c:pt>
                <c:pt idx="10">
                  <c:v>0.089</c:v>
                </c:pt>
                <c:pt idx="11">
                  <c:v>0.079</c:v>
                </c:pt>
                <c:pt idx="12">
                  <c:v>0.068</c:v>
                </c:pt>
                <c:pt idx="13">
                  <c:v>0.058</c:v>
                </c:pt>
                <c:pt idx="14">
                  <c:v>0.1053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Eval Loss</c:v>
                </c:pt>
              </c:strCache>
            </c:strRef>
          </c:tx>
          <c:spPr>
            <a:ln w="31750">
              <a:solidFill>
                <a:srgbClr val="02C39A"/>
              </a:solidFill>
            </a:ln>
          </c:spPr>
          <c:marker>
            <c:symbol val="none"/>
          </c:marker>
          <c:cat>
            <c:strRef>
              <c:f>Sheet1!$A$2:$A$16</c:f>
              <c:strCache>
                <c:ptCount val="15"/>
                <c:pt idx="0">
                  <c:v>0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  <c:pt idx="4">
                  <c:v>400</c:v>
                </c:pt>
                <c:pt idx="5">
                  <c:v>500</c:v>
                </c:pt>
                <c:pt idx="6">
                  <c:v>600</c:v>
                </c:pt>
                <c:pt idx="7">
                  <c:v>700</c:v>
                </c:pt>
                <c:pt idx="8">
                  <c:v>800</c:v>
                </c:pt>
                <c:pt idx="9">
                  <c:v>900</c:v>
                </c:pt>
                <c:pt idx="10">
                  <c:v>1000</c:v>
                </c:pt>
                <c:pt idx="11">
                  <c:v>1100</c:v>
                </c:pt>
                <c:pt idx="12">
                  <c:v>1200</c:v>
                </c:pt>
                <c:pt idx="13">
                  <c:v>1300</c:v>
                </c:pt>
                <c:pt idx="14">
                  <c:v>1594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7">
                  <c:v>0.0892</c:v>
                </c:pt>
                <c:pt idx="14">
                  <c:v>0.0445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745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Georgia"/>
              </a:rPr>
              <a:t>SkyOps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02C39A"/>
                </a:solidFill>
                <a:latin typeface="Georgia"/>
              </a:rPr>
              <a:t>중간발표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0D4E8"/>
                </a:solidFill>
                <a:latin typeface="Calibri"/>
              </a:rPr>
              <a:t>LLM 파인튜닝 데이터 구축 &amp; QLoRA 학습 완료 보고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3977639"/>
            <a:ext cx="5760720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8076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090A0"/>
                </a:solidFill>
                <a:latin typeface="Calibri"/>
              </a:rPr>
              <a:t>2026.04.02   |   7~8주차   |   캡스톤디자인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발표 순서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167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2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2148840" cy="43891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2C39A"/>
                </a:solidFill>
                <a:latin typeface="Georgia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240280"/>
            <a:ext cx="1874519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Phase 1 성과 요약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83280"/>
            <a:ext cx="1965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D4E8"/>
                </a:solidFill>
                <a:latin typeface="Calibri"/>
              </a:rPr>
              <a:t>1~6주차 핵심 결과물 리뷰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88920" y="1417320"/>
            <a:ext cx="2148840" cy="43891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20" y="160020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2C39A"/>
                </a:solidFill>
                <a:latin typeface="Georgia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79" y="2240280"/>
            <a:ext cx="1874519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360" y="242316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Week 7 — 데이터 파이프라인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3383280"/>
            <a:ext cx="1965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D4E8"/>
                </a:solidFill>
                <a:latin typeface="Calibri"/>
              </a:rPr>
              <a:t>ATC 코퍼스 · QA · 이상설명 · 안내문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0" y="1417320"/>
            <a:ext cx="2148840" cy="43891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160020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2C39A"/>
                </a:solidFill>
                <a:latin typeface="Georgia"/>
              </a:rPr>
              <a:t>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57800" y="2240280"/>
            <a:ext cx="1874519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79" y="242316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Week 8 — QLoRA 파인튜닝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79" y="3383280"/>
            <a:ext cx="1965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D4E8"/>
                </a:solidFill>
                <a:latin typeface="Calibri"/>
              </a:rPr>
              <a:t>Qwen2.5-7B · NF4 · LoRA 학습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59" y="1417320"/>
            <a:ext cx="2148840" cy="43891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52359" y="160020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2C39A"/>
                </a:solidFill>
                <a:latin typeface="Georgia"/>
              </a:rPr>
              <a:t>04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89519" y="2240280"/>
            <a:ext cx="1874519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43799" y="242316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학습 결과 &amp; 분석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799" y="3383280"/>
            <a:ext cx="1965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D4E8"/>
                </a:solidFill>
                <a:latin typeface="Calibri"/>
              </a:rPr>
              <a:t>Loss · Accuracy · 수렴 분석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84080" y="1417320"/>
            <a:ext cx="2148840" cy="43891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84080" y="160020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2C39A"/>
                </a:solidFill>
                <a:latin typeface="Georgia"/>
              </a:rPr>
              <a:t>05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921240" y="2240280"/>
            <a:ext cx="1874519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19" y="242316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다음 단계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19" y="3383280"/>
            <a:ext cx="1965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D4E8"/>
                </a:solidFill>
                <a:latin typeface="Calibri"/>
              </a:rPr>
              <a:t>9~10주차 계획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Phase 1 성과 요약 (1~6주차)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167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3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685800" cy="685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261872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234440"/>
            <a:ext cx="2057400" cy="6858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1261872"/>
            <a:ext cx="19933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Flink + Redis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920240"/>
            <a:ext cx="2743200" cy="443484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920240"/>
            <a:ext cx="64008" cy="4434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" y="205740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실시간 스트림 처리
CEP 룰 3종
이상 탐지 이벤트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27832" y="1234440"/>
            <a:ext cx="685800" cy="685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27832" y="1261872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13632" y="1234440"/>
            <a:ext cx="2057400" cy="6858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41064" y="1261872"/>
            <a:ext cx="19933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EDA + Feature Eng.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27832" y="1920240"/>
            <a:ext cx="2743200" cy="443484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27832" y="1920240"/>
            <a:ext cx="64008" cy="4434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92424" y="205740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26개 Feature 설계
항공 지연 원인 분석
시계열 분할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35624" y="1234440"/>
            <a:ext cx="685800" cy="685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35624" y="1261872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21424" y="1234440"/>
            <a:ext cx="2057400" cy="6858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48856" y="1261872"/>
            <a:ext cx="19933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XGBoost 모델링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35624" y="1920240"/>
            <a:ext cx="2743200" cy="443484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35624" y="1920240"/>
            <a:ext cx="64008" cy="4434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0216" y="205740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val RMSE 24.64분
Optuna HPO
MLflow Tracking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43416" y="1234440"/>
            <a:ext cx="685800" cy="685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43416" y="1261872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29216" y="1234440"/>
            <a:ext cx="2057400" cy="6858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56648" y="1261872"/>
            <a:ext cx="19933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SHAP + IF 탐지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43416" y="1920240"/>
            <a:ext cx="2743200" cy="443484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043416" y="1920240"/>
            <a:ext cx="64008" cy="4434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08008" y="205740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dep_dayofyear 1위
F1=0.345 (앙상블)
CEP+ML 복합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5943600"/>
            <a:ext cx="11521440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9893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2C39A"/>
                </a:solidFill>
                <a:latin typeface="Calibri"/>
              </a:rPr>
              <a:t>Isolation Forest 학습 완료  ·  val RMSE 24.64분  ·  IF 앙상블 F1 = 0.345  ·  SHAP Top1: dep_dayofyear (|SHAP|=5.70)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A0D4E8"/>
                </a:solidFill>
                <a:latin typeface="Calibri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Georgia"/>
              </a:rPr>
              <a:t>Week 7 — LLM 데이터 구축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5661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E8F5"/>
                </a:solidFill>
                <a:latin typeface="Calibri"/>
              </a:rPr>
              <a:t>항공 운영 도메인 파인튜닝 데이터셋 설계 및 생성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LLM 데이터 파이프라인 — 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167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5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2103120" cy="50292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37160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2C39A"/>
                </a:solidFill>
                <a:latin typeface="Georgia"/>
              </a:rPr>
              <a:t>①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1737360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14884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LiveATC
다운로드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063240"/>
            <a:ext cx="19202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8D4E8"/>
                </a:solidFill>
                <a:latin typeface="Calibri"/>
              </a:rPr>
              <a:t>10시간 목표
ATC 교신 MP3
rate-limit 준수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77439" y="3474720"/>
            <a:ext cx="256032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51760" y="1280160"/>
            <a:ext cx="2103120" cy="50292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137160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2C39A"/>
                </a:solidFill>
                <a:latin typeface="Georgia"/>
              </a:rPr>
              <a:t>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34640" y="2011680"/>
            <a:ext cx="1737360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214884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Whisper STT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063240"/>
            <a:ext cx="19202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8D4E8"/>
                </a:solidFill>
                <a:latin typeface="Calibri"/>
              </a:rPr>
              <a:t>large-v3 변환
60+ 약어 복원
atc_corpus.jsonl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79" y="3474720"/>
            <a:ext cx="256032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0" y="1280160"/>
            <a:ext cx="2103120" cy="50292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137160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2C39A"/>
                </a:solidFill>
                <a:latin typeface="Georgia"/>
              </a:rPr>
              <a:t>③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12080" y="2011680"/>
            <a:ext cx="1737360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0" y="214884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ICAO PDF
파싱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063240"/>
            <a:ext cx="19202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8D4E8"/>
                </a:solidFill>
                <a:latin typeface="Calibri"/>
              </a:rPr>
              <a:t>FAR 91/121
AIM 청크 분할
300단어 슬라이딩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0" y="3474720"/>
            <a:ext cx="256032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06640" y="1280160"/>
            <a:ext cx="2103120" cy="50292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0" y="137160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2C39A"/>
                </a:solidFill>
                <a:latin typeface="Georgia"/>
              </a:rPr>
              <a:t>④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20" y="2011680"/>
            <a:ext cx="1737360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0" y="214884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GPT-4 QA
생성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0" y="3063240"/>
            <a:ext cx="19202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8D4E8"/>
                </a:solidFill>
                <a:latin typeface="Calibri"/>
              </a:rPr>
              <a:t>규정·절차·비상
용어 4유형
목표 60K건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09760" y="3474720"/>
            <a:ext cx="256032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784080" y="1280160"/>
            <a:ext cx="2103120" cy="50292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4080" y="137160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2C39A"/>
                </a:solidFill>
                <a:latin typeface="Georgia"/>
              </a:rPr>
              <a:t>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966960" y="2011680"/>
            <a:ext cx="1737360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75520" y="214884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Alpaca
통합 빌드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3063240"/>
            <a:ext cx="19202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8D4E8"/>
                </a:solidFill>
                <a:latin typeface="Calibri"/>
              </a:rPr>
              <a:t>이상설명 10K
안내문 5K
Train/Val/Test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데이터셋 구성 현황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167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6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2651760" cy="24688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99032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13,969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031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D4E8"/>
                </a:solidFill>
                <a:latin typeface="Calibri"/>
              </a:rPr>
              <a:t>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918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CE8F5"/>
                </a:solidFill>
                <a:latin typeface="Calibri"/>
              </a:rPr>
              <a:t>총 학습 데이터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3552" y="1234440"/>
            <a:ext cx="2651760" cy="24688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73552" y="1399032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11,873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3552" y="21031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D4E8"/>
                </a:solidFill>
                <a:latin typeface="Calibri"/>
              </a:rPr>
              <a:t>건 (85%)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73552" y="32918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CE8F5"/>
                </a:solidFill>
                <a:latin typeface="Calibri"/>
              </a:rPr>
              <a:t>Train set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1344" y="1234440"/>
            <a:ext cx="2651760" cy="24688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81344" y="1399032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1,396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1344" y="21031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D4E8"/>
                </a:solidFill>
                <a:latin typeface="Calibri"/>
              </a:rPr>
              <a:t>건 (10%)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1344" y="32918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CE8F5"/>
                </a:solidFill>
                <a:latin typeface="Calibri"/>
              </a:rPr>
              <a:t>Val set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89136" y="1234440"/>
            <a:ext cx="2651760" cy="24688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89136" y="1399032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700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89136" y="21031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D4E8"/>
                </a:solidFill>
                <a:latin typeface="Calibri"/>
              </a:rPr>
              <a:t>건 (5%)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32918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CE8F5"/>
                </a:solidFill>
                <a:latin typeface="Calibri"/>
              </a:rPr>
              <a:t>Test set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977639"/>
            <a:ext cx="3657600" cy="246888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3977639"/>
            <a:ext cx="73152" cy="24688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069080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이상 탐지 자연어 설명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572000"/>
            <a:ext cx="3337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65A82"/>
                </a:solidFill>
                <a:latin typeface="Georgia"/>
              </a:rPr>
              <a:t>8,000건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166360"/>
            <a:ext cx="3337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IF+CEP 결과 → 관제사용 한국어 경어체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80" y="3977639"/>
            <a:ext cx="3657600" cy="246888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97680" y="3977639"/>
            <a:ext cx="73152" cy="24688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60" y="4069080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승객 안내문 한/영 페어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4572000"/>
            <a:ext cx="3337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65A82"/>
                </a:solidFill>
                <a:latin typeface="Georgia"/>
              </a:rPr>
              <a:t>5,000건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166360"/>
            <a:ext cx="3337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지연·복행·비상·의료 8가지 시나리오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3977639"/>
            <a:ext cx="3657600" cy="246888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29600" y="3977639"/>
            <a:ext cx="73152" cy="24688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0" y="4069080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ATC 코퍼스 / QA (예정)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4572000"/>
            <a:ext cx="3337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65A82"/>
                </a:solidFill>
                <a:latin typeface="Georgia"/>
              </a:rPr>
              <a:t>~60K건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5166360"/>
            <a:ext cx="3337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LiveATC + GPT-4 (HF_TOKEN 후 실행)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학습 데이터 포맷 — Alpaca Instruction-Following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167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7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303520" cy="53492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2C39A"/>
                </a:solidFill>
                <a:latin typeface="Calibri"/>
              </a:rPr>
              <a:t>데이터 구조 설계 원칙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4937760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C39A"/>
                </a:solidFill>
                <a:latin typeface="Calibri"/>
              </a:rPr>
              <a:t>instruction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965960"/>
            <a:ext cx="3840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8F5"/>
                </a:solidFill>
                <a:latin typeface="Calibri"/>
              </a:rPr>
              <a:t>태스크 지시문 — 모델이 무엇을 해야 할지 명확히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718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C39A"/>
                </a:solidFill>
                <a:latin typeface="Calibri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971800"/>
            <a:ext cx="3840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8F5"/>
                </a:solidFill>
                <a:latin typeface="Calibri"/>
              </a:rPr>
              <a:t>컨텍스트 — 이상 탐지 JSON, 비행편 정보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977639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C39A"/>
                </a:solidFill>
                <a:latin typeface="Calibri"/>
              </a:rP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977639"/>
            <a:ext cx="3840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8F5"/>
                </a:solidFill>
                <a:latin typeface="Calibri"/>
              </a:rPr>
              <a:t>기대 응답 — 관제사용 한국어 또는 한/영 안내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9834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C39A"/>
                </a:solidFill>
                <a:latin typeface="Calibri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983480"/>
            <a:ext cx="3840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8F5"/>
                </a:solidFill>
                <a:latin typeface="Calibri"/>
              </a:rPr>
              <a:t>SFT 학습 시 prompt/completion으로 변환
   Qwen2.5 Instruct 템플릿 적용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0" y="1188720"/>
            <a:ext cx="6035040" cy="5349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13258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C39A"/>
                </a:solidFill>
                <a:latin typeface="Calibri"/>
              </a:rPr>
              <a:t>{ 이상 탐지 설명 예시 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1737360"/>
            <a:ext cx="5577840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9320" y="1874519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2C39A"/>
                </a:solidFill>
                <a:latin typeface="Consolas"/>
              </a:rPr>
              <a:t>  "instruction":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2157984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8F5"/>
                </a:solidFill>
                <a:latin typeface="Consolas"/>
              </a:rPr>
              <a:t>    "다음 이상 탐지 결과를 관제사에게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2441448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8F5"/>
                </a:solidFill>
                <a:latin typeface="Consolas"/>
              </a:rPr>
              <a:t>     자연어로 설명하세요.",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9320" y="3008376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2C39A"/>
                </a:solidFill>
                <a:latin typeface="Consolas"/>
              </a:rPr>
              <a:t>  "input":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3291839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8F5"/>
                </a:solidFill>
                <a:latin typeface="Consolas"/>
              </a:rPr>
              <a:t>    { "callsign": "WN542",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3575303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8F5"/>
                </a:solidFill>
                <a:latin typeface="Consolas"/>
              </a:rPr>
              <a:t>      "anomaly_type": "VELOCITY_SPIKE",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20" y="3858768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8F5"/>
                </a:solidFill>
                <a:latin typeface="Consolas"/>
              </a:rPr>
              <a:t>      "severity": "MEDIUM",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4142231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8F5"/>
                </a:solidFill>
                <a:latin typeface="Consolas"/>
              </a:rPr>
              <a:t>      "delta_kt": 87.4 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20" y="470916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2C39A"/>
                </a:solidFill>
                <a:latin typeface="Consolas"/>
              </a:rPr>
              <a:t>  "output":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9320" y="4992624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8F5"/>
                </a:solidFill>
                <a:latin typeface="Consolas"/>
              </a:rPr>
              <a:t>    "[경고] WN542 — 속도 이상 탐지.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5276088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8F5"/>
                </a:solidFill>
                <a:latin typeface="Consolas"/>
              </a:rPr>
              <a:t>     87.4kt/81초 변화(분당 64.7kt)는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89320" y="5559552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8F5"/>
                </a:solidFill>
                <a:latin typeface="Consolas"/>
              </a:rPr>
              <a:t>     기준치(100kt/min)의 0.65배. 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89320" y="5843016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8F5"/>
                </a:solidFill>
                <a:latin typeface="Consolas"/>
              </a:rPr>
              <a:t>     각 교신 확인 권고."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A0D4E8"/>
                </a:solidFill>
                <a:latin typeface="Calibri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Georgia"/>
              </a:rPr>
              <a:t>Week 8 — QLoRA 파인튜닝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5661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E8F5"/>
                </a:solidFill>
                <a:latin typeface="Calibri"/>
              </a:rPr>
              <a:t>Qwen/Qwen2.5-7B-Instruct · 4-bit NF4 · RTX 3070 8GB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베이스 모델 선정 — Qwen/Qwen2.5-7B-Instruct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167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9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2560320" cy="5943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35607"/>
            <a:ext cx="2377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비교 항목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325880"/>
            <a:ext cx="3840480" cy="5943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1435607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Llama 3.1 8B Instruct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1325880"/>
            <a:ext cx="3840480" cy="5943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1435607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Qwen2.5-7B Instruct 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920240"/>
            <a:ext cx="2560320" cy="59436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011680"/>
            <a:ext cx="2377439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293B"/>
                </a:solidFill>
                <a:latin typeface="Calibri"/>
              </a:rPr>
              <a:t>HF 접근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920240"/>
            <a:ext cx="3840480" cy="59436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8960" y="2011680"/>
            <a:ext cx="36576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293B"/>
                </a:solidFill>
                <a:latin typeface="Calibri"/>
              </a:rPr>
              <a:t>gated (토큰 필요)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1920240"/>
            <a:ext cx="3840480" cy="594360"/>
          </a:xfrm>
          <a:prstGeom prst="rect">
            <a:avLst/>
          </a:prstGeom>
          <a:solidFill>
            <a:srgbClr val="D4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2011680"/>
            <a:ext cx="36576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5A82"/>
                </a:solidFill>
                <a:latin typeface="Calibri"/>
              </a:rPr>
              <a:t>public (즉시 사용)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514600"/>
            <a:ext cx="2560320" cy="594360"/>
          </a:xfrm>
          <a:prstGeom prst="rect">
            <a:avLst/>
          </a:prstGeom>
          <a:solidFill>
            <a:srgbClr val="D8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606040"/>
            <a:ext cx="2377439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293B"/>
                </a:solidFill>
                <a:latin typeface="Calibri"/>
              </a:rPr>
              <a:t>파라미터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2514600"/>
            <a:ext cx="3840480" cy="594360"/>
          </a:xfrm>
          <a:prstGeom prst="rect">
            <a:avLst/>
          </a:prstGeom>
          <a:solidFill>
            <a:srgbClr val="D8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08960" y="2606040"/>
            <a:ext cx="36576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293B"/>
                </a:solidFill>
                <a:latin typeface="Calibri"/>
              </a:rPr>
              <a:t>8.0B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2514600"/>
            <a:ext cx="3840480" cy="594360"/>
          </a:xfrm>
          <a:prstGeom prst="rect">
            <a:avLst/>
          </a:prstGeom>
          <a:solidFill>
            <a:srgbClr val="C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0" y="2606040"/>
            <a:ext cx="36576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5A82"/>
                </a:solidFill>
                <a:latin typeface="Calibri"/>
              </a:rPr>
              <a:t>7.6B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108960"/>
            <a:ext cx="2560320" cy="59436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200400"/>
            <a:ext cx="2377439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293B"/>
                </a:solidFill>
                <a:latin typeface="Calibri"/>
              </a:rPr>
              <a:t>8GB VRAM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3108960"/>
            <a:ext cx="3840480" cy="59436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08960" y="3200400"/>
            <a:ext cx="36576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293B"/>
                </a:solidFill>
                <a:latin typeface="Calibri"/>
              </a:rPr>
              <a:t>타이트 (경고)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3108960"/>
            <a:ext cx="3840480" cy="594360"/>
          </a:xfrm>
          <a:prstGeom prst="rect">
            <a:avLst/>
          </a:prstGeom>
          <a:solidFill>
            <a:srgbClr val="D4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0" y="3200400"/>
            <a:ext cx="36576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5A82"/>
                </a:solidFill>
                <a:latin typeface="Calibri"/>
              </a:rPr>
              <a:t>안정적으로 동작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703320"/>
            <a:ext cx="2560320" cy="594360"/>
          </a:xfrm>
          <a:prstGeom prst="rect">
            <a:avLst/>
          </a:prstGeom>
          <a:solidFill>
            <a:srgbClr val="D8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794760"/>
            <a:ext cx="2377439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293B"/>
                </a:solidFill>
                <a:latin typeface="Calibri"/>
              </a:rPr>
              <a:t>한국어 지원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17520" y="3703320"/>
            <a:ext cx="3840480" cy="594360"/>
          </a:xfrm>
          <a:prstGeom prst="rect">
            <a:avLst/>
          </a:prstGeom>
          <a:solidFill>
            <a:srgbClr val="D8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08960" y="3794760"/>
            <a:ext cx="36576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293B"/>
                </a:solidFill>
                <a:latin typeface="Calibri"/>
              </a:rPr>
              <a:t>보통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3703320"/>
            <a:ext cx="3840480" cy="594360"/>
          </a:xfrm>
          <a:prstGeom prst="rect">
            <a:avLst/>
          </a:prstGeom>
          <a:solidFill>
            <a:srgbClr val="C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9440" y="3794760"/>
            <a:ext cx="36576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5A82"/>
                </a:solidFill>
                <a:latin typeface="Calibri"/>
              </a:rPr>
              <a:t>우수 (다국어 특화)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297680"/>
            <a:ext cx="2560320" cy="59436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4389120"/>
            <a:ext cx="2377439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293B"/>
                </a:solidFill>
                <a:latin typeface="Calibri"/>
              </a:rPr>
              <a:t>Instruct 성능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17520" y="4297680"/>
            <a:ext cx="3840480" cy="59436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08960" y="4389120"/>
            <a:ext cx="36576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293B"/>
                </a:solidFill>
                <a:latin typeface="Calibri"/>
              </a:rPr>
              <a:t>★★★★☆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0" y="4297680"/>
            <a:ext cx="3840480" cy="594360"/>
          </a:xfrm>
          <a:prstGeom prst="rect">
            <a:avLst/>
          </a:prstGeom>
          <a:solidFill>
            <a:srgbClr val="D4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49440" y="4389120"/>
            <a:ext cx="36576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5A82"/>
                </a:solidFill>
                <a:latin typeface="Calibri"/>
              </a:rPr>
              <a:t>★★★★☆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892040"/>
            <a:ext cx="2560320" cy="594360"/>
          </a:xfrm>
          <a:prstGeom prst="rect">
            <a:avLst/>
          </a:prstGeom>
          <a:solidFill>
            <a:srgbClr val="D8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4983479"/>
            <a:ext cx="2377439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293B"/>
                </a:solidFill>
                <a:latin typeface="Calibri"/>
              </a:rPr>
              <a:t>라이선스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017520" y="4892040"/>
            <a:ext cx="3840480" cy="594360"/>
          </a:xfrm>
          <a:prstGeom prst="rect">
            <a:avLst/>
          </a:prstGeom>
          <a:solidFill>
            <a:srgbClr val="D8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108960" y="4983479"/>
            <a:ext cx="36576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293B"/>
                </a:solidFill>
                <a:latin typeface="Calibri"/>
              </a:rPr>
              <a:t>Llama 3.1 Custom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58000" y="4892040"/>
            <a:ext cx="3840480" cy="594360"/>
          </a:xfrm>
          <a:prstGeom prst="rect">
            <a:avLst/>
          </a:prstGeom>
          <a:solidFill>
            <a:srgbClr val="C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49440" y="4983479"/>
            <a:ext cx="36576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5A82"/>
                </a:solidFill>
                <a:latin typeface="Calibri"/>
              </a:rPr>
              <a:t>Apache 2.0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5989320"/>
            <a:ext cx="11247120" cy="5943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605332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1295C"/>
                </a:solidFill>
                <a:latin typeface="Calibri"/>
              </a:rPr>
              <a:t>선정 이유: HF_TOKEN 불필요 · 8GB GPU 안정 운용 · 한국어 우수 · Apache 2.0 라이선스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QLoRA 학습 설정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167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10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80160"/>
            <a:ext cx="5303520" cy="16459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80160"/>
            <a:ext cx="73152" cy="16459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71600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C39A"/>
                </a:solidFill>
                <a:latin typeface="Calibri"/>
              </a:rPr>
              <a:t>양자화 (BitsAndBytes)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83080"/>
            <a:ext cx="4937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8F5"/>
                </a:solidFill>
                <a:latin typeface="Consolas"/>
              </a:rPr>
              <a:t>load_in_4bit = True
bnb_4bit_quant_type = NF4
double_quant = True
compute_dtype = BF16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108960"/>
            <a:ext cx="5303520" cy="16459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3108960"/>
            <a:ext cx="73152" cy="16459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200400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C39A"/>
                </a:solidFill>
                <a:latin typeface="Calibri"/>
              </a:rPr>
              <a:t>LoRA Adapter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611880"/>
            <a:ext cx="4937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8F5"/>
                </a:solidFill>
                <a:latin typeface="Consolas"/>
              </a:rPr>
              <a:t>r = 64  ·  alpha = 16
dropout = 0.05
target: q/k/v/o_proj
bias = none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4937760"/>
            <a:ext cx="5303520" cy="16459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4937760"/>
            <a:ext cx="73152" cy="16459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29200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C39A"/>
                </a:solidFill>
                <a:latin typeface="Calibri"/>
              </a:rPr>
              <a:t>학습 하이퍼파라미터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440680"/>
            <a:ext cx="4937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8F5"/>
                </a:solidFill>
                <a:latin typeface="Consolas"/>
              </a:rPr>
              <a:t>epochs = 2  ·  lr = 2e-4
batch = 1  ·  grad_accum = 16
effective_batch = 16
warmup_ratio = 0.03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1280160"/>
            <a:ext cx="5897880" cy="74980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1325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Alpaca JSONL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1664207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D4E8"/>
                </a:solidFill>
                <a:latin typeface="Calibri"/>
              </a:rPr>
              <a:t>13,969건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1444751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2C39A"/>
                </a:solidFill>
                <a:latin typeface="Calibri"/>
              </a:rPr>
              <a:t>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2194560"/>
            <a:ext cx="5897880" cy="74980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22402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Chat 포맷 변환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257860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D4E8"/>
                </a:solidFill>
                <a:latin typeface="Calibri"/>
              </a:rPr>
              <a:t>prompt/completion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235915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2C39A"/>
                </a:solidFill>
                <a:latin typeface="Calibri"/>
              </a:rPr>
              <a:t>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3108960"/>
            <a:ext cx="5897880" cy="74980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31546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NF4 모델 로드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349300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D4E8"/>
                </a:solidFill>
                <a:latin typeface="Calibri"/>
              </a:rPr>
              <a:t>Qwen2.5-7B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327355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2C39A"/>
                </a:solidFill>
                <a:latin typeface="Calibri"/>
              </a:rPr>
              <a:t>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4023360"/>
            <a:ext cx="5897880" cy="74980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0" y="4069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SFTTrainer 학습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440740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D4E8"/>
                </a:solidFill>
                <a:latin typeface="Calibri"/>
              </a:rPr>
              <a:t>completion-only loss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418795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2C39A"/>
                </a:solidFill>
                <a:latin typeface="Calibri"/>
              </a:rPr>
              <a:t>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0" y="4937760"/>
            <a:ext cx="5897880" cy="74980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26480" y="4983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체크포인트 저장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532180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D4E8"/>
                </a:solidFill>
                <a:latin typeface="Calibri"/>
              </a:rPr>
              <a:t>3개 유지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510235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2C39A"/>
                </a:solidFill>
                <a:latin typeface="Calibri"/>
              </a:rPr>
              <a:t>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0" y="5852160"/>
            <a:ext cx="5897880" cy="74980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26480" y="5897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final_adapter/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623620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D4E8"/>
                </a:solidFill>
                <a:latin typeface="Calibri"/>
              </a:rPr>
              <a:t>LoRA 가중치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01675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2C39A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학습 결과 — 핵심 지표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167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11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2651760" cy="25603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99032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0.1053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031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D4E8"/>
                </a:solidFill>
                <a:latin typeface="Calibri"/>
              </a:rPr>
              <a:t>epoch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3832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CE8F5"/>
                </a:solidFill>
                <a:latin typeface="Calibri"/>
              </a:rPr>
              <a:t>Train Loss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3552" y="1234440"/>
            <a:ext cx="2651760" cy="25603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73552" y="1399032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0.0445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3552" y="21031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D4E8"/>
                </a:solidFill>
                <a:latin typeface="Calibri"/>
              </a:rPr>
              <a:t>epoch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73552" y="33832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CE8F5"/>
                </a:solidFill>
                <a:latin typeface="Calibri"/>
              </a:rPr>
              <a:t>Eval Loss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1344" y="1234440"/>
            <a:ext cx="2651760" cy="25603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81344" y="1399032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97.88%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1344" y="21031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D4E8"/>
                </a:solidFill>
                <a:latin typeface="Calibri"/>
              </a:rPr>
              <a:t>val 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1344" y="33832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CE8F5"/>
                </a:solidFill>
                <a:latin typeface="Calibri"/>
              </a:rPr>
              <a:t>Token Accuracy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89136" y="1234440"/>
            <a:ext cx="2651760" cy="2560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89136" y="1399032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9시간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89136" y="21031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  <a:latin typeface="Calibri"/>
              </a:rPr>
              <a:t>RTX 3070 8GB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33832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64748B"/>
                </a:solidFill>
                <a:latin typeface="Calibri"/>
              </a:rPr>
              <a:t>학습 소요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023360"/>
            <a:ext cx="11430000" cy="25146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4023360"/>
            <a:ext cx="73152" cy="25146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11480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alibri"/>
              </a:rPr>
              <a:t>모델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4114800"/>
            <a:ext cx="9326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onsolas"/>
              </a:rPr>
              <a:t>Qwen/Qwen2.5-7B-Instruct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50799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alibri"/>
              </a:rPr>
              <a:t>GPU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4507992"/>
            <a:ext cx="9326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onsolas"/>
              </a:rPr>
              <a:t>NVIDIA RTX 3070 (8.0 GB VRAM)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90118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alibri"/>
              </a:rPr>
              <a:t>Steps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94560" y="4901184"/>
            <a:ext cx="9326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onsolas"/>
              </a:rPr>
              <a:t>1,594 total (797 steps/epoch × 2 epochs)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29437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alibri"/>
              </a:rPr>
              <a:t>Batch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94560" y="5294376"/>
            <a:ext cx="9326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onsolas"/>
              </a:rPr>
              <a:t>per_device=1 · grad_accum=16 → effective 16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68756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alibri"/>
              </a:rPr>
              <a:t>Runtime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94560" y="5687568"/>
            <a:ext cx="9326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onsolas"/>
              </a:rPr>
              <a:t>32,390초 = 8시간 59분 48초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08076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alibri"/>
              </a:rPr>
              <a:t>Adapter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94560" y="6080760"/>
            <a:ext cx="9326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onsolas"/>
              </a:rPr>
              <a:t>data/models/llm/qwen25_7b_qlora/final_adapter/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학습 곡선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167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12 / 16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365760" y="1234440"/>
          <a:ext cx="685800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452360" y="1234440"/>
            <a:ext cx="4526280" cy="128016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52360" y="1234440"/>
            <a:ext cx="73152" cy="12801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35240" y="130759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✅ 빠른 초기 수렴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1691640"/>
            <a:ext cx="4160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Step 0→300 구간에서 Train Loss가 0.72 → 0.22로 급강하. 도메인 특화 데이터에 빠르게 적응.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52360" y="2651760"/>
            <a:ext cx="4526280" cy="128016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52360" y="2651760"/>
            <a:ext cx="73152" cy="12801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272491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✅ Eval &lt; Train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3108960"/>
            <a:ext cx="4160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Eval Loss(0.0445)가 Train Loss(0.1053)보다 낮음 — 배치/드롭아웃 차이. 오버피팅 없음.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52360" y="4069080"/>
            <a:ext cx="4526280" cy="128016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52360" y="4069080"/>
            <a:ext cx="73152" cy="12801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414223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✅ Token Acc 97.88%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4526280"/>
            <a:ext cx="4160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두 번째 epoch 말 기준 val set Token Accuracy 97.88%. 항공 용어 생성 정확도 높음.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52360" y="5486400"/>
            <a:ext cx="4526280" cy="128016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52360" y="5486400"/>
            <a:ext cx="73152" cy="1280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35240" y="555955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⚠️ 데이터 규모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5943600"/>
            <a:ext cx="4160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현재 13,969건으로 학습. ATC 코퍼스+QA(목표 60K) 추가 시 추가 성능 개선 기대.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모델 출력 품질 예시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167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13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11567160" cy="23774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73152" cy="23774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2011680" cy="3657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5331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이상 탐지 설명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13258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C39A"/>
                </a:solidFill>
                <a:latin typeface="Calibri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1325880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8F5"/>
                </a:solidFill>
                <a:latin typeface="Consolas"/>
              </a:rPr>
              <a:t>{"callsign":"KE731","anomaly_type":"ALTITUDE_SPIKE","delta_m":842,"elapsed":28}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828800"/>
            <a:ext cx="11292840" cy="274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96596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C39A"/>
                </a:solidFill>
                <a:latin typeface="Calibri"/>
              </a:rP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1947672"/>
            <a:ext cx="10195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[경고] KE731편에서 비정상적인 고도 강하 패턴이 감지되었습니다. 28초 이내 842m 강하는 표준 강하율(500fpm)을 2.9배 초과합니다. FAA AIM 7-6-4 기준 즉시 조종사 확인 교신이 필요합니다.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840480"/>
            <a:ext cx="11567160" cy="23774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3840480"/>
            <a:ext cx="73152" cy="23774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931920"/>
            <a:ext cx="2011680" cy="3657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95935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승객 안내문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39319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C39A"/>
                </a:solidFill>
                <a:latin typeface="Calibri"/>
              </a:rPr>
              <a:t>Input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3931920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8F5"/>
                </a:solidFill>
                <a:latin typeface="Consolas"/>
              </a:rPr>
              <a:t>기상으로 인한 출발 지연 30분, KE731편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434840"/>
            <a:ext cx="11292840" cy="274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5720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C39A"/>
                </a:solidFill>
                <a:latin typeface="Calibri"/>
              </a:rPr>
              <a:t>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553712"/>
            <a:ext cx="10195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KE731편 탑승객 여러분, 현재 출발지 기상 악화로 약 30분 지연 출발 예정입니다. 안전한 비행을 위한 조치임을 양해해 주시기 바랍니다.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남은 과제 &amp; 리스크 대응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167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14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760720" cy="246888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73152" cy="24688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🔴 데이터 규모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6479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현재 13,969건 (목표 95K)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194560"/>
            <a:ext cx="5303520" cy="2743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2860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alibri"/>
              </a:rPr>
              <a:t>대응: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286000"/>
            <a:ext cx="45720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ATC 녹취 수집 + GPT-4 QA 생성 실행
(OPENAI_API_KEY 설정 후 generate_qa_gpt4.py)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59" y="1234440"/>
            <a:ext cx="5760720" cy="246888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59" y="1234440"/>
            <a:ext cx="73152" cy="2468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32588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🟡 평가 체계 미비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76479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도메인 벤치마크 500건 미구성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2194560"/>
            <a:ext cx="5303520" cy="2743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2860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alibri"/>
              </a:rPr>
              <a:t>대응: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79" y="2286000"/>
            <a:ext cx="45720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9주차: ATC 용어 정확도, FAA QA BLEU
Base vs Fine-tuned 비교표 작성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977639"/>
            <a:ext cx="5760720" cy="246888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3977639"/>
            <a:ext cx="73152" cy="2468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069079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🟡 DPO 정렬 미실행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50799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선호도 데이터 1K건 미생성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937759"/>
            <a:ext cx="5303520" cy="2743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0292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alibri"/>
              </a:rPr>
              <a:t>대응: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5029200"/>
            <a:ext cx="45720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9주차: chosen/rejected 페어 구성
DPOTrainer 학습 후 품질 비교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59" y="3977639"/>
            <a:ext cx="5760720" cy="246888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59" y="3977639"/>
            <a:ext cx="73152" cy="2468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069079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🟢 vLLM 서빙 미설정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50799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AWQ 양자화 + API 서버 미구성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4937759"/>
            <a:ext cx="5303520" cy="2743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50292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alibri"/>
              </a:rPr>
              <a:t>대응: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9479" y="5029200"/>
            <a:ext cx="45720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10주차: merge_and_unload →
AWQ → vLLM OpenAI-compatible API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다음 단계 — 9~10주차 계획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167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15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760720" cy="6858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73152" cy="685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98448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C39A"/>
                </a:solidFill>
                <a:latin typeface="Calibri"/>
              </a:rPr>
              <a:t>9주차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298448"/>
            <a:ext cx="4069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도메인 평가 + DPO 정렬 + Airflow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920240"/>
            <a:ext cx="5760720" cy="48006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920240"/>
            <a:ext cx="73152" cy="48006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057400"/>
            <a:ext cx="411480" cy="4114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0574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057400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벤치마크 평가셋 500건 구성 및 BLEU/ROUGE-L 측정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926080"/>
            <a:ext cx="411480" cy="4114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9260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926080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Base vs QLoRA 성능 비교표 작성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794760"/>
            <a:ext cx="411480" cy="4114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7947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794760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DPO chosen/rejected 1K 페어 생성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663440"/>
            <a:ext cx="411480" cy="4114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6634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663440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DPOTrainer 선호도 정렬 학습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532120"/>
            <a:ext cx="411480" cy="4114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5321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532120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Airflow 재학습 DAG 구현 (일 1회)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59" y="1234440"/>
            <a:ext cx="5760720" cy="6858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59" y="1234440"/>
            <a:ext cx="73152" cy="685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1298448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C39A"/>
                </a:solidFill>
                <a:latin typeface="Calibri"/>
              </a:rPr>
              <a:t>10주차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09559" y="1298448"/>
            <a:ext cx="4069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vLLM 서빙 + RAG + FastAPI 완성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59" y="1920240"/>
            <a:ext cx="5760720" cy="48006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09359" y="1920240"/>
            <a:ext cx="73152" cy="48006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37959" y="2057400"/>
            <a:ext cx="411480" cy="4114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59" y="20574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599" y="2057400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LoRA 어댑터 병합 (merge_and_unload)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37959" y="2926080"/>
            <a:ext cx="411480" cy="4114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7959" y="29260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599" y="2926080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AWQ 4-bit 양자화 적용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37959" y="3794760"/>
            <a:ext cx="411480" cy="4114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37959" y="37947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86599" y="3794760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vLLM 서버 실행 (OpenAI 호환 API)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37959" y="4663440"/>
            <a:ext cx="411480" cy="4114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37959" y="46634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86599" y="4663440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ChromaDB 벡터 DB 구축 (FAA SOP)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37959" y="5532120"/>
            <a:ext cx="411480" cy="4114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37959" y="55321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86599" y="5532120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FastAPI: /predict/delay · /detect/anomaly · /chat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760720"/>
            <a:ext cx="12188952" cy="10972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167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16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Georgia"/>
              </a:rPr>
              <a:t>결론 &amp; Q&amp;A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1463040"/>
            <a:ext cx="7589520" cy="457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3657600" cy="32004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73152" cy="32004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83080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2C39A"/>
                </a:solidFill>
                <a:latin typeface="Georgia"/>
              </a:rPr>
              <a:t>Week 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286000"/>
            <a:ext cx="3200400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423160"/>
            <a:ext cx="3337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항공 도메인 특화 Alpaca 데이터셋 13,969건 구축 완료
(이상 설명 8K + 안내문 5K)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691640"/>
            <a:ext cx="3657600" cy="32004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691640"/>
            <a:ext cx="73152" cy="32004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783080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2C39A"/>
                </a:solidFill>
                <a:latin typeface="Georgia"/>
              </a:rPr>
              <a:t>Week 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26280" y="2286000"/>
            <a:ext cx="3200400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2423160"/>
            <a:ext cx="3337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Qwen2.5-7B QLoRA 파인튜닝 완료
Train Loss 0.1053 · Eval Loss 0.0445 · Token Acc 97.88%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691640"/>
            <a:ext cx="3657600" cy="32004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691640"/>
            <a:ext cx="73152" cy="32004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783080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2C39A"/>
                </a:solidFill>
                <a:latin typeface="Georgia"/>
              </a:rPr>
              <a:t>다음 목표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0" y="2286000"/>
            <a:ext cx="3200400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2423160"/>
            <a:ext cx="3337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9주차: DPO 정렬 + 벤치마크 평가
10주차: vLLM 서빙 + FastAPI 완성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89788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0D4E8"/>
                </a:solidFill>
                <a:latin typeface="Calibri"/>
              </a:rPr>
              <a:t>GitHub: github.com/biz-doublej/SkyOps-Intelligence  |  Branch: dev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