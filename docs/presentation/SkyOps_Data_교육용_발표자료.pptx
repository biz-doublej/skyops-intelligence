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빅데이터과 3 학년 정재원입니다. 오늘은 제가 속한 DoubleJ 팀이 만든 SkyOps Intelligence 프로젝트의 데이터 이야기를 해보려 합니다. 이 프로젝트에서 데이터가 어떻게 수집되고, 어떻게 가공되고, 최종적으로 모델이 되는지를 중심으로 설명드리겠습니다. 앞으로 30 장 동안, 여러분은 '원본 데이터 한 줄이 어떻게 관제사 화면의 알림 하나가 되는가' 라는 질문에 대한 답을 찾게 되실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발표가 끝났을 때 여러분이 다섯 가지를 이해하시도록 구성했습니다. 먼저 항공 데이터가 어떻게 생성되는지를 살펴보고, 이어서 raw 데이터를 어떻게 정제하는지, 그리고 왜 시계열 분할이 중요한지와 temporal leakage 가 무엇인지를 다루겠습니다. 그다음으로 Feature Engineering 이 모델을 어떻게 바꾸는지를 실제 사례 R² 335 퍼센트 개선 사례로 보여드리고, 마지막으로 XGBoost 와 Isolation Forest 가 왜 선택됐는지 그 이유를 설명드립니다. 특히 세 번째와 네 번째가 가장 중요합니다. 이 두 가지는 실제로 제가 진행한 프로젝트의 P0, P1 스프린트에서 숫자로 증명된 내용이라, 숫자 자체를 꼭 기억해 두시면 좋겠습니다.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잠깐 기본으로 돌아가 보겠습니다. 데이터란 무엇일까요. 한마디로 말씀드리면, 데이터는 세상의 측정값입니다. 의료에서는 체온계가 숫자를 만들고 EHR 데이터베이스를 거쳐 진단 모델로 흘러가고, 항공에서는 레이더 수신기가 위도와 경도를 측정해서 Kafka 스트림을 거쳐 지연 예측 모델로 들어갑니다. 센서, 숫자, 저장, 모델이라는 네 단계 구조는 어떤 도메인에서도 똑같이 반복됩니다. 이 프레임을 머릿속에 두시면, 앞으로 나올 모든 슬라이드가 이 구조 안에 들어맞게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항공 데이터에는 네 가지 특별한 성질이 있습니다. 첫째는 실시간 성질로 초 단위로 업데이트되기 때문에 1 분의 지연도 큰 의미를 갖고, 둘째는 고빈도 성질로 초당 수천 건이 쏟아져 들어옵니다. 셋째는 시계열 성질인데 순서가 매우 중요해서 절대로 섞으면 안 되고, 넷째는 다중 소스 성질로 레이더와 기상, 관제 메시지가 모두 합쳐져야 비로소 의미가 생깁니다. 이 네 가지 성질이 바로 아무 데이터나 아무 방식으로 쓰면 안 되는 이유입니다. 실시간과 고빈도 때문에 Kafka 가 필요하고, 시계열이기 때문에 절대 shuffle 을 하면 안 되며, 다중 소스이기 때문에 Schema Registry 라는 계약이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저는 이 프로젝트에서 총 네 가지 데이터 소스를 사용하고 있습니다. 첫 번째는 OpenSky Network 로 전 세계 3만 5천 개 지상 수신기가 기여하는 공개 ADS-B 네트워크이고 10 초마다 항공기 위치가 업데이트됩니다. 두 번째는 NOAA 와 KMA 의 METAR 데이터로 공항 기상 보고서이고 30 분 주기로 갱신되며, 세 번째가 FAA SWIM 으로 미 연방항공청의 공식 System Wide Information Management 데이터입니다. 네 번째는 Kaggle 의 flights.csv 로 오백칠십만 행 규모의 2015 년 배치 데이터입니다. 별표가 붙은 SWIM 은 제가 이 프로젝트에서 가장 자랑스럽게 생각하는 플래그십 성과입니다.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ADS-B 는 Automatic Dependent Surveillance-Broadcast 의 약자입니다. 항공기가 자기 위치를 스스로 방송하면 지상 수신기가 받아서 OpenSky 서버의 API 로 전송합니다. 제가 작성한 수집기가 30 초마다 OpenSky API 를 폴링해서 Kafka 의 flight-position 토픽으로 publish 하도록 구현했습니다. 항공기 한 편당 업데이트마다 17 개 필드가 들어오고, 전 세계 3만 5천 대의 수신기가 대부분 자원봉사자에 의해 운영됩니다.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소스인 METAR 기상 보고서는 처음 보면 암호처럼 보이지만 함께 해독해 보면 어렵지 않습니다. 한 줄의 METAR 가 일곱 개의 토큰으로 분해되는데, RKSI 는 인천공항 ICAO 코드, 030900Z 는 3 일 09 시 UTC 관측, 29012KT 는 풍향 290 도 풍속 12 노트, 9999 는 가시거리 10 킬로미터 이상, SCT030 은 3000 피트에 부분운, 08/M02 는 기온 8 도 이슬점 영하 2 도, Q1020 은 QNH 1020 헥토파스칼을 뜻합니다. 이 포맷은 국제 항공 표준이라 전 세계가 공통으로 사용하고, 제가 작성한 파서가 이 문자열을 JSON 으로 파싱하고 다시 Avro 로 변환해 Kafka 에 넣습니다.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프로젝트에서 제가 가장 자랑스럽게 생각하는 플래그십 성과라 슬라이드 한 장을 통째로 썼습니다. 미 연방항공청의 프로덕션 브로커에 직접 연결해서 60 초 안에 실제 NOTAM 219 건을 파싱 에러 0 건으로 수신했습니다. 대학 캡스톤 프로젝트로서는 극히 드문 성과인데, 일반 REST API 가 아니라 Solace JMS 프로토콜을 써야 하고, TLS 1.2 인증서 검증이 필수이며, AIXM 5.1 표준 XML 파서를 직접 구현해야 했기 때문입니다. trust store 셋업을 세 번 연속 실패하고 네 번째에 성공했고, DigiCert Global Root G2 인증서를 수동으로 c_rehash 형식으로 import 하고 나서야 해결할 수 있었습니다. 학부생 신분으로도 이런 인프라 수준의 integration 에 도전할 수 있다는 것을 보여드리고 싶어 실패 과정까지 공유드렸습니다.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소스인 Kaggle 데이터는 배치 데이터로 오백칠십만 행 곱하기 31 컬럼, 용량은 580 메가바이트입니다. 지연된 편이 전체의 38.8 퍼센트, 취소가 3.4 퍼센트, 평균 도착 지연이 6.2 분이고, 최대 지연은 무려 천구백칠십일 분, 즉 약 32 시간입니다. 특히 중요한 발견은 전체 지연의 39.6 퍼센트가 '전편 지연' 즉 cascade 또는 reactionary 딜레이에서 발생한다는 점입니다. 이 40 퍼센트라는 숫자가 뒤에 나올 Rotation features 의 도메인 근거가 되니 꼭 기억해 주시기 바랍니다.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똑같은 항공기 위치 한 건이라도 JSON 으로는 100 바이트, CSV 로는 60 바이트, Avro 로는 35 바이트에 담을 수 있습니다. 초당 수천 건이 흐르는 Kafka 환경에서는 이 차이가 하루 누적 수십 기가바이트의 차이를 만듭니다. 하지만 제가 Avro 를 선택한 가장 큰 이유는 크기보다 스키마 강제이고, 다음 슬라이드에서 자세히 설명드립니다.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스키마가 없으면 producer 가 새 필드를 추가했을 때 기존 consumer 가 옛 필드명을 기대하고 있기 때문에 KeyError 를 던지며 서비스가 다운됩니다. 그리고 누가 언제 무엇을 바꿨는지 아무도 답할 수 없습니다. Schema Registry 에 BACKWARD 호환 정책을 적용해 두면, 호환이 깨지는 변경은 배포 전에 409 Conflict 응답으로 거부됩니다. 호환되는 변경은 통과되고 기존 consumer 는 default 값으로 안전하게 동작합니다. BACKWARD 호환은 새 consumer 가 옛 데이터도 읽을 수 있어야 한다는 뜻이고, 덕분에 장애 상황에서 이전 버전으로 롤백하는 것이 안전해집니다.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ML 프로젝트는 결국 여섯 단계를 거칩니다. Clean 으로 결측과 이상, 중복을 제거하고, Missing 으로 NaN 을 세 가지 전략으로 처리합니다. 그다음 Feature Engineering 으로 원본 값을 분해하고, Rotation Features 에서 도메인 지식을 주입해 R² 를 335 퍼센트 끌어올렸습니다. Split 에서 TimeSeriesSplit 으로 시간순 분할을 하고, 마지막 Iceberg 에서 Bronze, Silver, Gold 계층에 저장합니다. 왼쪽의 오백칠십만 행 raw 데이터가 오른쪽의 40만, 5만, 5만 행 model-ready 학습 세트로 변환되는 것이 이 여섯 단계 안에서 일어납니다.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진짜 원본 데이터가 얼마나 지저분한지 보여드립니다. 똑같은 레코드가 두 번 등장하는 중복이 있고, AIRLINE 필드가 비어 있고 DEP_DELAY 가 null 인 결측이 있으며, DEP_DELAY 값이 마이너스 구천구백구십구인 경우는 실제 지연이 아니라 센서 오류 마커인 sentinel value 입니다. DISTANCE 가 마이너스 일인 경우는 거리가 음수일 수 없으니 범위 오류로 처리해야 합니다. 중복은 drop_duplicates 로 제거하고, 결측은 세 전략으로 처리하며, sentinel 은 NaN 으로 치환하고, 범위는 필터로 잡아냅니다. 이 과정을 건너뛰고 바로 모델에 넣으면 GIGO, 즉 쓰레기를 넣으면 쓰레기가 나오는 현상이 발생합니다.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결측값을 처리하는 방법에는 세 가지 전략이 있습니다. 첫 번째 Drop 은 그냥 버리는 방식이고, 두 번째 Impute 는 평균이나 중간값으로 채우는 방식이며, 세 번째 XGBoost Native 는 결측값을 분할 방향 자체로 학습하는 방식입니다. XGBoost 가 인기 있는 이유가 여기 있습니다. 로지스틱 회귀나 kNN 같은 다른 모델은 NaN 이 하나라도 있으면 아예 학습조차 안 됩니다. 저는 sklearn Pipeline 에 SimpleImputer 를 넣고 최종 estimator 로 XGBoost 를 두는 이중 안전망 구조를 쓰고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모델은 문자열을 읽지 못하고 오직 숫자만 이해할 수 있습니다. 2026-04-19 14:30:00 같은 datetime 문자열을 그대로 넣으면 모델이 아무 정보도 얻지 못합니다. hour 14, minute 30, dayofweek 6, month 4, dayofyear 109, is_weekend 1 처럼 여섯 개의 숫자 피처로 분해해야 모델이 주중과 주말의 차이, 월별 패턴, 시간대 패턴을 각각 독립적으로 볼 수 있습니다. 평일 18 시 혼잡도와 토요일 18 시 혼잡도가 다르고, 7 월과 8 월은 지연이 많으며, 오전 6 시는 정시인 반면 저녁 18 시는 지연이 누적됩니다. 이것이 Feature Engineering 의 출발점입니다.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이번 발표에서 가장 중요한 슬라이드입니다. Test R² 가 0.10 에서 0.43 으로 335 퍼센트 상승했는데, 같은 XGBoost 모델에 피처 다섯 개만 추가했을 뿐입니다. 핵심 아이디어는 같은 비행기가 하루에 세 번에서 다섯 번 뜨는데, 지연이 눈덩이처럼 누적된다는 점이었습니다. 예를 들어 HL8281 편은 06 시에는 2 분 지연, 09 시 5 분, 12 시 12 분, 15 시 24 분, 18 시에는 45 분까지 쌓입니다. EUROCONTROL 연구에 따르면 전체 지연의 45 퍼센트가 이런 reactionary 딜레이입니다. rotation_depth, prev_leg_arr_delay_min, scheduled_turnaround_min, actual_turnaround_min, is_first_leg_of_day 다섯 개 피처만으로 R² 가 3.35 배가 됐습니다. 교훈은 명확합니다. 모델을 키우는 것보다 도메인 지식을 피처로 만드는 것이 훨씬 효과적입니다.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번째로 중요한 교훈이자 초심자가 가장 많이 범하는 치명적인 실수입니다. sklearn 의 train_test_split 은 기본값이 shuffle True 라서 시간 축을 무시하고 무작위로 섞어 나눕니다. 그러면 미래가 과거 훈련에 섞여 들어가는 temporal leakage 가 발생하고, CV 표준편차가 플러스마이너스 0.30 으로 비정상적으로 작아 보이는 낙관적 편향이 생깁니다. TimeSeriesSplit 의 walk-forward 방식을 쓰면 과거로만 학습하고 미래로만 평가하게 됩니다. CV 표준편차가 플러스마이너스 6.14 로 20 배 증가하지만, 이것이 정직한 수치이고 시간대별 성능 변동성을 드러냅니다. 저는 이 원칙을 ADR-004 에 명시하고 파이프라인 전체를 수정했습니다. 여러분 코드에 shuffle True 가 시계열 데이터에 쓰이고 있다면 지금 당장 고치시기 바랍니다.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전처리의 마지막 단계는 저장인데, 그냥 CSV 에 저장하면 안 됩니다. Apache Iceberg 의 Medallion 아키텍처를 Bronze, Silver, Gold 세 계층으로 나눠 쓰고 있습니다. Bronze 는 원본 그대로 저장해서 재처리 기준점이 되고, Silver 는 정제와 조인이 끝난 flight_features 같은 통합 테이블이며, Gold 는 모델이 직접 소비하는 inference_log 나 anomaly_decisions 같은 감사용 테이블입니다. 세 계층을 쓰는 이유는 ACID 트랜잭션으로 일관성을 유지하고, 스키마 진화를 지원하며, Time travel 로 '3 일 전 테이블 상태가 어땠지' 같은 사고 조사용 쿼리가 가능하기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데이터 셋으로 만들 수 있는 프로젝트가 최소 여덟 가지입니다. 지연 예측, 항공권 가격 예측, 공항 혼잡도 예측, 연료 소비 최적화, 운항 경로 최적화, 기상 영향 분석, 이상 탐지, 승객 수요 예측이 모두 가능합니다. 같은 데이터이지만 다른 질문, 다른 프로젝트가 만들어집니다. 여러분이 선택한 질문이 곧 여러분 프로젝트의 정체성을 결정합니다. 저는 이 여덟 가지 중에서 지연 예측과 이상 탐지 두 가지를 선택했습니다. 둘 다 관제사의 실시간 의사결정에 직접 기여하기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직접 만든 세 가지 기능을 한 슬라이드에 모았습니다. 첫 번째는 지연 예측과 신뢰구간으로, XGBoost Test R² 0.43 에 Conformal 이 90 퍼센트 커버리지를 보장하며, 관제사는 '90 퍼센트 확률로 6 분에서 41 분 사이' 같은 정량적 정보를 받습니다. 두 번째는 비행 단계별 이상 탐지로, Isolation Forest 일곱 개를 운영해 alert fatigue 를 67 퍼센트 줄였습니다. 세 번째는 AI 관제 어시스턴트로, Qwen2.5-7B 를 QLoRA 와 DPO 로 직접 파인튜닝한 한국어 LLM 이고 RAG 로 161 개 chunks 규정집을 참조해 5 초 이내에 출처 포함 답변을 생성합니다. 세 기능이 독립적으로 보이지만 모두 같은 Iceberg 기반 데이터 파이프라인 위에 올라가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지연 예측 모델로 XGBoost 를 선택한 이유가 네 가지 있습니다. 첫째는 정확도로 tabular 데이터에서는 딥러닝과 동등하거나 더 낫고, 피처가 30 개 이하인 tabular 는 XGBoost 의 홈그라운드입니다. 둘째는 속도로 오백칠십만 행을 CPU 만으로 4 분 안에 학습할 수 있어 GPU 가 필요 없습니다. 셋째는 해석성으로 SHAP TreeExplainer 를 쓰면 피처별 기여도를 시각화해서 관제사에게 근거를 제시할 수 있고, 넷째는 robustness 로 결측값을 자동 처리하고 이상치에 강하며 normalization 이 필요 없습니다. 실무에서 가장 중요한 것은 세 번째 해석성입니다. 딥러닝 블랙박스로는 관제사의 '왜?' 에 납득할 만한 답을 줄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는 여러 개의 약한 모델을 순차적으로 만들되, 이전 모델의 오차에만 집중해서 학습합니다. Tree 1 은 오차가 플러스마이너스 15 분 정도로 엉성하지만, Tree 2 가 남은 잔차에 집중해 플러스마이너스 8 분으로 줄이고, Tree 3 이 또 남은 오차에 집중해 플러스마이너스 3 분까지 내려옵니다. 이렇게 200 번까지 반복하면 최종 오차는 플러스마이너스 0.5 분 수준이 되고, 최종 예측은 Tree 1 부터 Tree 200 까지의 합이 됩니다. 시험 공부할 때 틀린 문제만 다시 보는 것과 같은 원리입니다. 70 퍼센트 맞추면 틀린 30 퍼센트만 집중하고, 그중 또 틀린 것만 집중하는 방식입니다. 이것이 gradient boosting 이라는 이름의 의미이고, 매 단계 손실 함수의 기울기를 따라 최적으로 수정해 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제 프로젝트의 결과를 Sprint 별 Test R² 추이로 보여드립니다. 기본 XGBoost baseline 은 R² 0.10, TimeSeriesSplit 을 적용한 P0 도 R² 0.10 으로 수치는 그대로지만 정직해졌습니다. Rotation features 를 추가한 P1 에서 R² 가 0.43 으로 뛰었고, Conformal interval 을 붙인 P1+ 도 R² 0.43 을 유지하면서 예측 구간이 추가됐습니다. P0 에서 수치가 안 올라간 이유는 TimeSeriesSplit 이 더 좋은 모델을 만드는 게 아니라 더 정직한 평가를 해주는 기법이기 때문입니다. 진짜 향상은 P1 의 Rotation features 가 만들어냈습니다. 최종 지표는 Test RMSE 22.61 분, Test R² 0.43, Conformal coverage 정확히 90.00 퍼센트, p95 응답 시간 42 밀리세컨드입니다.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모델은 이상 탐지용 Isolation Forest 입니다. 핵심 아이디어는 이상치가 소수이고 정상과 거리가 멀기 때문에 무작위 분할로 빨리 고립된다는 점입니다. 정상점은 트리에서 깊이 내려가야 고립되어 path length 가 8 스플리츠 이상 필요한 반면, 이상점은 단 2 번에서 3 번의 분할로 곧바로 고립됩니다. 즉 path length 자체가 anomaly score 가 됩니다. 짧으면 이상, 길면 정상이라 매우 직관적입니다. Isolation Forest 를 선택한 이유는 항공 사고가 희귀해 라벨이 없기에 지도학습이 불가능하고, 빅오 엔 로그 엔 속도로 매우 빠르며, 해석이 직관적이기 때문입니다. Autoencoder 를 선택했다면 GPU 필요, 학습 불안정, 블랙박스 세 문제가 모두 생겼을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Isolation Forest 를 하나가 아니라 일곱 개 만든 이유는, 단일 모델이 비행 단계별 차이를 구분하지 못하기 때문입니다. CRUISE 중 3만 피트는 정상이지만 LANDING 중 3만 피트는 완전 비정상인데, 단일 모델은 이 둘을 구분 못하고 false positive 가 폭주하며 alert fatigue 를 유발합니다. 해결책으로 일곱 개의 비행 단계마다 별도 Isolation Forest 를 두고 contamination 을 개별 튜닝했습니다. TAXI 는 조용한 구간이라 0.02, TAKEOFF 0.03, CLIMB 0.04, CRUISE 0.05, DESCENT 0.04, APPROACH 와 LANDING 은 사고 빈발 구간이라 0.06 까지, TAXI 의 2 퍼센트부터 LANDING 의 6 퍼센트까지 3 배 차이로 튜닝했습니다. 결과적으로 False Positive 가 67 퍼센트 감소하며 alert fatigue 가 대폭 완화됐고, v2.1.10 과 ADR-006 에서 서빙에도 wire-up 이 완료됐습니다.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핵심 기법은 점 예측과 구간 예측의 차이입니다. '15 분 지연' 이라는 점 예측은 얼마나 믿어야 할지 알 수 없고, 실제로는 5 분일 수도 40 분일 수도 있습니다. 관제사가 이 숫자만 보고 승객 안내를 어떻게 하겠습니까. 근거 없는 high, medium, low confidence 분류로는 부족합니다. Conformal 을 적용한 후에는 '90 퍼센트 확률로 6 분에서 41 분 사이의 지연' 이라는 수학적으로 보장된 구간을 얻을 수 있고, 그것도 분포 가정 없이 보장됩니다. MAPIE 라이브러리로 구현했고 실측 coverage 가 정확히 90.00 퍼센트로 나온 것이 증거입니다. 이제 관제사는 최악의 경우 41 분까지 지연 가능하니 승객 안내를 준비하자는 정량적 의사결정을 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조각을 하나로 연결해 보겠습니다. 비행기가 공중에 떠 있는 순간부터 관제사 화면에 알림이 뜨는 순간까지 일곱 단계가 5 초 이내에 흐릅니다. ADS-B 수신에서 비행기 위치가 OpenSky 로 오고, Kafka 의 flight-position 토픽에 Avro 메시지가 쌓입니다. Iceberg Silver 의 flight_features 에서 조인하고, XGBoost 가 42 밀리세컨드 안에 '지연 20 분' 을 예측합니다. Conformal 이 '90 퍼센트 확률로 12 분에서 40 분' 구간을 계산하고, RAG 와 LLM 이 FAA AIM 7-1 에 따른 출처 기반 조언을 생성해서 관제사 대시보드에 표시합니다. Kafka 약 100 밀리세컨드, Iceberg 500 밀리세컨드, XGBoost 42 밀리세컨드, Conformal 100 밀리세컨드, LLM 2 초에서 3 초가 걸리고, LLM 이 가장 느린 병목입니다.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발표에서 여러분이 가져가셨으면 하는 다섯 가지 교훈입니다. 첫 번째, 데이터는 raw 단계에서 절대 완벽하지 않으니 cleaning 을 건너뛰지 마십시오. 두 번째, Feature Engineering 이 모델 크기보다 중요합니다. 제 프로젝트의 P1 에서 피처 다섯 개만 추가해 R² 가 335 퍼센트 개선됐습니다. 세 번째, 시계열 데이터는 절대 shuffle 하지 마십시오. temporal leakage 는 가장 흔하면서도 가장 치명적인 실수입니다. 네 번째, 모델 선택을 정확도만으로 하지 말고 해석성과 운영성, 유지 비용을 모두 고려하십시오. 다섯 번째, 도메인 지식이 곧 경쟁력입니다. EUROCONTROL 의 '지연 45 퍼센트는 reactionary 다' 라는 연구 한 줄이 Rotation features 설계의 씨앗이 됐습니다. 특히 두 번째와 세 번째가 초심자가 가장 많이 실패하는 지점입니다.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 다섯 개에 대한 답변을 준비해 왔습니다. 첫째, Iceberg 가 plain parquet 보다 나은 이유는 catalog, ACID 트랜잭션, 스키마 진화, time-travel 이 모두 포함된 테이블 포맷이기 때문입니다. 둘째, Bayesian 은 prior 가정이 필요하지만 Conformal 은 분포 가정 자체가 없어서 데이터가 가정을 어겨도 구간이 깨지지 않습니다. 셋째, 단일 모델은 contamination 을 모든 phase 에 동일하게 적용해야 해서 TAXI 2 퍼센트와 LANDING 6 퍼센트처럼 3 배 차이가 나는 phase 별 특성을 전혀 반영할 수 없습니다. 넷째, 10 퍼센트 샘플링은 chronological 하게 뽑아서 시간 편향이 없게 했고, 오십만 행이면 통계적으로 충분합니다. 다섯째, 161 chunks 는 RAGAs 평가에서 faithfulness 0.91, context_precision 0.85 로 검증됐고 국내선 관제에는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발표의 핵심 세 가지를 다시 정리드립니다. 첫째, 데이터는 전처리가 핵심이니 여섯 단계 파이프라인을 기억해 주시기 바랍니다. 둘째, Feature Engineering 이 모델보다 강력하며 335 퍼센트 개선 사례가 그 증거입니다. 셋째, 시계열 데이터는 절대 shuffle 하지 마시고, ADR-004 의 원칙을 참고해 주세요. 질문이 더 있으시면 발표 후에도 편하게 말씀해 주세요.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858000" y="274320"/>
            <a:ext cx="2011680" cy="2011680"/>
          </a:xfrm>
          <a:prstGeom prst="ellipse">
            <a:avLst/>
          </a:prstGeom>
          <a:ln w="12700">
            <a:solidFill>
              <a:srgbClr val="1E88E5"/>
            </a:solidFill>
            <a:prstDash val="dash"/>
          </a:ln>
        </p:spPr>
      </p:sp>
      <p:sp>
        <p:nvSpPr>
          <p:cNvPr id="3" name="Shape 1"/>
          <p:cNvSpPr/>
          <p:nvPr/>
        </p:nvSpPr>
        <p:spPr>
          <a:xfrm>
            <a:off x="7315200" y="731520"/>
            <a:ext cx="1097280" cy="1097280"/>
          </a:xfrm>
          <a:prstGeom prst="ellipse">
            <a:avLst/>
          </a:prstGeom>
          <a:ln w="12700">
            <a:solidFill>
              <a:srgbClr val="FFB300"/>
            </a:solidFill>
            <a:prstDash val="solid"/>
          </a:ln>
        </p:spPr>
      </p:sp>
      <p:sp>
        <p:nvSpPr>
          <p:cNvPr id="4" name="Text 2"/>
          <p:cNvSpPr/>
          <p:nvPr/>
        </p:nvSpPr>
        <p:spPr>
          <a:xfrm>
            <a:off x="6858000" y="274320"/>
            <a:ext cx="2011680" cy="2011680"/>
          </a:xfrm>
          <a:prstGeom prst="rect">
            <a:avLst/>
          </a:prstGeom>
          <a:noFill/>
          <a:ln/>
        </p:spPr>
        <p:txBody>
          <a:bodyPr wrap="square" lIns="0" tIns="0" rIns="0" bIns="0" rtlCol="0" anchor="ctr"/>
          <a:lstStyle/>
          <a:p>
            <a:pPr algn="ctr" indent="0" marL="0">
              <a:buNone/>
            </a:pPr>
            <a:r>
              <a:rPr lang="en-US" sz="6000" dirty="0">
                <a:solidFill>
                  <a:srgbClr val="FFFFFF"/>
                </a:solidFill>
                <a:latin typeface="Malgun Gothic" pitchFamily="34" charset="0"/>
                <a:ea typeface="Malgun Gothic" pitchFamily="34" charset="-122"/>
                <a:cs typeface="Malgun Gothic" pitchFamily="34" charset="-120"/>
              </a:rPr>
              <a:t>🛫</a:t>
            </a:r>
            <a:endParaRPr lang="en-US" sz="6000" dirty="0"/>
          </a:p>
        </p:txBody>
      </p:sp>
      <p:sp>
        <p:nvSpPr>
          <p:cNvPr id="5" name="Text 3"/>
          <p:cNvSpPr/>
          <p:nvPr/>
        </p:nvSpPr>
        <p:spPr>
          <a:xfrm>
            <a:off x="457200" y="548640"/>
            <a:ext cx="8229600" cy="274320"/>
          </a:xfrm>
          <a:prstGeom prst="rect">
            <a:avLst/>
          </a:prstGeom>
          <a:noFill/>
          <a:ln/>
        </p:spPr>
        <p:txBody>
          <a:bodyPr wrap="square" rtlCol="0" anchor="ctr"/>
          <a:lstStyle/>
          <a:p>
            <a:pPr indent="0" marL="0">
              <a:buNone/>
            </a:pPr>
            <a:r>
              <a:rPr lang="en-US" sz="1200" b="1" spc="800" kern="0" dirty="0">
                <a:solidFill>
                  <a:srgbClr val="FFB300"/>
                </a:solidFill>
                <a:latin typeface="Malgun Gothic" pitchFamily="34" charset="0"/>
                <a:ea typeface="Malgun Gothic" pitchFamily="34" charset="-122"/>
                <a:cs typeface="Malgun Gothic" pitchFamily="34" charset="-120"/>
              </a:rPr>
              <a:t>DATA · EDUCATION · AVIATION</a:t>
            </a:r>
            <a:endParaRPr lang="en-US" sz="1200" dirty="0"/>
          </a:p>
        </p:txBody>
      </p:sp>
      <p:sp>
        <p:nvSpPr>
          <p:cNvPr id="6" name="Text 4"/>
          <p:cNvSpPr/>
          <p:nvPr/>
        </p:nvSpPr>
        <p:spPr>
          <a:xfrm>
            <a:off x="457200" y="1097280"/>
            <a:ext cx="8229600" cy="822960"/>
          </a:xfrm>
          <a:prstGeom prst="rect">
            <a:avLst/>
          </a:prstGeom>
          <a:noFill/>
          <a:ln/>
        </p:spPr>
        <p:txBody>
          <a:bodyPr wrap="square"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항공 데이터 이야기</a:t>
            </a:r>
            <a:endParaRPr lang="en-US" sz="4400" dirty="0"/>
          </a:p>
        </p:txBody>
      </p:sp>
      <p:sp>
        <p:nvSpPr>
          <p:cNvPr id="7" name="Text 5"/>
          <p:cNvSpPr/>
          <p:nvPr/>
        </p:nvSpPr>
        <p:spPr>
          <a:xfrm>
            <a:off x="457200" y="1965960"/>
            <a:ext cx="8229600" cy="411480"/>
          </a:xfrm>
          <a:prstGeom prst="rect">
            <a:avLst/>
          </a:prstGeom>
          <a:noFill/>
          <a:ln/>
        </p:spPr>
        <p:txBody>
          <a:bodyPr wrap="square" rtlCol="0" anchor="ctr"/>
          <a:lstStyle/>
          <a:p>
            <a:pPr indent="0" marL="0">
              <a:buNone/>
            </a:pPr>
            <a:r>
              <a:rPr lang="en-US" sz="2000" i="1" dirty="0">
                <a:solidFill>
                  <a:srgbClr val="E3F2FD"/>
                </a:solidFill>
                <a:latin typeface="Malgun Gothic" pitchFamily="34" charset="0"/>
                <a:ea typeface="Malgun Gothic" pitchFamily="34" charset="-122"/>
                <a:cs typeface="Malgun Gothic" pitchFamily="34" charset="-120"/>
              </a:rPr>
              <a:t>Aviation Data Story — from Raw to Model</a:t>
            </a:r>
            <a:endParaRPr lang="en-US" sz="2000" dirty="0"/>
          </a:p>
        </p:txBody>
      </p:sp>
      <p:sp>
        <p:nvSpPr>
          <p:cNvPr id="8" name="Text 6"/>
          <p:cNvSpPr/>
          <p:nvPr/>
        </p:nvSpPr>
        <p:spPr>
          <a:xfrm>
            <a:off x="457200" y="2468880"/>
            <a:ext cx="8229600" cy="365760"/>
          </a:xfrm>
          <a:prstGeom prst="rect">
            <a:avLst/>
          </a:prstGeom>
          <a:noFill/>
          <a:ln/>
        </p:spPr>
        <p:txBody>
          <a:bodyPr wrap="square" rtlCol="0" anchor="ctr"/>
          <a:lstStyle/>
          <a:p>
            <a:pPr indent="0" marL="0">
              <a:buNone/>
            </a:pPr>
            <a:r>
              <a:rPr lang="en-US" sz="1600" dirty="0">
                <a:solidFill>
                  <a:srgbClr val="E3F2FD"/>
                </a:solidFill>
                <a:latin typeface="Malgun Gothic" pitchFamily="34" charset="0"/>
                <a:ea typeface="Malgun Gothic" pitchFamily="34" charset="-122"/>
                <a:cs typeface="Malgun Gothic" pitchFamily="34" charset="-120"/>
              </a:rPr>
              <a:t>데이터가 어떻게 </a:t>
            </a:r>
            <a:pPr indent="0" marL="0">
              <a:buNone/>
            </a:pPr>
            <a:r>
              <a:rPr lang="en-US" sz="1600" b="1" dirty="0">
                <a:solidFill>
                  <a:srgbClr val="FFB300"/>
                </a:solidFill>
                <a:latin typeface="Malgun Gothic" pitchFamily="34" charset="0"/>
                <a:ea typeface="Malgun Gothic" pitchFamily="34" charset="-122"/>
                <a:cs typeface="Malgun Gothic" pitchFamily="34" charset="-120"/>
              </a:rPr>
              <a:t>수집</a:t>
            </a:r>
            <a:pPr indent="0" marL="0">
              <a:buNone/>
            </a:pPr>
            <a:r>
              <a:rPr lang="en-US" sz="1600" dirty="0">
                <a:solidFill>
                  <a:srgbClr val="E3F2FD"/>
                </a:solidFill>
                <a:latin typeface="Malgun Gothic" pitchFamily="34" charset="0"/>
                <a:ea typeface="Malgun Gothic" pitchFamily="34" charset="-122"/>
                <a:cs typeface="Malgun Gothic" pitchFamily="34" charset="-120"/>
              </a:rPr>
              <a:t>되고 </a:t>
            </a:r>
            <a:pPr indent="0" marL="0">
              <a:buNone/>
            </a:pPr>
            <a:r>
              <a:rPr lang="en-US" sz="1600" b="1" dirty="0">
                <a:solidFill>
                  <a:srgbClr val="FFB300"/>
                </a:solidFill>
                <a:latin typeface="Malgun Gothic" pitchFamily="34" charset="0"/>
                <a:ea typeface="Malgun Gothic" pitchFamily="34" charset="-122"/>
                <a:cs typeface="Malgun Gothic" pitchFamily="34" charset="-120"/>
              </a:rPr>
              <a:t>정제</a:t>
            </a:r>
            <a:pPr indent="0" marL="0">
              <a:buNone/>
            </a:pPr>
            <a:r>
              <a:rPr lang="en-US" sz="1600" dirty="0">
                <a:solidFill>
                  <a:srgbClr val="E3F2FD"/>
                </a:solidFill>
                <a:latin typeface="Malgun Gothic" pitchFamily="34" charset="0"/>
                <a:ea typeface="Malgun Gothic" pitchFamily="34" charset="-122"/>
                <a:cs typeface="Malgun Gothic" pitchFamily="34" charset="-120"/>
              </a:rPr>
              <a:t>되고 </a:t>
            </a:r>
            <a:pPr indent="0" marL="0">
              <a:buNone/>
            </a:pPr>
            <a:r>
              <a:rPr lang="en-US" sz="1600" b="1" dirty="0">
                <a:solidFill>
                  <a:srgbClr val="FFB300"/>
                </a:solidFill>
                <a:latin typeface="Malgun Gothic" pitchFamily="34" charset="0"/>
                <a:ea typeface="Malgun Gothic" pitchFamily="34" charset="-122"/>
                <a:cs typeface="Malgun Gothic" pitchFamily="34" charset="-120"/>
              </a:rPr>
              <a:t>모델</a:t>
            </a:r>
            <a:pPr indent="0" marL="0">
              <a:buNone/>
            </a:pPr>
            <a:r>
              <a:rPr lang="en-US" sz="1600" dirty="0">
                <a:solidFill>
                  <a:srgbClr val="E3F2FD"/>
                </a:solidFill>
                <a:latin typeface="Malgun Gothic" pitchFamily="34" charset="0"/>
                <a:ea typeface="Malgun Gothic" pitchFamily="34" charset="-122"/>
                <a:cs typeface="Malgun Gothic" pitchFamily="34" charset="-120"/>
              </a:rPr>
              <a:t>이 되는가</a:t>
            </a:r>
            <a:endParaRPr lang="en-US" sz="1600" dirty="0"/>
          </a:p>
        </p:txBody>
      </p:sp>
      <p:sp>
        <p:nvSpPr>
          <p:cNvPr id="9" name="Text 7"/>
          <p:cNvSpPr/>
          <p:nvPr/>
        </p:nvSpPr>
        <p:spPr>
          <a:xfrm>
            <a:off x="457200" y="2880360"/>
            <a:ext cx="8229600" cy="274320"/>
          </a:xfrm>
          <a:prstGeom prst="rect">
            <a:avLst/>
          </a:prstGeom>
          <a:noFill/>
          <a:ln/>
        </p:spPr>
        <p:txBody>
          <a:bodyPr wrap="square" rtlCol="0" anchor="ctr"/>
          <a:lstStyle/>
          <a:p>
            <a:pPr indent="0" marL="0">
              <a:buNone/>
            </a:pPr>
            <a:r>
              <a:rPr lang="en-US" sz="1200" i="1" dirty="0">
                <a:solidFill>
                  <a:srgbClr val="78909C"/>
                </a:solidFill>
                <a:latin typeface="Malgun Gothic" pitchFamily="34" charset="0"/>
                <a:ea typeface="Malgun Gothic" pitchFamily="34" charset="-122"/>
                <a:cs typeface="Malgun Gothic" pitchFamily="34" charset="-120"/>
              </a:rPr>
              <a:t>How data is collected, transformed, and turned into models</a:t>
            </a:r>
            <a:endParaRPr lang="en-US" sz="1200" dirty="0"/>
          </a:p>
        </p:txBody>
      </p:sp>
      <p:sp>
        <p:nvSpPr>
          <p:cNvPr id="10" name="Shape 8"/>
          <p:cNvSpPr/>
          <p:nvPr/>
        </p:nvSpPr>
        <p:spPr>
          <a:xfrm>
            <a:off x="457200" y="3840480"/>
            <a:ext cx="8229600" cy="0"/>
          </a:xfrm>
          <a:prstGeom prst="line">
            <a:avLst/>
          </a:prstGeom>
          <a:noFill/>
          <a:ln w="12700">
            <a:solidFill>
              <a:srgbClr val="1E88E5"/>
            </a:solidFill>
            <a:prstDash val="solid"/>
          </a:ln>
        </p:spPr>
      </p:sp>
      <p:sp>
        <p:nvSpPr>
          <p:cNvPr id="11" name="Text 9"/>
          <p:cNvSpPr/>
          <p:nvPr/>
        </p:nvSpPr>
        <p:spPr>
          <a:xfrm>
            <a:off x="457200" y="4023360"/>
            <a:ext cx="8229600" cy="274320"/>
          </a:xfrm>
          <a:prstGeom prst="rect">
            <a:avLst/>
          </a:prstGeom>
          <a:noFill/>
          <a:ln/>
        </p:spPr>
        <p:txBody>
          <a:bodyPr wrap="square"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DoubleJ 팀 / 정재원</a:t>
            </a:r>
            <a:pPr indent="0" marL="0">
              <a:buNone/>
            </a:pPr>
            <a:r>
              <a:rPr lang="en-US" sz="1200" dirty="0">
                <a:solidFill>
                  <a:srgbClr val="78909C"/>
                </a:solidFill>
                <a:latin typeface="Malgun Gothic" pitchFamily="34" charset="0"/>
                <a:ea typeface="Malgun Gothic" pitchFamily="34" charset="-122"/>
                <a:cs typeface="Malgun Gothic" pitchFamily="34" charset="-120"/>
              </a:rPr>
              <a:t>   ·   </a:t>
            </a:r>
            <a:pPr indent="0" marL="0">
              <a:buNone/>
            </a:pPr>
            <a:r>
              <a:rPr lang="en-US" sz="1200" dirty="0">
                <a:solidFill>
                  <a:srgbClr val="E3F2FD"/>
                </a:solidFill>
                <a:latin typeface="Malgun Gothic" pitchFamily="34" charset="0"/>
                <a:ea typeface="Malgun Gothic" pitchFamily="34" charset="-122"/>
                <a:cs typeface="Malgun Gothic" pitchFamily="34" charset="-120"/>
              </a:rPr>
              <a:t>빅데이터과 캡스톤디자인</a:t>
            </a:r>
            <a:pPr indent="0" marL="0">
              <a:buNone/>
            </a:pPr>
            <a:r>
              <a:rPr lang="en-US" sz="1200" dirty="0">
                <a:solidFill>
                  <a:srgbClr val="78909C"/>
                </a:solidFill>
                <a:latin typeface="Malgun Gothic" pitchFamily="34" charset="0"/>
                <a:ea typeface="Malgun Gothic" pitchFamily="34" charset="-122"/>
                <a:cs typeface="Malgun Gothic" pitchFamily="34" charset="-120"/>
              </a:rPr>
              <a:t>   ·   </a:t>
            </a:r>
            <a:pPr indent="0" marL="0">
              <a:buNone/>
            </a:pPr>
            <a:r>
              <a:rPr lang="en-US" sz="1200" dirty="0">
                <a:solidFill>
                  <a:srgbClr val="FFB300"/>
                </a:solidFill>
                <a:latin typeface="Malgun Gothic" pitchFamily="34" charset="0"/>
                <a:ea typeface="Malgun Gothic" pitchFamily="34" charset="-122"/>
                <a:cs typeface="Malgun Gothic" pitchFamily="34" charset="-120"/>
              </a:rPr>
              <a:t>2026-04-19 (v2.2.0)</a:t>
            </a:r>
            <a:endParaRPr lang="en-US" sz="1200" dirty="0"/>
          </a:p>
        </p:txBody>
      </p:sp>
      <p:sp>
        <p:nvSpPr>
          <p:cNvPr id="12" name="Text 10"/>
          <p:cNvSpPr/>
          <p:nvPr/>
        </p:nvSpPr>
        <p:spPr>
          <a:xfrm>
            <a:off x="457200" y="4343400"/>
            <a:ext cx="8229600" cy="274320"/>
          </a:xfrm>
          <a:prstGeom prst="rect">
            <a:avLst/>
          </a:prstGeom>
          <a:noFill/>
          <a:ln/>
        </p:spPr>
        <p:txBody>
          <a:bodyPr wrap="square"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SkyOps Intelligence · GitHub: biz-doublej/SkyOps-Intelligence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01 · ORIENTATION</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학습 목표</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Learning Objectives — what you will know after this talk</a:t>
            </a:r>
            <a:endParaRPr lang="en-US" sz="1050" dirty="0"/>
          </a:p>
        </p:txBody>
      </p:sp>
      <p:sp>
        <p:nvSpPr>
          <p:cNvPr id="7" name="Shape 5"/>
          <p:cNvSpPr/>
          <p:nvPr/>
        </p:nvSpPr>
        <p:spPr>
          <a:xfrm>
            <a:off x="548640" y="1051560"/>
            <a:ext cx="502920" cy="502920"/>
          </a:xfrm>
          <a:prstGeom prst="ellipse">
            <a:avLst/>
          </a:prstGeom>
          <a:solidFill>
            <a:srgbClr val="1E88E5"/>
          </a:solidFill>
          <a:ln w="12700">
            <a:solidFill>
              <a:srgbClr val="1E88E5"/>
            </a:solidFill>
            <a:prstDash val="solid"/>
          </a:ln>
        </p:spPr>
      </p:sp>
      <p:sp>
        <p:nvSpPr>
          <p:cNvPr id="8" name="Text 6"/>
          <p:cNvSpPr/>
          <p:nvPr/>
        </p:nvSpPr>
        <p:spPr>
          <a:xfrm>
            <a:off x="548640" y="10515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a:t>
            </a:r>
            <a:endParaRPr lang="en-US" sz="2200" dirty="0"/>
          </a:p>
        </p:txBody>
      </p:sp>
      <p:sp>
        <p:nvSpPr>
          <p:cNvPr id="9" name="Shape 7"/>
          <p:cNvSpPr/>
          <p:nvPr/>
        </p:nvSpPr>
        <p:spPr>
          <a:xfrm>
            <a:off x="1234440" y="1051560"/>
            <a:ext cx="7498080" cy="502920"/>
          </a:xfrm>
          <a:prstGeom prst="roundRect">
            <a:avLst>
              <a:gd name="adj" fmla="val 14545"/>
            </a:avLst>
          </a:prstGeom>
          <a:solidFill>
            <a:srgbClr val="FFFFFF"/>
          </a:solidFill>
          <a:ln w="19050">
            <a:solidFill>
              <a:srgbClr val="1E88E5"/>
            </a:solidFill>
            <a:prstDash val="solid"/>
          </a:ln>
        </p:spPr>
      </p:sp>
      <p:sp>
        <p:nvSpPr>
          <p:cNvPr id="10" name="Text 8"/>
          <p:cNvSpPr/>
          <p:nvPr/>
        </p:nvSpPr>
        <p:spPr>
          <a:xfrm>
            <a:off x="1371600" y="1069848"/>
            <a:ext cx="7315200" cy="256032"/>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항공 데이터가 어떻게 생성되는가</a:t>
            </a:r>
            <a:endParaRPr lang="en-US" sz="1300" dirty="0"/>
          </a:p>
        </p:txBody>
      </p:sp>
      <p:sp>
        <p:nvSpPr>
          <p:cNvPr id="11" name="Text 9"/>
          <p:cNvSpPr/>
          <p:nvPr/>
        </p:nvSpPr>
        <p:spPr>
          <a:xfrm>
            <a:off x="1371600" y="1307592"/>
            <a:ext cx="7315200" cy="219456"/>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How aviation data is generated</a:t>
            </a:r>
            <a:endParaRPr lang="en-US" sz="1000" dirty="0"/>
          </a:p>
        </p:txBody>
      </p:sp>
      <p:sp>
        <p:nvSpPr>
          <p:cNvPr id="12" name="Shape 10"/>
          <p:cNvSpPr/>
          <p:nvPr/>
        </p:nvSpPr>
        <p:spPr>
          <a:xfrm>
            <a:off x="548640" y="1709928"/>
            <a:ext cx="502920" cy="502920"/>
          </a:xfrm>
          <a:prstGeom prst="ellipse">
            <a:avLst/>
          </a:prstGeom>
          <a:solidFill>
            <a:srgbClr val="00897B"/>
          </a:solidFill>
          <a:ln w="12700">
            <a:solidFill>
              <a:srgbClr val="00897B"/>
            </a:solidFill>
            <a:prstDash val="solid"/>
          </a:ln>
        </p:spPr>
      </p:sp>
      <p:sp>
        <p:nvSpPr>
          <p:cNvPr id="13" name="Text 11"/>
          <p:cNvSpPr/>
          <p:nvPr/>
        </p:nvSpPr>
        <p:spPr>
          <a:xfrm>
            <a:off x="54864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2</a:t>
            </a:r>
            <a:endParaRPr lang="en-US" sz="2200" dirty="0"/>
          </a:p>
        </p:txBody>
      </p:sp>
      <p:sp>
        <p:nvSpPr>
          <p:cNvPr id="14" name="Shape 12"/>
          <p:cNvSpPr/>
          <p:nvPr/>
        </p:nvSpPr>
        <p:spPr>
          <a:xfrm>
            <a:off x="1234440" y="1709928"/>
            <a:ext cx="7498080" cy="502920"/>
          </a:xfrm>
          <a:prstGeom prst="roundRect">
            <a:avLst>
              <a:gd name="adj" fmla="val 14545"/>
            </a:avLst>
          </a:prstGeom>
          <a:solidFill>
            <a:srgbClr val="FFFFFF"/>
          </a:solidFill>
          <a:ln w="19050">
            <a:solidFill>
              <a:srgbClr val="00897B"/>
            </a:solidFill>
            <a:prstDash val="solid"/>
          </a:ln>
        </p:spPr>
      </p:sp>
      <p:sp>
        <p:nvSpPr>
          <p:cNvPr id="15" name="Text 13"/>
          <p:cNvSpPr/>
          <p:nvPr/>
        </p:nvSpPr>
        <p:spPr>
          <a:xfrm>
            <a:off x="1371600" y="1728216"/>
            <a:ext cx="7315200" cy="256032"/>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Raw 데이터를 어떻게 정제하는가</a:t>
            </a:r>
            <a:endParaRPr lang="en-US" sz="1300" dirty="0"/>
          </a:p>
        </p:txBody>
      </p:sp>
      <p:sp>
        <p:nvSpPr>
          <p:cNvPr id="16" name="Text 14"/>
          <p:cNvSpPr/>
          <p:nvPr/>
        </p:nvSpPr>
        <p:spPr>
          <a:xfrm>
            <a:off x="1371600" y="1965960"/>
            <a:ext cx="7315200" cy="219456"/>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How to clean raw data</a:t>
            </a:r>
            <a:endParaRPr lang="en-US" sz="1000" dirty="0"/>
          </a:p>
        </p:txBody>
      </p:sp>
      <p:sp>
        <p:nvSpPr>
          <p:cNvPr id="17" name="Shape 15"/>
          <p:cNvSpPr/>
          <p:nvPr/>
        </p:nvSpPr>
        <p:spPr>
          <a:xfrm>
            <a:off x="548640" y="2368296"/>
            <a:ext cx="502920" cy="502920"/>
          </a:xfrm>
          <a:prstGeom prst="ellipse">
            <a:avLst/>
          </a:prstGeom>
          <a:solidFill>
            <a:srgbClr val="FFB300"/>
          </a:solidFill>
          <a:ln w="12700">
            <a:solidFill>
              <a:srgbClr val="FFB300"/>
            </a:solidFill>
            <a:prstDash val="solid"/>
          </a:ln>
        </p:spPr>
      </p:sp>
      <p:sp>
        <p:nvSpPr>
          <p:cNvPr id="18" name="Text 16"/>
          <p:cNvSpPr/>
          <p:nvPr/>
        </p:nvSpPr>
        <p:spPr>
          <a:xfrm>
            <a:off x="548640" y="2368296"/>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3</a:t>
            </a:r>
            <a:endParaRPr lang="en-US" sz="2200" dirty="0"/>
          </a:p>
        </p:txBody>
      </p:sp>
      <p:sp>
        <p:nvSpPr>
          <p:cNvPr id="19" name="Shape 17"/>
          <p:cNvSpPr/>
          <p:nvPr/>
        </p:nvSpPr>
        <p:spPr>
          <a:xfrm>
            <a:off x="1234440" y="2368296"/>
            <a:ext cx="7498080" cy="502920"/>
          </a:xfrm>
          <a:prstGeom prst="roundRect">
            <a:avLst>
              <a:gd name="adj" fmla="val 14545"/>
            </a:avLst>
          </a:prstGeom>
          <a:solidFill>
            <a:srgbClr val="FFFFFF"/>
          </a:solidFill>
          <a:ln w="19050">
            <a:solidFill>
              <a:srgbClr val="FFB300"/>
            </a:solidFill>
            <a:prstDash val="solid"/>
          </a:ln>
        </p:spPr>
      </p:sp>
      <p:sp>
        <p:nvSpPr>
          <p:cNvPr id="20" name="Text 18"/>
          <p:cNvSpPr/>
          <p:nvPr/>
        </p:nvSpPr>
        <p:spPr>
          <a:xfrm>
            <a:off x="1371600" y="2386584"/>
            <a:ext cx="7315200" cy="256032"/>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왜 시계열 분할이 중요한가</a:t>
            </a:r>
            <a:endParaRPr lang="en-US" sz="1300" dirty="0"/>
          </a:p>
        </p:txBody>
      </p:sp>
      <p:sp>
        <p:nvSpPr>
          <p:cNvPr id="21" name="Text 19"/>
          <p:cNvSpPr/>
          <p:nvPr/>
        </p:nvSpPr>
        <p:spPr>
          <a:xfrm>
            <a:off x="1371600" y="2624328"/>
            <a:ext cx="7315200" cy="219456"/>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Why time-ordered split matters (temporal leakage)</a:t>
            </a:r>
            <a:endParaRPr lang="en-US" sz="1000" dirty="0"/>
          </a:p>
        </p:txBody>
      </p:sp>
      <p:sp>
        <p:nvSpPr>
          <p:cNvPr id="22" name="Shape 20"/>
          <p:cNvSpPr/>
          <p:nvPr/>
        </p:nvSpPr>
        <p:spPr>
          <a:xfrm>
            <a:off x="548640" y="3026664"/>
            <a:ext cx="502920" cy="502920"/>
          </a:xfrm>
          <a:prstGeom prst="ellipse">
            <a:avLst/>
          </a:prstGeom>
          <a:solidFill>
            <a:srgbClr val="8E24AA"/>
          </a:solidFill>
          <a:ln w="12700">
            <a:solidFill>
              <a:srgbClr val="8E24AA"/>
            </a:solidFill>
            <a:prstDash val="solid"/>
          </a:ln>
        </p:spPr>
      </p:sp>
      <p:sp>
        <p:nvSpPr>
          <p:cNvPr id="23" name="Text 21"/>
          <p:cNvSpPr/>
          <p:nvPr/>
        </p:nvSpPr>
        <p:spPr>
          <a:xfrm>
            <a:off x="548640" y="3026664"/>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4</a:t>
            </a:r>
            <a:endParaRPr lang="en-US" sz="2200" dirty="0"/>
          </a:p>
        </p:txBody>
      </p:sp>
      <p:sp>
        <p:nvSpPr>
          <p:cNvPr id="24" name="Shape 22"/>
          <p:cNvSpPr/>
          <p:nvPr/>
        </p:nvSpPr>
        <p:spPr>
          <a:xfrm>
            <a:off x="1234440" y="3026664"/>
            <a:ext cx="7498080" cy="502920"/>
          </a:xfrm>
          <a:prstGeom prst="roundRect">
            <a:avLst>
              <a:gd name="adj" fmla="val 14545"/>
            </a:avLst>
          </a:prstGeom>
          <a:solidFill>
            <a:srgbClr val="FFFFFF"/>
          </a:solidFill>
          <a:ln w="19050">
            <a:solidFill>
              <a:srgbClr val="8E24AA"/>
            </a:solidFill>
            <a:prstDash val="solid"/>
          </a:ln>
        </p:spPr>
      </p:sp>
      <p:sp>
        <p:nvSpPr>
          <p:cNvPr id="25" name="Text 23"/>
          <p:cNvSpPr/>
          <p:nvPr/>
        </p:nvSpPr>
        <p:spPr>
          <a:xfrm>
            <a:off x="1371600" y="3044952"/>
            <a:ext cx="7315200" cy="256032"/>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Feature Engineering 이 모델을 어떻게 바꾸는가 (실제 사례: R² +335%)</a:t>
            </a:r>
            <a:endParaRPr lang="en-US" sz="1300" dirty="0"/>
          </a:p>
        </p:txBody>
      </p:sp>
      <p:sp>
        <p:nvSpPr>
          <p:cNvPr id="26" name="Text 24"/>
          <p:cNvSpPr/>
          <p:nvPr/>
        </p:nvSpPr>
        <p:spPr>
          <a:xfrm>
            <a:off x="1371600" y="3282696"/>
            <a:ext cx="7315200" cy="219456"/>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How feature engineering transforms models (real case: R² +335%)</a:t>
            </a:r>
            <a:endParaRPr lang="en-US" sz="1000" dirty="0"/>
          </a:p>
        </p:txBody>
      </p:sp>
      <p:sp>
        <p:nvSpPr>
          <p:cNvPr id="27" name="Shape 25"/>
          <p:cNvSpPr/>
          <p:nvPr/>
        </p:nvSpPr>
        <p:spPr>
          <a:xfrm>
            <a:off x="548640" y="3685032"/>
            <a:ext cx="502920" cy="502920"/>
          </a:xfrm>
          <a:prstGeom prst="ellipse">
            <a:avLst/>
          </a:prstGeom>
          <a:solidFill>
            <a:srgbClr val="EF5350"/>
          </a:solidFill>
          <a:ln w="12700">
            <a:solidFill>
              <a:srgbClr val="EF5350"/>
            </a:solidFill>
            <a:prstDash val="solid"/>
          </a:ln>
        </p:spPr>
      </p:sp>
      <p:sp>
        <p:nvSpPr>
          <p:cNvPr id="28" name="Text 26"/>
          <p:cNvSpPr/>
          <p:nvPr/>
        </p:nvSpPr>
        <p:spPr>
          <a:xfrm>
            <a:off x="548640" y="368503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5</a:t>
            </a:r>
            <a:endParaRPr lang="en-US" sz="2200" dirty="0"/>
          </a:p>
        </p:txBody>
      </p:sp>
      <p:sp>
        <p:nvSpPr>
          <p:cNvPr id="29" name="Shape 27"/>
          <p:cNvSpPr/>
          <p:nvPr/>
        </p:nvSpPr>
        <p:spPr>
          <a:xfrm>
            <a:off x="1234440" y="3685032"/>
            <a:ext cx="7498080" cy="502920"/>
          </a:xfrm>
          <a:prstGeom prst="roundRect">
            <a:avLst>
              <a:gd name="adj" fmla="val 14545"/>
            </a:avLst>
          </a:prstGeom>
          <a:solidFill>
            <a:srgbClr val="FFFFFF"/>
          </a:solidFill>
          <a:ln w="19050">
            <a:solidFill>
              <a:srgbClr val="EF5350"/>
            </a:solidFill>
            <a:prstDash val="solid"/>
          </a:ln>
        </p:spPr>
      </p:sp>
      <p:sp>
        <p:nvSpPr>
          <p:cNvPr id="30" name="Text 28"/>
          <p:cNvSpPr/>
          <p:nvPr/>
        </p:nvSpPr>
        <p:spPr>
          <a:xfrm>
            <a:off x="1371600" y="3703320"/>
            <a:ext cx="7315200" cy="256032"/>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XGBoost / Isolation Forest 가 왜 선택됐는가</a:t>
            </a:r>
            <a:endParaRPr lang="en-US" sz="1300" dirty="0"/>
          </a:p>
        </p:txBody>
      </p:sp>
      <p:sp>
        <p:nvSpPr>
          <p:cNvPr id="31" name="Text 29"/>
          <p:cNvSpPr/>
          <p:nvPr/>
        </p:nvSpPr>
        <p:spPr>
          <a:xfrm>
            <a:off x="1371600" y="3941064"/>
            <a:ext cx="7315200" cy="219456"/>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Why XGBoost / Isolation Forest were the right choice</a:t>
            </a:r>
            <a:endParaRPr lang="en-US" sz="1000" dirty="0"/>
          </a:p>
        </p:txBody>
      </p:sp>
      <p:sp>
        <p:nvSpPr>
          <p:cNvPr id="32" name="Shape 30"/>
          <p:cNvSpPr/>
          <p:nvPr/>
        </p:nvSpPr>
        <p:spPr>
          <a:xfrm>
            <a:off x="0" y="4892040"/>
            <a:ext cx="9144000" cy="256032"/>
          </a:xfrm>
          <a:prstGeom prst="rect">
            <a:avLst/>
          </a:prstGeom>
          <a:solidFill>
            <a:srgbClr val="0B1F3A"/>
          </a:solidFill>
          <a:ln w="12700">
            <a:solidFill>
              <a:srgbClr val="0B1F3A"/>
            </a:solidFill>
            <a:prstDash val="solid"/>
          </a:ln>
        </p:spPr>
      </p:sp>
      <p:sp>
        <p:nvSpPr>
          <p:cNvPr id="33" name="Text 31"/>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4" name="Text 32"/>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02 · BASICS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데이터란 무엇인가?</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What is Data? — from measurement to model</a:t>
            </a:r>
            <a:endParaRPr lang="en-US" sz="1050" dirty="0"/>
          </a:p>
        </p:txBody>
      </p:sp>
      <p:sp>
        <p:nvSpPr>
          <p:cNvPr id="7" name="Text 5"/>
          <p:cNvSpPr/>
          <p:nvPr/>
        </p:nvSpPr>
        <p:spPr>
          <a:xfrm>
            <a:off x="457200" y="1005840"/>
            <a:ext cx="822960" cy="822960"/>
          </a:xfrm>
          <a:prstGeom prst="rect">
            <a:avLst/>
          </a:prstGeom>
          <a:noFill/>
          <a:ln/>
        </p:spPr>
        <p:txBody>
          <a:bodyPr wrap="square" lIns="0" tIns="0" rIns="0" bIns="0" rtlCol="0" anchor="ctr"/>
          <a:lstStyle/>
          <a:p>
            <a:pPr algn="ctr" indent="0" marL="0">
              <a:buNone/>
            </a:pPr>
            <a:r>
              <a:rPr lang="en-US" sz="4200" dirty="0">
                <a:solidFill>
                  <a:srgbClr val="000000"/>
                </a:solidFill>
                <a:latin typeface="Malgun Gothic" pitchFamily="34" charset="0"/>
                <a:ea typeface="Malgun Gothic" pitchFamily="34" charset="-122"/>
                <a:cs typeface="Malgun Gothic" pitchFamily="34" charset="-120"/>
              </a:rPr>
              <a:t>📐</a:t>
            </a:r>
            <a:endParaRPr lang="en-US" sz="4200" dirty="0"/>
          </a:p>
        </p:txBody>
      </p:sp>
      <p:sp>
        <p:nvSpPr>
          <p:cNvPr id="8" name="Shape 6"/>
          <p:cNvSpPr/>
          <p:nvPr/>
        </p:nvSpPr>
        <p:spPr>
          <a:xfrm>
            <a:off x="1417320" y="1051560"/>
            <a:ext cx="7315200" cy="822960"/>
          </a:xfrm>
          <a:prstGeom prst="roundRect">
            <a:avLst>
              <a:gd name="adj" fmla="val 8889"/>
            </a:avLst>
          </a:prstGeom>
          <a:solidFill>
            <a:srgbClr val="E3F2FD"/>
          </a:solidFill>
          <a:ln w="12700">
            <a:solidFill>
              <a:srgbClr val="1E88E5"/>
            </a:solidFill>
            <a:prstDash val="solid"/>
          </a:ln>
        </p:spPr>
      </p:sp>
      <p:sp>
        <p:nvSpPr>
          <p:cNvPr id="9" name="Text 7"/>
          <p:cNvSpPr/>
          <p:nvPr/>
        </p:nvSpPr>
        <p:spPr>
          <a:xfrm>
            <a:off x="1554480" y="1097280"/>
            <a:ext cx="7040880" cy="731520"/>
          </a:xfrm>
          <a:prstGeom prst="rect">
            <a:avLst/>
          </a:prstGeom>
          <a:noFill/>
          <a:ln/>
        </p:spPr>
        <p:txBody>
          <a:bodyPr wrap="square" lIns="0" tIns="0" rIns="0" bIns="0" rtlCol="0" anchor="ctr"/>
          <a:lstStyle/>
          <a:p>
            <a:pPr indent="0" marL="0">
              <a:buNone/>
            </a:pPr>
            <a:r>
              <a:rPr lang="en-US" sz="1600" b="1" dirty="0">
                <a:solidFill>
                  <a:srgbClr val="0B1F3A"/>
                </a:solidFill>
                <a:latin typeface="Malgun Gothic" pitchFamily="34" charset="0"/>
                <a:ea typeface="Malgun Gothic" pitchFamily="34" charset="-122"/>
                <a:cs typeface="Malgun Gothic" pitchFamily="34" charset="-120"/>
              </a:rPr>
              <a:t>데이터 = 세상의 측정값
</a:t>
            </a:r>
            <a:pPr indent="0" marL="0">
              <a:buNone/>
            </a:pPr>
            <a:r>
              <a:rPr lang="en-US" sz="1100" i="1" dirty="0">
                <a:solidFill>
                  <a:srgbClr val="37474F"/>
                </a:solidFill>
                <a:latin typeface="Malgun Gothic" pitchFamily="34" charset="0"/>
                <a:ea typeface="Malgun Gothic" pitchFamily="34" charset="-122"/>
                <a:cs typeface="Malgun Gothic" pitchFamily="34" charset="-120"/>
              </a:rPr>
              <a:t>Data = quantified observations of the world</a:t>
            </a:r>
            <a:endParaRPr lang="en-US" sz="1600" dirty="0"/>
          </a:p>
        </p:txBody>
      </p:sp>
      <p:sp>
        <p:nvSpPr>
          <p:cNvPr id="10" name="Shape 8"/>
          <p:cNvSpPr/>
          <p:nvPr/>
        </p:nvSpPr>
        <p:spPr>
          <a:xfrm>
            <a:off x="457200" y="2103120"/>
            <a:ext cx="3931920" cy="2560320"/>
          </a:xfrm>
          <a:prstGeom prst="roundRect">
            <a:avLst>
              <a:gd name="adj" fmla="val 3571"/>
            </a:avLst>
          </a:prstGeom>
          <a:solidFill>
            <a:srgbClr val="FFFFFF"/>
          </a:solidFill>
          <a:ln w="25400">
            <a:solidFill>
              <a:srgbClr val="EF5350"/>
            </a:solidFill>
            <a:prstDash val="solid"/>
          </a:ln>
        </p:spPr>
      </p:sp>
      <p:sp>
        <p:nvSpPr>
          <p:cNvPr id="11" name="Shape 9"/>
          <p:cNvSpPr/>
          <p:nvPr/>
        </p:nvSpPr>
        <p:spPr>
          <a:xfrm>
            <a:off x="457200" y="2103120"/>
            <a:ext cx="3931920" cy="365760"/>
          </a:xfrm>
          <a:prstGeom prst="rect">
            <a:avLst/>
          </a:prstGeom>
          <a:solidFill>
            <a:srgbClr val="EF5350"/>
          </a:solidFill>
          <a:ln w="12700">
            <a:solidFill>
              <a:srgbClr val="EF5350"/>
            </a:solidFill>
            <a:prstDash val="solid"/>
          </a:ln>
        </p:spPr>
      </p:sp>
      <p:sp>
        <p:nvSpPr>
          <p:cNvPr id="12" name="Text 10"/>
          <p:cNvSpPr/>
          <p:nvPr/>
        </p:nvSpPr>
        <p:spPr>
          <a:xfrm>
            <a:off x="457200" y="2103120"/>
            <a:ext cx="39319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의료 (Medical)</a:t>
            </a:r>
            <a:endParaRPr lang="en-US" sz="1300" dirty="0"/>
          </a:p>
        </p:txBody>
      </p:sp>
      <p:sp>
        <p:nvSpPr>
          <p:cNvPr id="13" name="Shape 11"/>
          <p:cNvSpPr/>
          <p:nvPr/>
        </p:nvSpPr>
        <p:spPr>
          <a:xfrm>
            <a:off x="640080" y="2606040"/>
            <a:ext cx="3566160" cy="365760"/>
          </a:xfrm>
          <a:prstGeom prst="rect">
            <a:avLst/>
          </a:prstGeom>
          <a:solidFill>
            <a:srgbClr val="E3F2FD"/>
          </a:solidFill>
          <a:ln w="12700">
            <a:solidFill>
              <a:srgbClr val="EF5350"/>
            </a:solidFill>
            <a:prstDash val="solid"/>
          </a:ln>
        </p:spPr>
      </p:sp>
      <p:sp>
        <p:nvSpPr>
          <p:cNvPr id="14" name="Text 12"/>
          <p:cNvSpPr/>
          <p:nvPr/>
        </p:nvSpPr>
        <p:spPr>
          <a:xfrm>
            <a:off x="731520" y="2606040"/>
            <a:ext cx="1828800" cy="36576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체온계</a:t>
            </a:r>
            <a:endParaRPr lang="en-US" sz="1100" dirty="0"/>
          </a:p>
        </p:txBody>
      </p:sp>
      <p:sp>
        <p:nvSpPr>
          <p:cNvPr id="15" name="Text 13"/>
          <p:cNvSpPr/>
          <p:nvPr/>
        </p:nvSpPr>
        <p:spPr>
          <a:xfrm>
            <a:off x="2606040" y="2606040"/>
            <a:ext cx="1600200" cy="365760"/>
          </a:xfrm>
          <a:prstGeom prst="rect">
            <a:avLst/>
          </a:prstGeom>
          <a:noFill/>
          <a:ln/>
        </p:spPr>
        <p:txBody>
          <a:bodyPr wrap="square" lIns="0" tIns="0" rIns="0" bIns="0" rtlCol="0" anchor="ctr"/>
          <a:lstStyle/>
          <a:p>
            <a:pPr algn="r" indent="0" marL="0">
              <a:buNone/>
            </a:pPr>
            <a:r>
              <a:rPr lang="en-US" sz="900" i="1" dirty="0">
                <a:solidFill>
                  <a:srgbClr val="78909C"/>
                </a:solidFill>
                <a:latin typeface="Malgun Gothic" pitchFamily="34" charset="0"/>
                <a:ea typeface="Malgun Gothic" pitchFamily="34" charset="-122"/>
                <a:cs typeface="Malgun Gothic" pitchFamily="34" charset="-120"/>
              </a:rPr>
              <a:t>thermometer</a:t>
            </a:r>
            <a:endParaRPr lang="en-US" sz="900" dirty="0"/>
          </a:p>
        </p:txBody>
      </p:sp>
      <p:sp>
        <p:nvSpPr>
          <p:cNvPr id="16" name="Shape 14"/>
          <p:cNvSpPr/>
          <p:nvPr/>
        </p:nvSpPr>
        <p:spPr>
          <a:xfrm>
            <a:off x="2286000" y="2990088"/>
            <a:ext cx="0" cy="73152"/>
          </a:xfrm>
          <a:prstGeom prst="line">
            <a:avLst/>
          </a:prstGeom>
          <a:noFill/>
          <a:ln w="25400">
            <a:solidFill>
              <a:srgbClr val="EF5350"/>
            </a:solidFill>
            <a:prstDash val="solid"/>
            <a:tailEnd type="triangle"/>
          </a:ln>
        </p:spPr>
      </p:sp>
      <p:sp>
        <p:nvSpPr>
          <p:cNvPr id="17" name="Shape 15"/>
          <p:cNvSpPr/>
          <p:nvPr/>
        </p:nvSpPr>
        <p:spPr>
          <a:xfrm>
            <a:off x="640080" y="3090672"/>
            <a:ext cx="3566160" cy="365760"/>
          </a:xfrm>
          <a:prstGeom prst="rect">
            <a:avLst/>
          </a:prstGeom>
          <a:solidFill>
            <a:srgbClr val="E3F2FD"/>
          </a:solidFill>
          <a:ln w="12700">
            <a:solidFill>
              <a:srgbClr val="EF5350"/>
            </a:solidFill>
            <a:prstDash val="solid"/>
          </a:ln>
        </p:spPr>
      </p:sp>
      <p:sp>
        <p:nvSpPr>
          <p:cNvPr id="18" name="Text 16"/>
          <p:cNvSpPr/>
          <p:nvPr/>
        </p:nvSpPr>
        <p:spPr>
          <a:xfrm>
            <a:off x="731520" y="3090672"/>
            <a:ext cx="1828800" cy="36576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37.5°C</a:t>
            </a:r>
            <a:endParaRPr lang="en-US" sz="1100" dirty="0"/>
          </a:p>
        </p:txBody>
      </p:sp>
      <p:sp>
        <p:nvSpPr>
          <p:cNvPr id="19" name="Text 17"/>
          <p:cNvSpPr/>
          <p:nvPr/>
        </p:nvSpPr>
        <p:spPr>
          <a:xfrm>
            <a:off x="2606040" y="3090672"/>
            <a:ext cx="1600200" cy="365760"/>
          </a:xfrm>
          <a:prstGeom prst="rect">
            <a:avLst/>
          </a:prstGeom>
          <a:noFill/>
          <a:ln/>
        </p:spPr>
        <p:txBody>
          <a:bodyPr wrap="square" lIns="0" tIns="0" rIns="0" bIns="0" rtlCol="0" anchor="ctr"/>
          <a:lstStyle/>
          <a:p>
            <a:pPr algn="r" indent="0" marL="0">
              <a:buNone/>
            </a:pPr>
            <a:r>
              <a:rPr lang="en-US" sz="900" i="1" dirty="0">
                <a:solidFill>
                  <a:srgbClr val="78909C"/>
                </a:solidFill>
                <a:latin typeface="Malgun Gothic" pitchFamily="34" charset="0"/>
                <a:ea typeface="Malgun Gothic" pitchFamily="34" charset="-122"/>
                <a:cs typeface="Malgun Gothic" pitchFamily="34" charset="-120"/>
              </a:rPr>
              <a:t>numeric</a:t>
            </a:r>
            <a:endParaRPr lang="en-US" sz="900" dirty="0"/>
          </a:p>
        </p:txBody>
      </p:sp>
      <p:sp>
        <p:nvSpPr>
          <p:cNvPr id="20" name="Shape 18"/>
          <p:cNvSpPr/>
          <p:nvPr/>
        </p:nvSpPr>
        <p:spPr>
          <a:xfrm>
            <a:off x="2286000" y="3474720"/>
            <a:ext cx="0" cy="73152"/>
          </a:xfrm>
          <a:prstGeom prst="line">
            <a:avLst/>
          </a:prstGeom>
          <a:noFill/>
          <a:ln w="25400">
            <a:solidFill>
              <a:srgbClr val="EF5350"/>
            </a:solidFill>
            <a:prstDash val="solid"/>
            <a:tailEnd type="triangle"/>
          </a:ln>
        </p:spPr>
      </p:sp>
      <p:sp>
        <p:nvSpPr>
          <p:cNvPr id="21" name="Shape 19"/>
          <p:cNvSpPr/>
          <p:nvPr/>
        </p:nvSpPr>
        <p:spPr>
          <a:xfrm>
            <a:off x="640080" y="3575304"/>
            <a:ext cx="3566160" cy="365760"/>
          </a:xfrm>
          <a:prstGeom prst="rect">
            <a:avLst/>
          </a:prstGeom>
          <a:solidFill>
            <a:srgbClr val="E3F2FD"/>
          </a:solidFill>
          <a:ln w="12700">
            <a:solidFill>
              <a:srgbClr val="EF5350"/>
            </a:solidFill>
            <a:prstDash val="solid"/>
          </a:ln>
        </p:spPr>
      </p:sp>
      <p:sp>
        <p:nvSpPr>
          <p:cNvPr id="22" name="Text 20"/>
          <p:cNvSpPr/>
          <p:nvPr/>
        </p:nvSpPr>
        <p:spPr>
          <a:xfrm>
            <a:off x="731520" y="3575304"/>
            <a:ext cx="1828800" cy="36576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EHR DB</a:t>
            </a:r>
            <a:endParaRPr lang="en-US" sz="1100" dirty="0"/>
          </a:p>
        </p:txBody>
      </p:sp>
      <p:sp>
        <p:nvSpPr>
          <p:cNvPr id="23" name="Text 21"/>
          <p:cNvSpPr/>
          <p:nvPr/>
        </p:nvSpPr>
        <p:spPr>
          <a:xfrm>
            <a:off x="2606040" y="3575304"/>
            <a:ext cx="1600200" cy="365760"/>
          </a:xfrm>
          <a:prstGeom prst="rect">
            <a:avLst/>
          </a:prstGeom>
          <a:noFill/>
          <a:ln/>
        </p:spPr>
        <p:txBody>
          <a:bodyPr wrap="square" lIns="0" tIns="0" rIns="0" bIns="0" rtlCol="0" anchor="ctr"/>
          <a:lstStyle/>
          <a:p>
            <a:pPr algn="r" indent="0" marL="0">
              <a:buNone/>
            </a:pPr>
            <a:r>
              <a:rPr lang="en-US" sz="900" i="1" dirty="0">
                <a:solidFill>
                  <a:srgbClr val="78909C"/>
                </a:solidFill>
                <a:latin typeface="Malgun Gothic" pitchFamily="34" charset="0"/>
                <a:ea typeface="Malgun Gothic" pitchFamily="34" charset="-122"/>
                <a:cs typeface="Malgun Gothic" pitchFamily="34" charset="-120"/>
              </a:rPr>
              <a:t>database</a:t>
            </a:r>
            <a:endParaRPr lang="en-US" sz="900" dirty="0"/>
          </a:p>
        </p:txBody>
      </p:sp>
      <p:sp>
        <p:nvSpPr>
          <p:cNvPr id="24" name="Shape 22"/>
          <p:cNvSpPr/>
          <p:nvPr/>
        </p:nvSpPr>
        <p:spPr>
          <a:xfrm>
            <a:off x="2286000" y="3959352"/>
            <a:ext cx="0" cy="73152"/>
          </a:xfrm>
          <a:prstGeom prst="line">
            <a:avLst/>
          </a:prstGeom>
          <a:noFill/>
          <a:ln w="25400">
            <a:solidFill>
              <a:srgbClr val="EF5350"/>
            </a:solidFill>
            <a:prstDash val="solid"/>
            <a:tailEnd type="triangle"/>
          </a:ln>
        </p:spPr>
      </p:sp>
      <p:sp>
        <p:nvSpPr>
          <p:cNvPr id="25" name="Shape 23"/>
          <p:cNvSpPr/>
          <p:nvPr/>
        </p:nvSpPr>
        <p:spPr>
          <a:xfrm>
            <a:off x="640080" y="4059936"/>
            <a:ext cx="3566160" cy="365760"/>
          </a:xfrm>
          <a:prstGeom prst="rect">
            <a:avLst/>
          </a:prstGeom>
          <a:solidFill>
            <a:srgbClr val="E3F2FD"/>
          </a:solidFill>
          <a:ln w="12700">
            <a:solidFill>
              <a:srgbClr val="EF5350"/>
            </a:solidFill>
            <a:prstDash val="solid"/>
          </a:ln>
        </p:spPr>
      </p:sp>
      <p:sp>
        <p:nvSpPr>
          <p:cNvPr id="26" name="Text 24"/>
          <p:cNvSpPr/>
          <p:nvPr/>
        </p:nvSpPr>
        <p:spPr>
          <a:xfrm>
            <a:off x="731520" y="4059936"/>
            <a:ext cx="1828800" cy="36576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진단 모델</a:t>
            </a:r>
            <a:endParaRPr lang="en-US" sz="1100" dirty="0"/>
          </a:p>
        </p:txBody>
      </p:sp>
      <p:sp>
        <p:nvSpPr>
          <p:cNvPr id="27" name="Text 25"/>
          <p:cNvSpPr/>
          <p:nvPr/>
        </p:nvSpPr>
        <p:spPr>
          <a:xfrm>
            <a:off x="2606040" y="4059936"/>
            <a:ext cx="1600200" cy="365760"/>
          </a:xfrm>
          <a:prstGeom prst="rect">
            <a:avLst/>
          </a:prstGeom>
          <a:noFill/>
          <a:ln/>
        </p:spPr>
        <p:txBody>
          <a:bodyPr wrap="square" lIns="0" tIns="0" rIns="0" bIns="0" rtlCol="0" anchor="ctr"/>
          <a:lstStyle/>
          <a:p>
            <a:pPr algn="r" indent="0" marL="0">
              <a:buNone/>
            </a:pPr>
            <a:r>
              <a:rPr lang="en-US" sz="900" i="1" dirty="0">
                <a:solidFill>
                  <a:srgbClr val="78909C"/>
                </a:solidFill>
                <a:latin typeface="Malgun Gothic" pitchFamily="34" charset="0"/>
                <a:ea typeface="Malgun Gothic" pitchFamily="34" charset="-122"/>
                <a:cs typeface="Malgun Gothic" pitchFamily="34" charset="-120"/>
              </a:rPr>
              <a:t>diagnosis model</a:t>
            </a:r>
            <a:endParaRPr lang="en-US" sz="900" dirty="0"/>
          </a:p>
        </p:txBody>
      </p:sp>
      <p:sp>
        <p:nvSpPr>
          <p:cNvPr id="28" name="Shape 26"/>
          <p:cNvSpPr/>
          <p:nvPr/>
        </p:nvSpPr>
        <p:spPr>
          <a:xfrm>
            <a:off x="4754880" y="2103120"/>
            <a:ext cx="3931920" cy="2560320"/>
          </a:xfrm>
          <a:prstGeom prst="roundRect">
            <a:avLst>
              <a:gd name="adj" fmla="val 3571"/>
            </a:avLst>
          </a:prstGeom>
          <a:solidFill>
            <a:srgbClr val="FFFFFF"/>
          </a:solidFill>
          <a:ln w="25400">
            <a:solidFill>
              <a:srgbClr val="1E88E5"/>
            </a:solidFill>
            <a:prstDash val="solid"/>
          </a:ln>
        </p:spPr>
      </p:sp>
      <p:sp>
        <p:nvSpPr>
          <p:cNvPr id="29" name="Shape 27"/>
          <p:cNvSpPr/>
          <p:nvPr/>
        </p:nvSpPr>
        <p:spPr>
          <a:xfrm>
            <a:off x="4754880" y="2103120"/>
            <a:ext cx="3931920" cy="365760"/>
          </a:xfrm>
          <a:prstGeom prst="rect">
            <a:avLst/>
          </a:prstGeom>
          <a:solidFill>
            <a:srgbClr val="1E88E5"/>
          </a:solidFill>
          <a:ln w="12700">
            <a:solidFill>
              <a:srgbClr val="1E88E5"/>
            </a:solidFill>
            <a:prstDash val="solid"/>
          </a:ln>
        </p:spPr>
      </p:sp>
      <p:sp>
        <p:nvSpPr>
          <p:cNvPr id="30" name="Text 28"/>
          <p:cNvSpPr/>
          <p:nvPr/>
        </p:nvSpPr>
        <p:spPr>
          <a:xfrm>
            <a:off x="4754880" y="2103120"/>
            <a:ext cx="39319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항공 (Aviation)</a:t>
            </a:r>
            <a:endParaRPr lang="en-US" sz="1300" dirty="0"/>
          </a:p>
        </p:txBody>
      </p:sp>
      <p:sp>
        <p:nvSpPr>
          <p:cNvPr id="31" name="Shape 29"/>
          <p:cNvSpPr/>
          <p:nvPr/>
        </p:nvSpPr>
        <p:spPr>
          <a:xfrm>
            <a:off x="4937760" y="2606040"/>
            <a:ext cx="3566160" cy="365760"/>
          </a:xfrm>
          <a:prstGeom prst="rect">
            <a:avLst/>
          </a:prstGeom>
          <a:solidFill>
            <a:srgbClr val="E3F2FD"/>
          </a:solidFill>
          <a:ln w="12700">
            <a:solidFill>
              <a:srgbClr val="1E88E5"/>
            </a:solidFill>
            <a:prstDash val="solid"/>
          </a:ln>
        </p:spPr>
      </p:sp>
      <p:sp>
        <p:nvSpPr>
          <p:cNvPr id="32" name="Text 30"/>
          <p:cNvSpPr/>
          <p:nvPr/>
        </p:nvSpPr>
        <p:spPr>
          <a:xfrm>
            <a:off x="5029200" y="2606040"/>
            <a:ext cx="1828800" cy="36576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레이더 수신기</a:t>
            </a:r>
            <a:endParaRPr lang="en-US" sz="1100" dirty="0"/>
          </a:p>
        </p:txBody>
      </p:sp>
      <p:sp>
        <p:nvSpPr>
          <p:cNvPr id="33" name="Text 31"/>
          <p:cNvSpPr/>
          <p:nvPr/>
        </p:nvSpPr>
        <p:spPr>
          <a:xfrm>
            <a:off x="6903720" y="2606040"/>
            <a:ext cx="1600200" cy="365760"/>
          </a:xfrm>
          <a:prstGeom prst="rect">
            <a:avLst/>
          </a:prstGeom>
          <a:noFill/>
          <a:ln/>
        </p:spPr>
        <p:txBody>
          <a:bodyPr wrap="square" lIns="0" tIns="0" rIns="0" bIns="0" rtlCol="0" anchor="ctr"/>
          <a:lstStyle/>
          <a:p>
            <a:pPr algn="r" indent="0" marL="0">
              <a:buNone/>
            </a:pPr>
            <a:r>
              <a:rPr lang="en-US" sz="900" i="1" dirty="0">
                <a:solidFill>
                  <a:srgbClr val="78909C"/>
                </a:solidFill>
                <a:latin typeface="Malgun Gothic" pitchFamily="34" charset="0"/>
                <a:ea typeface="Malgun Gothic" pitchFamily="34" charset="-122"/>
                <a:cs typeface="Malgun Gothic" pitchFamily="34" charset="-120"/>
              </a:rPr>
              <a:t>radar receiver</a:t>
            </a:r>
            <a:endParaRPr lang="en-US" sz="900" dirty="0"/>
          </a:p>
        </p:txBody>
      </p:sp>
      <p:sp>
        <p:nvSpPr>
          <p:cNvPr id="34" name="Shape 32"/>
          <p:cNvSpPr/>
          <p:nvPr/>
        </p:nvSpPr>
        <p:spPr>
          <a:xfrm>
            <a:off x="6583680" y="2990088"/>
            <a:ext cx="0" cy="73152"/>
          </a:xfrm>
          <a:prstGeom prst="line">
            <a:avLst/>
          </a:prstGeom>
          <a:noFill/>
          <a:ln w="25400">
            <a:solidFill>
              <a:srgbClr val="1E88E5"/>
            </a:solidFill>
            <a:prstDash val="solid"/>
            <a:tailEnd type="triangle"/>
          </a:ln>
        </p:spPr>
      </p:sp>
      <p:sp>
        <p:nvSpPr>
          <p:cNvPr id="35" name="Shape 33"/>
          <p:cNvSpPr/>
          <p:nvPr/>
        </p:nvSpPr>
        <p:spPr>
          <a:xfrm>
            <a:off x="4937760" y="3090672"/>
            <a:ext cx="3566160" cy="365760"/>
          </a:xfrm>
          <a:prstGeom prst="rect">
            <a:avLst/>
          </a:prstGeom>
          <a:solidFill>
            <a:srgbClr val="E3F2FD"/>
          </a:solidFill>
          <a:ln w="12700">
            <a:solidFill>
              <a:srgbClr val="1E88E5"/>
            </a:solidFill>
            <a:prstDash val="solid"/>
          </a:ln>
        </p:spPr>
      </p:sp>
      <p:sp>
        <p:nvSpPr>
          <p:cNvPr id="36" name="Text 34"/>
          <p:cNvSpPr/>
          <p:nvPr/>
        </p:nvSpPr>
        <p:spPr>
          <a:xfrm>
            <a:off x="5029200" y="3090672"/>
            <a:ext cx="1828800" cy="36576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위도/경도</a:t>
            </a:r>
            <a:endParaRPr lang="en-US" sz="1100" dirty="0"/>
          </a:p>
        </p:txBody>
      </p:sp>
      <p:sp>
        <p:nvSpPr>
          <p:cNvPr id="37" name="Text 35"/>
          <p:cNvSpPr/>
          <p:nvPr/>
        </p:nvSpPr>
        <p:spPr>
          <a:xfrm>
            <a:off x="6903720" y="3090672"/>
            <a:ext cx="1600200" cy="365760"/>
          </a:xfrm>
          <a:prstGeom prst="rect">
            <a:avLst/>
          </a:prstGeom>
          <a:noFill/>
          <a:ln/>
        </p:spPr>
        <p:txBody>
          <a:bodyPr wrap="square" lIns="0" tIns="0" rIns="0" bIns="0" rtlCol="0" anchor="ctr"/>
          <a:lstStyle/>
          <a:p>
            <a:pPr algn="r" indent="0" marL="0">
              <a:buNone/>
            </a:pPr>
            <a:r>
              <a:rPr lang="en-US" sz="900" i="1" dirty="0">
                <a:solidFill>
                  <a:srgbClr val="78909C"/>
                </a:solidFill>
                <a:latin typeface="Malgun Gothic" pitchFamily="34" charset="0"/>
                <a:ea typeface="Malgun Gothic" pitchFamily="34" charset="-122"/>
                <a:cs typeface="Malgun Gothic" pitchFamily="34" charset="-120"/>
              </a:rPr>
              <a:t>lat/lon</a:t>
            </a:r>
            <a:endParaRPr lang="en-US" sz="900" dirty="0"/>
          </a:p>
        </p:txBody>
      </p:sp>
      <p:sp>
        <p:nvSpPr>
          <p:cNvPr id="38" name="Shape 36"/>
          <p:cNvSpPr/>
          <p:nvPr/>
        </p:nvSpPr>
        <p:spPr>
          <a:xfrm>
            <a:off x="6583680" y="3474720"/>
            <a:ext cx="0" cy="73152"/>
          </a:xfrm>
          <a:prstGeom prst="line">
            <a:avLst/>
          </a:prstGeom>
          <a:noFill/>
          <a:ln w="25400">
            <a:solidFill>
              <a:srgbClr val="1E88E5"/>
            </a:solidFill>
            <a:prstDash val="solid"/>
            <a:tailEnd type="triangle"/>
          </a:ln>
        </p:spPr>
      </p:sp>
      <p:sp>
        <p:nvSpPr>
          <p:cNvPr id="39" name="Shape 37"/>
          <p:cNvSpPr/>
          <p:nvPr/>
        </p:nvSpPr>
        <p:spPr>
          <a:xfrm>
            <a:off x="4937760" y="3575304"/>
            <a:ext cx="3566160" cy="365760"/>
          </a:xfrm>
          <a:prstGeom prst="rect">
            <a:avLst/>
          </a:prstGeom>
          <a:solidFill>
            <a:srgbClr val="E3F2FD"/>
          </a:solidFill>
          <a:ln w="12700">
            <a:solidFill>
              <a:srgbClr val="1E88E5"/>
            </a:solidFill>
            <a:prstDash val="solid"/>
          </a:ln>
        </p:spPr>
      </p:sp>
      <p:sp>
        <p:nvSpPr>
          <p:cNvPr id="40" name="Text 38"/>
          <p:cNvSpPr/>
          <p:nvPr/>
        </p:nvSpPr>
        <p:spPr>
          <a:xfrm>
            <a:off x="5029200" y="3575304"/>
            <a:ext cx="1828800" cy="36576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Kafka 스트림</a:t>
            </a:r>
            <a:endParaRPr lang="en-US" sz="1100" dirty="0"/>
          </a:p>
        </p:txBody>
      </p:sp>
      <p:sp>
        <p:nvSpPr>
          <p:cNvPr id="41" name="Text 39"/>
          <p:cNvSpPr/>
          <p:nvPr/>
        </p:nvSpPr>
        <p:spPr>
          <a:xfrm>
            <a:off x="6903720" y="3575304"/>
            <a:ext cx="1600200" cy="365760"/>
          </a:xfrm>
          <a:prstGeom prst="rect">
            <a:avLst/>
          </a:prstGeom>
          <a:noFill/>
          <a:ln/>
        </p:spPr>
        <p:txBody>
          <a:bodyPr wrap="square" lIns="0" tIns="0" rIns="0" bIns="0" rtlCol="0" anchor="ctr"/>
          <a:lstStyle/>
          <a:p>
            <a:pPr algn="r" indent="0" marL="0">
              <a:buNone/>
            </a:pPr>
            <a:r>
              <a:rPr lang="en-US" sz="900" i="1" dirty="0">
                <a:solidFill>
                  <a:srgbClr val="78909C"/>
                </a:solidFill>
                <a:latin typeface="Malgun Gothic" pitchFamily="34" charset="0"/>
                <a:ea typeface="Malgun Gothic" pitchFamily="34" charset="-122"/>
                <a:cs typeface="Malgun Gothic" pitchFamily="34" charset="-120"/>
              </a:rPr>
              <a:t>Kafka stream</a:t>
            </a:r>
            <a:endParaRPr lang="en-US" sz="900" dirty="0"/>
          </a:p>
        </p:txBody>
      </p:sp>
      <p:sp>
        <p:nvSpPr>
          <p:cNvPr id="42" name="Shape 40"/>
          <p:cNvSpPr/>
          <p:nvPr/>
        </p:nvSpPr>
        <p:spPr>
          <a:xfrm>
            <a:off x="6583680" y="3959352"/>
            <a:ext cx="0" cy="73152"/>
          </a:xfrm>
          <a:prstGeom prst="line">
            <a:avLst/>
          </a:prstGeom>
          <a:noFill/>
          <a:ln w="25400">
            <a:solidFill>
              <a:srgbClr val="1E88E5"/>
            </a:solidFill>
            <a:prstDash val="solid"/>
            <a:tailEnd type="triangle"/>
          </a:ln>
        </p:spPr>
      </p:sp>
      <p:sp>
        <p:nvSpPr>
          <p:cNvPr id="43" name="Shape 41"/>
          <p:cNvSpPr/>
          <p:nvPr/>
        </p:nvSpPr>
        <p:spPr>
          <a:xfrm>
            <a:off x="4937760" y="4059936"/>
            <a:ext cx="3566160" cy="365760"/>
          </a:xfrm>
          <a:prstGeom prst="rect">
            <a:avLst/>
          </a:prstGeom>
          <a:solidFill>
            <a:srgbClr val="E3F2FD"/>
          </a:solidFill>
          <a:ln w="12700">
            <a:solidFill>
              <a:srgbClr val="1E88E5"/>
            </a:solidFill>
            <a:prstDash val="solid"/>
          </a:ln>
        </p:spPr>
      </p:sp>
      <p:sp>
        <p:nvSpPr>
          <p:cNvPr id="44" name="Text 42"/>
          <p:cNvSpPr/>
          <p:nvPr/>
        </p:nvSpPr>
        <p:spPr>
          <a:xfrm>
            <a:off x="5029200" y="4059936"/>
            <a:ext cx="1828800" cy="36576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지연 예측</a:t>
            </a:r>
            <a:endParaRPr lang="en-US" sz="1100" dirty="0"/>
          </a:p>
        </p:txBody>
      </p:sp>
      <p:sp>
        <p:nvSpPr>
          <p:cNvPr id="45" name="Text 43"/>
          <p:cNvSpPr/>
          <p:nvPr/>
        </p:nvSpPr>
        <p:spPr>
          <a:xfrm>
            <a:off x="6903720" y="4059936"/>
            <a:ext cx="1600200" cy="365760"/>
          </a:xfrm>
          <a:prstGeom prst="rect">
            <a:avLst/>
          </a:prstGeom>
          <a:noFill/>
          <a:ln/>
        </p:spPr>
        <p:txBody>
          <a:bodyPr wrap="square" lIns="0" tIns="0" rIns="0" bIns="0" rtlCol="0" anchor="ctr"/>
          <a:lstStyle/>
          <a:p>
            <a:pPr algn="r" indent="0" marL="0">
              <a:buNone/>
            </a:pPr>
            <a:r>
              <a:rPr lang="en-US" sz="900" i="1" dirty="0">
                <a:solidFill>
                  <a:srgbClr val="78909C"/>
                </a:solidFill>
                <a:latin typeface="Malgun Gothic" pitchFamily="34" charset="0"/>
                <a:ea typeface="Malgun Gothic" pitchFamily="34" charset="-122"/>
                <a:cs typeface="Malgun Gothic" pitchFamily="34" charset="-120"/>
              </a:rPr>
              <a:t>delay prediction</a:t>
            </a:r>
            <a:endParaRPr lang="en-US" sz="900" dirty="0"/>
          </a:p>
        </p:txBody>
      </p:sp>
      <p:sp>
        <p:nvSpPr>
          <p:cNvPr id="46" name="Shape 44"/>
          <p:cNvSpPr/>
          <p:nvPr/>
        </p:nvSpPr>
        <p:spPr>
          <a:xfrm>
            <a:off x="0" y="4892040"/>
            <a:ext cx="9144000" cy="256032"/>
          </a:xfrm>
          <a:prstGeom prst="rect">
            <a:avLst/>
          </a:prstGeom>
          <a:solidFill>
            <a:srgbClr val="0B1F3A"/>
          </a:solidFill>
          <a:ln w="12700">
            <a:solidFill>
              <a:srgbClr val="0B1F3A"/>
            </a:solidFill>
            <a:prstDash val="solid"/>
          </a:ln>
        </p:spPr>
      </p:sp>
      <p:sp>
        <p:nvSpPr>
          <p:cNvPr id="47" name="Text 45"/>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48" name="Text 46"/>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02 · BASICS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항공 데이터의 특성</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4 Characteristics of Aviation Data</a:t>
            </a:r>
            <a:endParaRPr lang="en-US" sz="1050" dirty="0"/>
          </a:p>
        </p:txBody>
      </p:sp>
      <p:sp>
        <p:nvSpPr>
          <p:cNvPr id="7" name="Shape 5"/>
          <p:cNvSpPr/>
          <p:nvPr/>
        </p:nvSpPr>
        <p:spPr>
          <a:xfrm>
            <a:off x="457200" y="1005840"/>
            <a:ext cx="3931920" cy="1691640"/>
          </a:xfrm>
          <a:prstGeom prst="roundRect">
            <a:avLst>
              <a:gd name="adj" fmla="val 6486"/>
            </a:avLst>
          </a:prstGeom>
          <a:solidFill>
            <a:srgbClr val="FFFFFF"/>
          </a:solidFill>
          <a:ln w="25400">
            <a:solidFill>
              <a:srgbClr val="EF5350"/>
            </a:solidFill>
            <a:prstDash val="solid"/>
          </a:ln>
        </p:spPr>
      </p:sp>
      <p:sp>
        <p:nvSpPr>
          <p:cNvPr id="8" name="Shape 6"/>
          <p:cNvSpPr/>
          <p:nvPr/>
        </p:nvSpPr>
        <p:spPr>
          <a:xfrm>
            <a:off x="457200" y="1005840"/>
            <a:ext cx="109728" cy="1691640"/>
          </a:xfrm>
          <a:prstGeom prst="rect">
            <a:avLst/>
          </a:prstGeom>
          <a:solidFill>
            <a:srgbClr val="EF5350"/>
          </a:solidFill>
          <a:ln w="12700">
            <a:solidFill>
              <a:srgbClr val="EF5350"/>
            </a:solidFill>
            <a:prstDash val="solid"/>
          </a:ln>
        </p:spPr>
      </p:sp>
      <p:sp>
        <p:nvSpPr>
          <p:cNvPr id="9" name="Text 7"/>
          <p:cNvSpPr/>
          <p:nvPr/>
        </p:nvSpPr>
        <p:spPr>
          <a:xfrm>
            <a:off x="731520" y="1188720"/>
            <a:ext cx="822960" cy="82296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10" name="Text 8"/>
          <p:cNvSpPr/>
          <p:nvPr/>
        </p:nvSpPr>
        <p:spPr>
          <a:xfrm>
            <a:off x="1691640" y="1188720"/>
            <a:ext cx="2560320" cy="365760"/>
          </a:xfrm>
          <a:prstGeom prst="rect">
            <a:avLst/>
          </a:prstGeom>
          <a:noFill/>
          <a:ln/>
        </p:spPr>
        <p:txBody>
          <a:bodyPr wrap="square" lIns="0" tIns="0" rIns="0" bIns="0" rtlCol="0" anchor="ctr"/>
          <a:lstStyle/>
          <a:p>
            <a:pPr indent="0" marL="0">
              <a:buNone/>
            </a:pPr>
            <a:r>
              <a:rPr lang="en-US" sz="2000" b="1" dirty="0">
                <a:solidFill>
                  <a:srgbClr val="0B1F3A"/>
                </a:solidFill>
                <a:latin typeface="Malgun Gothic" pitchFamily="34" charset="0"/>
                <a:ea typeface="Malgun Gothic" pitchFamily="34" charset="-122"/>
                <a:cs typeface="Malgun Gothic" pitchFamily="34" charset="-120"/>
              </a:rPr>
              <a:t>실시간</a:t>
            </a:r>
            <a:endParaRPr lang="en-US" sz="2000" dirty="0"/>
          </a:p>
        </p:txBody>
      </p:sp>
      <p:sp>
        <p:nvSpPr>
          <p:cNvPr id="11" name="Text 9"/>
          <p:cNvSpPr/>
          <p:nvPr/>
        </p:nvSpPr>
        <p:spPr>
          <a:xfrm>
            <a:off x="1691640" y="1554480"/>
            <a:ext cx="2560320" cy="256032"/>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Real-time</a:t>
            </a:r>
            <a:endParaRPr lang="en-US" sz="1000" dirty="0"/>
          </a:p>
        </p:txBody>
      </p:sp>
      <p:sp>
        <p:nvSpPr>
          <p:cNvPr id="12" name="Text 10"/>
          <p:cNvSpPr/>
          <p:nvPr/>
        </p:nvSpPr>
        <p:spPr>
          <a:xfrm>
            <a:off x="1691640" y="1874520"/>
            <a:ext cx="2560320" cy="731520"/>
          </a:xfrm>
          <a:prstGeom prst="rect">
            <a:avLst/>
          </a:prstGeom>
          <a:noFill/>
          <a:ln/>
        </p:spPr>
        <p:txBody>
          <a:bodyPr wrap="square" lIns="0" tIns="0" rIns="0" bIns="0" rtlCol="0" anchor="ctr"/>
          <a:lstStyle/>
          <a:p>
            <a:pPr indent="0" marL="0">
              <a:buNone/>
            </a:pPr>
            <a:r>
              <a:rPr lang="en-US" sz="1100" dirty="0">
                <a:solidFill>
                  <a:srgbClr val="37474F"/>
                </a:solidFill>
                <a:latin typeface="Malgun Gothic" pitchFamily="34" charset="0"/>
                <a:ea typeface="Malgun Gothic" pitchFamily="34" charset="-122"/>
                <a:cs typeface="Malgun Gothic" pitchFamily="34" charset="-120"/>
              </a:rPr>
              <a:t>초 단위 갱신</a:t>
            </a:r>
            <a:endParaRPr lang="en-US" sz="1100" dirty="0"/>
          </a:p>
          <a:p>
            <a:pPr indent="0" marL="0">
              <a:buNone/>
            </a:pPr>
            <a:r>
              <a:rPr lang="en-US" sz="1100" dirty="0">
                <a:solidFill>
                  <a:srgbClr val="37474F"/>
                </a:solidFill>
                <a:latin typeface="Malgun Gothic" pitchFamily="34" charset="0"/>
                <a:ea typeface="Malgun Gothic" pitchFamily="34" charset="-122"/>
                <a:cs typeface="Malgun Gothic" pitchFamily="34" charset="-120"/>
              </a:rPr>
              <a:t>updates in seconds</a:t>
            </a:r>
            <a:endParaRPr lang="en-US" sz="1100" dirty="0"/>
          </a:p>
        </p:txBody>
      </p:sp>
      <p:sp>
        <p:nvSpPr>
          <p:cNvPr id="13" name="Shape 11"/>
          <p:cNvSpPr/>
          <p:nvPr/>
        </p:nvSpPr>
        <p:spPr>
          <a:xfrm>
            <a:off x="4754880" y="1005840"/>
            <a:ext cx="3931920" cy="1691640"/>
          </a:xfrm>
          <a:prstGeom prst="roundRect">
            <a:avLst>
              <a:gd name="adj" fmla="val 6486"/>
            </a:avLst>
          </a:prstGeom>
          <a:solidFill>
            <a:srgbClr val="FFFFFF"/>
          </a:solidFill>
          <a:ln w="25400">
            <a:solidFill>
              <a:srgbClr val="FFB300"/>
            </a:solidFill>
            <a:prstDash val="solid"/>
          </a:ln>
        </p:spPr>
      </p:sp>
      <p:sp>
        <p:nvSpPr>
          <p:cNvPr id="14" name="Shape 12"/>
          <p:cNvSpPr/>
          <p:nvPr/>
        </p:nvSpPr>
        <p:spPr>
          <a:xfrm>
            <a:off x="4754880" y="1005840"/>
            <a:ext cx="109728" cy="1691640"/>
          </a:xfrm>
          <a:prstGeom prst="rect">
            <a:avLst/>
          </a:prstGeom>
          <a:solidFill>
            <a:srgbClr val="FFB300"/>
          </a:solidFill>
          <a:ln w="12700">
            <a:solidFill>
              <a:srgbClr val="FFB300"/>
            </a:solidFill>
            <a:prstDash val="solid"/>
          </a:ln>
        </p:spPr>
      </p:sp>
      <p:sp>
        <p:nvSpPr>
          <p:cNvPr id="15" name="Text 13"/>
          <p:cNvSpPr/>
          <p:nvPr/>
        </p:nvSpPr>
        <p:spPr>
          <a:xfrm>
            <a:off x="5029200" y="1188720"/>
            <a:ext cx="822960" cy="82296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16" name="Text 14"/>
          <p:cNvSpPr/>
          <p:nvPr/>
        </p:nvSpPr>
        <p:spPr>
          <a:xfrm>
            <a:off x="5989320" y="1188720"/>
            <a:ext cx="2560320" cy="365760"/>
          </a:xfrm>
          <a:prstGeom prst="rect">
            <a:avLst/>
          </a:prstGeom>
          <a:noFill/>
          <a:ln/>
        </p:spPr>
        <p:txBody>
          <a:bodyPr wrap="square" lIns="0" tIns="0" rIns="0" bIns="0" rtlCol="0" anchor="ctr"/>
          <a:lstStyle/>
          <a:p>
            <a:pPr indent="0" marL="0">
              <a:buNone/>
            </a:pPr>
            <a:r>
              <a:rPr lang="en-US" sz="2000" b="1" dirty="0">
                <a:solidFill>
                  <a:srgbClr val="0B1F3A"/>
                </a:solidFill>
                <a:latin typeface="Malgun Gothic" pitchFamily="34" charset="0"/>
                <a:ea typeface="Malgun Gothic" pitchFamily="34" charset="-122"/>
                <a:cs typeface="Malgun Gothic" pitchFamily="34" charset="-120"/>
              </a:rPr>
              <a:t>고빈도</a:t>
            </a:r>
            <a:endParaRPr lang="en-US" sz="2000" dirty="0"/>
          </a:p>
        </p:txBody>
      </p:sp>
      <p:sp>
        <p:nvSpPr>
          <p:cNvPr id="17" name="Text 15"/>
          <p:cNvSpPr/>
          <p:nvPr/>
        </p:nvSpPr>
        <p:spPr>
          <a:xfrm>
            <a:off x="5989320" y="1554480"/>
            <a:ext cx="2560320" cy="256032"/>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High frequency</a:t>
            </a:r>
            <a:endParaRPr lang="en-US" sz="1000" dirty="0"/>
          </a:p>
        </p:txBody>
      </p:sp>
      <p:sp>
        <p:nvSpPr>
          <p:cNvPr id="18" name="Text 16"/>
          <p:cNvSpPr/>
          <p:nvPr/>
        </p:nvSpPr>
        <p:spPr>
          <a:xfrm>
            <a:off x="5989320" y="1874520"/>
            <a:ext cx="2560320" cy="731520"/>
          </a:xfrm>
          <a:prstGeom prst="rect">
            <a:avLst/>
          </a:prstGeom>
          <a:noFill/>
          <a:ln/>
        </p:spPr>
        <p:txBody>
          <a:bodyPr wrap="square" lIns="0" tIns="0" rIns="0" bIns="0" rtlCol="0" anchor="ctr"/>
          <a:lstStyle/>
          <a:p>
            <a:pPr indent="0" marL="0">
              <a:buNone/>
            </a:pPr>
            <a:r>
              <a:rPr lang="en-US" sz="1100" dirty="0">
                <a:solidFill>
                  <a:srgbClr val="37474F"/>
                </a:solidFill>
                <a:latin typeface="Malgun Gothic" pitchFamily="34" charset="0"/>
                <a:ea typeface="Malgun Gothic" pitchFamily="34" charset="-122"/>
                <a:cs typeface="Malgun Gothic" pitchFamily="34" charset="-120"/>
              </a:rPr>
              <a:t>초당 수천 건</a:t>
            </a:r>
            <a:endParaRPr lang="en-US" sz="1100" dirty="0"/>
          </a:p>
          <a:p>
            <a:pPr indent="0" marL="0">
              <a:buNone/>
            </a:pPr>
            <a:r>
              <a:rPr lang="en-US" sz="1100" dirty="0">
                <a:solidFill>
                  <a:srgbClr val="37474F"/>
                </a:solidFill>
                <a:latin typeface="Malgun Gothic" pitchFamily="34" charset="0"/>
                <a:ea typeface="Malgun Gothic" pitchFamily="34" charset="-122"/>
                <a:cs typeface="Malgun Gothic" pitchFamily="34" charset="-120"/>
              </a:rPr>
              <a:t>thousands/sec</a:t>
            </a:r>
            <a:endParaRPr lang="en-US" sz="1100" dirty="0"/>
          </a:p>
        </p:txBody>
      </p:sp>
      <p:sp>
        <p:nvSpPr>
          <p:cNvPr id="19" name="Shape 17"/>
          <p:cNvSpPr/>
          <p:nvPr/>
        </p:nvSpPr>
        <p:spPr>
          <a:xfrm>
            <a:off x="457200" y="2834640"/>
            <a:ext cx="3931920" cy="1691640"/>
          </a:xfrm>
          <a:prstGeom prst="roundRect">
            <a:avLst>
              <a:gd name="adj" fmla="val 6486"/>
            </a:avLst>
          </a:prstGeom>
          <a:solidFill>
            <a:srgbClr val="FFFFFF"/>
          </a:solidFill>
          <a:ln w="25400">
            <a:solidFill>
              <a:srgbClr val="00897B"/>
            </a:solidFill>
            <a:prstDash val="solid"/>
          </a:ln>
        </p:spPr>
      </p:sp>
      <p:sp>
        <p:nvSpPr>
          <p:cNvPr id="20" name="Shape 18"/>
          <p:cNvSpPr/>
          <p:nvPr/>
        </p:nvSpPr>
        <p:spPr>
          <a:xfrm>
            <a:off x="457200" y="2834640"/>
            <a:ext cx="109728" cy="1691640"/>
          </a:xfrm>
          <a:prstGeom prst="rect">
            <a:avLst/>
          </a:prstGeom>
          <a:solidFill>
            <a:srgbClr val="00897B"/>
          </a:solidFill>
          <a:ln w="12700">
            <a:solidFill>
              <a:srgbClr val="00897B"/>
            </a:solidFill>
            <a:prstDash val="solid"/>
          </a:ln>
        </p:spPr>
      </p:sp>
      <p:sp>
        <p:nvSpPr>
          <p:cNvPr id="21" name="Text 19"/>
          <p:cNvSpPr/>
          <p:nvPr/>
        </p:nvSpPr>
        <p:spPr>
          <a:xfrm>
            <a:off x="731520" y="3017520"/>
            <a:ext cx="822960" cy="82296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22" name="Text 20"/>
          <p:cNvSpPr/>
          <p:nvPr/>
        </p:nvSpPr>
        <p:spPr>
          <a:xfrm>
            <a:off x="1691640" y="3017520"/>
            <a:ext cx="2560320" cy="365760"/>
          </a:xfrm>
          <a:prstGeom prst="rect">
            <a:avLst/>
          </a:prstGeom>
          <a:noFill/>
          <a:ln/>
        </p:spPr>
        <p:txBody>
          <a:bodyPr wrap="square" lIns="0" tIns="0" rIns="0" bIns="0" rtlCol="0" anchor="ctr"/>
          <a:lstStyle/>
          <a:p>
            <a:pPr indent="0" marL="0">
              <a:buNone/>
            </a:pPr>
            <a:r>
              <a:rPr lang="en-US" sz="2000" b="1" dirty="0">
                <a:solidFill>
                  <a:srgbClr val="0B1F3A"/>
                </a:solidFill>
                <a:latin typeface="Malgun Gothic" pitchFamily="34" charset="0"/>
                <a:ea typeface="Malgun Gothic" pitchFamily="34" charset="-122"/>
                <a:cs typeface="Malgun Gothic" pitchFamily="34" charset="-120"/>
              </a:rPr>
              <a:t>시계열</a:t>
            </a:r>
            <a:endParaRPr lang="en-US" sz="2000" dirty="0"/>
          </a:p>
        </p:txBody>
      </p:sp>
      <p:sp>
        <p:nvSpPr>
          <p:cNvPr id="23" name="Text 21"/>
          <p:cNvSpPr/>
          <p:nvPr/>
        </p:nvSpPr>
        <p:spPr>
          <a:xfrm>
            <a:off x="1691640" y="3383280"/>
            <a:ext cx="2560320" cy="256032"/>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Time-series</a:t>
            </a:r>
            <a:endParaRPr lang="en-US" sz="1000" dirty="0"/>
          </a:p>
        </p:txBody>
      </p:sp>
      <p:sp>
        <p:nvSpPr>
          <p:cNvPr id="24" name="Text 22"/>
          <p:cNvSpPr/>
          <p:nvPr/>
        </p:nvSpPr>
        <p:spPr>
          <a:xfrm>
            <a:off x="1691640" y="3703320"/>
            <a:ext cx="2560320" cy="731520"/>
          </a:xfrm>
          <a:prstGeom prst="rect">
            <a:avLst/>
          </a:prstGeom>
          <a:noFill/>
          <a:ln/>
        </p:spPr>
        <p:txBody>
          <a:bodyPr wrap="square" lIns="0" tIns="0" rIns="0" bIns="0" rtlCol="0" anchor="ctr"/>
          <a:lstStyle/>
          <a:p>
            <a:pPr indent="0" marL="0">
              <a:buNone/>
            </a:pPr>
            <a:r>
              <a:rPr lang="en-US" sz="1100" dirty="0">
                <a:solidFill>
                  <a:srgbClr val="37474F"/>
                </a:solidFill>
                <a:latin typeface="Malgun Gothic" pitchFamily="34" charset="0"/>
                <a:ea typeface="Malgun Gothic" pitchFamily="34" charset="-122"/>
                <a:cs typeface="Malgun Gothic" pitchFamily="34" charset="-120"/>
              </a:rPr>
              <a:t>순서가 중요</a:t>
            </a:r>
            <a:endParaRPr lang="en-US" sz="1100" dirty="0"/>
          </a:p>
          <a:p>
            <a:pPr indent="0" marL="0">
              <a:buNone/>
            </a:pPr>
            <a:r>
              <a:rPr lang="en-US" sz="1100" dirty="0">
                <a:solidFill>
                  <a:srgbClr val="37474F"/>
                </a:solidFill>
                <a:latin typeface="Malgun Gothic" pitchFamily="34" charset="0"/>
                <a:ea typeface="Malgun Gothic" pitchFamily="34" charset="-122"/>
                <a:cs typeface="Malgun Gothic" pitchFamily="34" charset="-120"/>
              </a:rPr>
              <a:t>order matters</a:t>
            </a:r>
            <a:endParaRPr lang="en-US" sz="1100" dirty="0"/>
          </a:p>
        </p:txBody>
      </p:sp>
      <p:sp>
        <p:nvSpPr>
          <p:cNvPr id="25" name="Shape 23"/>
          <p:cNvSpPr/>
          <p:nvPr/>
        </p:nvSpPr>
        <p:spPr>
          <a:xfrm>
            <a:off x="4754880" y="2834640"/>
            <a:ext cx="3931920" cy="1691640"/>
          </a:xfrm>
          <a:prstGeom prst="roundRect">
            <a:avLst>
              <a:gd name="adj" fmla="val 6486"/>
            </a:avLst>
          </a:prstGeom>
          <a:solidFill>
            <a:srgbClr val="FFFFFF"/>
          </a:solidFill>
          <a:ln w="25400">
            <a:solidFill>
              <a:srgbClr val="1E88E5"/>
            </a:solidFill>
            <a:prstDash val="solid"/>
          </a:ln>
        </p:spPr>
      </p:sp>
      <p:sp>
        <p:nvSpPr>
          <p:cNvPr id="26" name="Shape 24"/>
          <p:cNvSpPr/>
          <p:nvPr/>
        </p:nvSpPr>
        <p:spPr>
          <a:xfrm>
            <a:off x="4754880" y="2834640"/>
            <a:ext cx="109728" cy="1691640"/>
          </a:xfrm>
          <a:prstGeom prst="rect">
            <a:avLst/>
          </a:prstGeom>
          <a:solidFill>
            <a:srgbClr val="1E88E5"/>
          </a:solidFill>
          <a:ln w="12700">
            <a:solidFill>
              <a:srgbClr val="1E88E5"/>
            </a:solidFill>
            <a:prstDash val="solid"/>
          </a:ln>
        </p:spPr>
      </p:sp>
      <p:sp>
        <p:nvSpPr>
          <p:cNvPr id="27" name="Text 25"/>
          <p:cNvSpPr/>
          <p:nvPr/>
        </p:nvSpPr>
        <p:spPr>
          <a:xfrm>
            <a:off x="5029200" y="3017520"/>
            <a:ext cx="822960" cy="82296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28" name="Text 26"/>
          <p:cNvSpPr/>
          <p:nvPr/>
        </p:nvSpPr>
        <p:spPr>
          <a:xfrm>
            <a:off x="5989320" y="3017520"/>
            <a:ext cx="2560320" cy="365760"/>
          </a:xfrm>
          <a:prstGeom prst="rect">
            <a:avLst/>
          </a:prstGeom>
          <a:noFill/>
          <a:ln/>
        </p:spPr>
        <p:txBody>
          <a:bodyPr wrap="square" lIns="0" tIns="0" rIns="0" bIns="0" rtlCol="0" anchor="ctr"/>
          <a:lstStyle/>
          <a:p>
            <a:pPr indent="0" marL="0">
              <a:buNone/>
            </a:pPr>
            <a:r>
              <a:rPr lang="en-US" sz="2000" b="1" dirty="0">
                <a:solidFill>
                  <a:srgbClr val="0B1F3A"/>
                </a:solidFill>
                <a:latin typeface="Malgun Gothic" pitchFamily="34" charset="0"/>
                <a:ea typeface="Malgun Gothic" pitchFamily="34" charset="-122"/>
                <a:cs typeface="Malgun Gothic" pitchFamily="34" charset="-120"/>
              </a:rPr>
              <a:t>다중 소스</a:t>
            </a:r>
            <a:endParaRPr lang="en-US" sz="2000" dirty="0"/>
          </a:p>
        </p:txBody>
      </p:sp>
      <p:sp>
        <p:nvSpPr>
          <p:cNvPr id="29" name="Text 27"/>
          <p:cNvSpPr/>
          <p:nvPr/>
        </p:nvSpPr>
        <p:spPr>
          <a:xfrm>
            <a:off x="5989320" y="3383280"/>
            <a:ext cx="2560320" cy="256032"/>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Multi-source</a:t>
            </a:r>
            <a:endParaRPr lang="en-US" sz="1000" dirty="0"/>
          </a:p>
        </p:txBody>
      </p:sp>
      <p:sp>
        <p:nvSpPr>
          <p:cNvPr id="30" name="Text 28"/>
          <p:cNvSpPr/>
          <p:nvPr/>
        </p:nvSpPr>
        <p:spPr>
          <a:xfrm>
            <a:off x="5989320" y="3703320"/>
            <a:ext cx="2560320" cy="731520"/>
          </a:xfrm>
          <a:prstGeom prst="rect">
            <a:avLst/>
          </a:prstGeom>
          <a:noFill/>
          <a:ln/>
        </p:spPr>
        <p:txBody>
          <a:bodyPr wrap="square" lIns="0" tIns="0" rIns="0" bIns="0" rtlCol="0" anchor="ctr"/>
          <a:lstStyle/>
          <a:p>
            <a:pPr indent="0" marL="0">
              <a:buNone/>
            </a:pPr>
            <a:r>
              <a:rPr lang="en-US" sz="1100" dirty="0">
                <a:solidFill>
                  <a:srgbClr val="37474F"/>
                </a:solidFill>
                <a:latin typeface="Malgun Gothic" pitchFamily="34" charset="0"/>
                <a:ea typeface="Malgun Gothic" pitchFamily="34" charset="-122"/>
                <a:cs typeface="Malgun Gothic" pitchFamily="34" charset="-120"/>
              </a:rPr>
              <a:t>레이더+기상+관제</a:t>
            </a:r>
            <a:endParaRPr lang="en-US" sz="1100" dirty="0"/>
          </a:p>
          <a:p>
            <a:pPr indent="0" marL="0">
              <a:buNone/>
            </a:pPr>
            <a:r>
              <a:rPr lang="en-US" sz="1100" dirty="0">
                <a:solidFill>
                  <a:srgbClr val="37474F"/>
                </a:solidFill>
                <a:latin typeface="Malgun Gothic" pitchFamily="34" charset="0"/>
                <a:ea typeface="Malgun Gothic" pitchFamily="34" charset="-122"/>
                <a:cs typeface="Malgun Gothic" pitchFamily="34" charset="-120"/>
              </a:rPr>
              <a:t>radar+weather+ATC</a:t>
            </a:r>
            <a:endParaRPr lang="en-US" sz="1100" dirty="0"/>
          </a:p>
        </p:txBody>
      </p:sp>
      <p:sp>
        <p:nvSpPr>
          <p:cNvPr id="31" name="Shape 29"/>
          <p:cNvSpPr/>
          <p:nvPr/>
        </p:nvSpPr>
        <p:spPr>
          <a:xfrm>
            <a:off x="0" y="4892040"/>
            <a:ext cx="9144000" cy="256032"/>
          </a:xfrm>
          <a:prstGeom prst="rect">
            <a:avLst/>
          </a:prstGeom>
          <a:solidFill>
            <a:srgbClr val="0B1F3A"/>
          </a:solidFill>
          <a:ln w="12700">
            <a:solidFill>
              <a:srgbClr val="0B1F3A"/>
            </a:solidFill>
            <a:prstDash val="solid"/>
          </a:ln>
        </p:spPr>
      </p:sp>
      <p:sp>
        <p:nvSpPr>
          <p:cNvPr id="32" name="Text 30"/>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3" name="Text 31"/>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03 · DATA SOURCES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4 개의 데이터 소스</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Four Data Sources at a Glance</a:t>
            </a:r>
            <a:endParaRPr lang="en-US" sz="1050" dirty="0"/>
          </a:p>
        </p:txBody>
      </p:sp>
      <p:sp>
        <p:nvSpPr>
          <p:cNvPr id="7" name="Shape 5"/>
          <p:cNvSpPr/>
          <p:nvPr/>
        </p:nvSpPr>
        <p:spPr>
          <a:xfrm>
            <a:off x="502920" y="1143000"/>
            <a:ext cx="502920" cy="502920"/>
          </a:xfrm>
          <a:prstGeom prst="ellipse">
            <a:avLst/>
          </a:prstGeom>
          <a:solidFill>
            <a:srgbClr val="1E88E5"/>
          </a:solidFill>
          <a:ln w="12700">
            <a:solidFill>
              <a:srgbClr val="1E88E5"/>
            </a:solidFill>
            <a:prstDash val="solid"/>
          </a:ln>
        </p:spPr>
      </p:sp>
      <p:sp>
        <p:nvSpPr>
          <p:cNvPr id="8" name="Text 6"/>
          <p:cNvSpPr/>
          <p:nvPr/>
        </p:nvSpPr>
        <p:spPr>
          <a:xfrm>
            <a:off x="502920" y="114300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a:t>
            </a:r>
            <a:endParaRPr lang="en-US" sz="2200" dirty="0"/>
          </a:p>
        </p:txBody>
      </p:sp>
      <p:sp>
        <p:nvSpPr>
          <p:cNvPr id="9" name="Shape 7"/>
          <p:cNvSpPr/>
          <p:nvPr/>
        </p:nvSpPr>
        <p:spPr>
          <a:xfrm>
            <a:off x="1234440" y="1051560"/>
            <a:ext cx="7498080" cy="777240"/>
          </a:xfrm>
          <a:prstGeom prst="roundRect">
            <a:avLst>
              <a:gd name="adj" fmla="val 9412"/>
            </a:avLst>
          </a:prstGeom>
          <a:solidFill>
            <a:srgbClr val="FFFFFF"/>
          </a:solidFill>
          <a:ln w="19050">
            <a:solidFill>
              <a:srgbClr val="1E88E5"/>
            </a:solidFill>
            <a:prstDash val="solid"/>
          </a:ln>
        </p:spPr>
      </p:sp>
      <p:sp>
        <p:nvSpPr>
          <p:cNvPr id="10" name="Text 8"/>
          <p:cNvSpPr/>
          <p:nvPr/>
        </p:nvSpPr>
        <p:spPr>
          <a:xfrm>
            <a:off x="1371600" y="1097280"/>
            <a:ext cx="3657600" cy="320040"/>
          </a:xfrm>
          <a:prstGeom prst="rect">
            <a:avLst/>
          </a:prstGeom>
          <a:noFill/>
          <a:ln/>
        </p:spPr>
        <p:txBody>
          <a:bodyPr wrap="square" lIns="0" tIns="0" rIns="0" bIns="0" rtlCol="0" anchor="ctr"/>
          <a:lstStyle/>
          <a:p>
            <a:pPr indent="0" marL="0">
              <a:buNone/>
            </a:pPr>
            <a:r>
              <a:rPr lang="en-US" sz="1500" b="1" dirty="0">
                <a:solidFill>
                  <a:srgbClr val="0B1F3A"/>
                </a:solidFill>
                <a:latin typeface="Malgun Gothic" pitchFamily="34" charset="0"/>
                <a:ea typeface="Malgun Gothic" pitchFamily="34" charset="-122"/>
                <a:cs typeface="Malgun Gothic" pitchFamily="34" charset="-120"/>
              </a:rPr>
              <a:t>OpenSky Network</a:t>
            </a:r>
            <a:endParaRPr lang="en-US" sz="1500" dirty="0"/>
          </a:p>
        </p:txBody>
      </p:sp>
      <p:sp>
        <p:nvSpPr>
          <p:cNvPr id="11" name="Text 9"/>
          <p:cNvSpPr/>
          <p:nvPr/>
        </p:nvSpPr>
        <p:spPr>
          <a:xfrm>
            <a:off x="1371600" y="1435608"/>
            <a:ext cx="3657600" cy="256032"/>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ADS-B receiver network (crowdsourced)</a:t>
            </a:r>
            <a:endParaRPr lang="en-US" sz="1000" dirty="0"/>
          </a:p>
        </p:txBody>
      </p:sp>
      <p:sp>
        <p:nvSpPr>
          <p:cNvPr id="12" name="Shape 10"/>
          <p:cNvSpPr/>
          <p:nvPr/>
        </p:nvSpPr>
        <p:spPr>
          <a:xfrm>
            <a:off x="5303520" y="1161288"/>
            <a:ext cx="3291840" cy="548640"/>
          </a:xfrm>
          <a:prstGeom prst="rect">
            <a:avLst/>
          </a:prstGeom>
          <a:solidFill>
            <a:srgbClr val="E3F2FD"/>
          </a:solidFill>
          <a:ln w="12700">
            <a:solidFill>
              <a:srgbClr val="E3F2FD"/>
            </a:solidFill>
            <a:prstDash val="solid"/>
          </a:ln>
        </p:spPr>
      </p:sp>
      <p:sp>
        <p:nvSpPr>
          <p:cNvPr id="13" name="Text 11"/>
          <p:cNvSpPr/>
          <p:nvPr/>
        </p:nvSpPr>
        <p:spPr>
          <a:xfrm>
            <a:off x="5394960" y="1179576"/>
            <a:ext cx="3200400" cy="530352"/>
          </a:xfrm>
          <a:prstGeom prst="rect">
            <a:avLst/>
          </a:prstGeom>
          <a:noFill/>
          <a:ln/>
        </p:spPr>
        <p:txBody>
          <a:bodyPr wrap="square" lIns="0" tIns="0" rIns="0" bIns="0" rtlCol="0" anchor="ctr"/>
          <a:lstStyle/>
          <a:p>
            <a:pPr indent="0" marL="0">
              <a:buNone/>
            </a:pPr>
            <a:r>
              <a:rPr lang="en-US" sz="1000" dirty="0">
                <a:solidFill>
                  <a:srgbClr val="37474F"/>
                </a:solidFill>
                <a:latin typeface="Malgun Gothic" pitchFamily="34" charset="0"/>
                <a:ea typeface="Malgun Gothic" pitchFamily="34" charset="-122"/>
                <a:cs typeface="Malgun Gothic" pitchFamily="34" charset="-120"/>
              </a:rPr>
              <a:t>35,000 수신기 · 10초/폴링</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35k receivers · 10s polling</a:t>
            </a:r>
            <a:endParaRPr lang="en-US" sz="1000" dirty="0"/>
          </a:p>
        </p:txBody>
      </p:sp>
      <p:sp>
        <p:nvSpPr>
          <p:cNvPr id="14" name="Shape 12"/>
          <p:cNvSpPr/>
          <p:nvPr/>
        </p:nvSpPr>
        <p:spPr>
          <a:xfrm>
            <a:off x="502920" y="2075688"/>
            <a:ext cx="502920" cy="502920"/>
          </a:xfrm>
          <a:prstGeom prst="ellipse">
            <a:avLst/>
          </a:prstGeom>
          <a:solidFill>
            <a:srgbClr val="00897B"/>
          </a:solidFill>
          <a:ln w="12700">
            <a:solidFill>
              <a:srgbClr val="00897B"/>
            </a:solidFill>
            <a:prstDash val="solid"/>
          </a:ln>
        </p:spPr>
      </p:sp>
      <p:sp>
        <p:nvSpPr>
          <p:cNvPr id="15" name="Text 13"/>
          <p:cNvSpPr/>
          <p:nvPr/>
        </p:nvSpPr>
        <p:spPr>
          <a:xfrm>
            <a:off x="502920" y="20756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2</a:t>
            </a:r>
            <a:endParaRPr lang="en-US" sz="2200" dirty="0"/>
          </a:p>
        </p:txBody>
      </p:sp>
      <p:sp>
        <p:nvSpPr>
          <p:cNvPr id="16" name="Shape 14"/>
          <p:cNvSpPr/>
          <p:nvPr/>
        </p:nvSpPr>
        <p:spPr>
          <a:xfrm>
            <a:off x="1234440" y="1984248"/>
            <a:ext cx="7498080" cy="777240"/>
          </a:xfrm>
          <a:prstGeom prst="roundRect">
            <a:avLst>
              <a:gd name="adj" fmla="val 9412"/>
            </a:avLst>
          </a:prstGeom>
          <a:solidFill>
            <a:srgbClr val="FFFFFF"/>
          </a:solidFill>
          <a:ln w="19050">
            <a:solidFill>
              <a:srgbClr val="00897B"/>
            </a:solidFill>
            <a:prstDash val="solid"/>
          </a:ln>
        </p:spPr>
      </p:sp>
      <p:sp>
        <p:nvSpPr>
          <p:cNvPr id="17" name="Text 15"/>
          <p:cNvSpPr/>
          <p:nvPr/>
        </p:nvSpPr>
        <p:spPr>
          <a:xfrm>
            <a:off x="1371600" y="2029968"/>
            <a:ext cx="3657600" cy="320040"/>
          </a:xfrm>
          <a:prstGeom prst="rect">
            <a:avLst/>
          </a:prstGeom>
          <a:noFill/>
          <a:ln/>
        </p:spPr>
        <p:txBody>
          <a:bodyPr wrap="square" lIns="0" tIns="0" rIns="0" bIns="0" rtlCol="0" anchor="ctr"/>
          <a:lstStyle/>
          <a:p>
            <a:pPr indent="0" marL="0">
              <a:buNone/>
            </a:pPr>
            <a:r>
              <a:rPr lang="en-US" sz="1500" b="1" dirty="0">
                <a:solidFill>
                  <a:srgbClr val="0B1F3A"/>
                </a:solidFill>
                <a:latin typeface="Malgun Gothic" pitchFamily="34" charset="0"/>
                <a:ea typeface="Malgun Gothic" pitchFamily="34" charset="-122"/>
                <a:cs typeface="Malgun Gothic" pitchFamily="34" charset="-120"/>
              </a:rPr>
              <a:t>NOAA + KMA METAR</a:t>
            </a:r>
            <a:endParaRPr lang="en-US" sz="1500" dirty="0"/>
          </a:p>
        </p:txBody>
      </p:sp>
      <p:sp>
        <p:nvSpPr>
          <p:cNvPr id="18" name="Text 16"/>
          <p:cNvSpPr/>
          <p:nvPr/>
        </p:nvSpPr>
        <p:spPr>
          <a:xfrm>
            <a:off x="1371600" y="2368296"/>
            <a:ext cx="3657600" cy="256032"/>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Airport weather reports</a:t>
            </a:r>
            <a:endParaRPr lang="en-US" sz="1000" dirty="0"/>
          </a:p>
        </p:txBody>
      </p:sp>
      <p:sp>
        <p:nvSpPr>
          <p:cNvPr id="19" name="Shape 17"/>
          <p:cNvSpPr/>
          <p:nvPr/>
        </p:nvSpPr>
        <p:spPr>
          <a:xfrm>
            <a:off x="5303520" y="2093976"/>
            <a:ext cx="3291840" cy="548640"/>
          </a:xfrm>
          <a:prstGeom prst="rect">
            <a:avLst/>
          </a:prstGeom>
          <a:solidFill>
            <a:srgbClr val="E3F2FD"/>
          </a:solidFill>
          <a:ln w="12700">
            <a:solidFill>
              <a:srgbClr val="E3F2FD"/>
            </a:solidFill>
            <a:prstDash val="solid"/>
          </a:ln>
        </p:spPr>
      </p:sp>
      <p:sp>
        <p:nvSpPr>
          <p:cNvPr id="20" name="Text 18"/>
          <p:cNvSpPr/>
          <p:nvPr/>
        </p:nvSpPr>
        <p:spPr>
          <a:xfrm>
            <a:off x="5394960" y="2112264"/>
            <a:ext cx="3200400" cy="530352"/>
          </a:xfrm>
          <a:prstGeom prst="rect">
            <a:avLst/>
          </a:prstGeom>
          <a:noFill/>
          <a:ln/>
        </p:spPr>
        <p:txBody>
          <a:bodyPr wrap="square" lIns="0" tIns="0" rIns="0" bIns="0" rtlCol="0" anchor="ctr"/>
          <a:lstStyle/>
          <a:p>
            <a:pPr indent="0" marL="0">
              <a:buNone/>
            </a:pPr>
            <a:r>
              <a:rPr lang="en-US" sz="1000" dirty="0">
                <a:solidFill>
                  <a:srgbClr val="37474F"/>
                </a:solidFill>
                <a:latin typeface="Malgun Gothic" pitchFamily="34" charset="0"/>
                <a:ea typeface="Malgun Gothic" pitchFamily="34" charset="-122"/>
                <a:cs typeface="Malgun Gothic" pitchFamily="34" charset="-120"/>
              </a:rPr>
              <a:t>30분 주기 · 공항 기상</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30-min · airport weather</a:t>
            </a:r>
            <a:endParaRPr lang="en-US" sz="1000" dirty="0"/>
          </a:p>
        </p:txBody>
      </p:sp>
      <p:sp>
        <p:nvSpPr>
          <p:cNvPr id="21" name="Shape 19"/>
          <p:cNvSpPr/>
          <p:nvPr/>
        </p:nvSpPr>
        <p:spPr>
          <a:xfrm>
            <a:off x="502920" y="3008376"/>
            <a:ext cx="502920" cy="502920"/>
          </a:xfrm>
          <a:prstGeom prst="ellipse">
            <a:avLst/>
          </a:prstGeom>
          <a:solidFill>
            <a:srgbClr val="FFB300"/>
          </a:solidFill>
          <a:ln w="12700">
            <a:solidFill>
              <a:srgbClr val="FFB300"/>
            </a:solidFill>
            <a:prstDash val="solid"/>
          </a:ln>
        </p:spPr>
      </p:sp>
      <p:sp>
        <p:nvSpPr>
          <p:cNvPr id="22" name="Text 20"/>
          <p:cNvSpPr/>
          <p:nvPr/>
        </p:nvSpPr>
        <p:spPr>
          <a:xfrm>
            <a:off x="502920" y="3008376"/>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3</a:t>
            </a:r>
            <a:endParaRPr lang="en-US" sz="2200" dirty="0"/>
          </a:p>
        </p:txBody>
      </p:sp>
      <p:sp>
        <p:nvSpPr>
          <p:cNvPr id="23" name="Shape 21"/>
          <p:cNvSpPr/>
          <p:nvPr/>
        </p:nvSpPr>
        <p:spPr>
          <a:xfrm>
            <a:off x="1234440" y="2916936"/>
            <a:ext cx="7498080" cy="777240"/>
          </a:xfrm>
          <a:prstGeom prst="roundRect">
            <a:avLst>
              <a:gd name="adj" fmla="val 9412"/>
            </a:avLst>
          </a:prstGeom>
          <a:solidFill>
            <a:srgbClr val="FFFFFF"/>
          </a:solidFill>
          <a:ln w="19050">
            <a:solidFill>
              <a:srgbClr val="FFB300"/>
            </a:solidFill>
            <a:prstDash val="solid"/>
          </a:ln>
        </p:spPr>
      </p:sp>
      <p:sp>
        <p:nvSpPr>
          <p:cNvPr id="24" name="Text 22"/>
          <p:cNvSpPr/>
          <p:nvPr/>
        </p:nvSpPr>
        <p:spPr>
          <a:xfrm>
            <a:off x="1371600" y="2962656"/>
            <a:ext cx="3657600" cy="320040"/>
          </a:xfrm>
          <a:prstGeom prst="rect">
            <a:avLst/>
          </a:prstGeom>
          <a:noFill/>
          <a:ln/>
        </p:spPr>
        <p:txBody>
          <a:bodyPr wrap="square" lIns="0" tIns="0" rIns="0" bIns="0" rtlCol="0" anchor="ctr"/>
          <a:lstStyle/>
          <a:p>
            <a:pPr indent="0" marL="0">
              <a:buNone/>
            </a:pPr>
            <a:r>
              <a:rPr lang="en-US" sz="1500" b="1" dirty="0">
                <a:solidFill>
                  <a:srgbClr val="0B1F3A"/>
                </a:solidFill>
                <a:latin typeface="Malgun Gothic" pitchFamily="34" charset="0"/>
                <a:ea typeface="Malgun Gothic" pitchFamily="34" charset="-122"/>
                <a:cs typeface="Malgun Gothic" pitchFamily="34" charset="-120"/>
              </a:rPr>
              <a:t>FAA SWIM ★</a:t>
            </a:r>
            <a:endParaRPr lang="en-US" sz="1500" dirty="0"/>
          </a:p>
        </p:txBody>
      </p:sp>
      <p:sp>
        <p:nvSpPr>
          <p:cNvPr id="25" name="Text 23"/>
          <p:cNvSpPr/>
          <p:nvPr/>
        </p:nvSpPr>
        <p:spPr>
          <a:xfrm>
            <a:off x="1371600" y="3300984"/>
            <a:ext cx="3657600" cy="256032"/>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Solace JMS · TLS 1.2 · AIXM XML</a:t>
            </a:r>
            <a:endParaRPr lang="en-US" sz="1000" dirty="0"/>
          </a:p>
        </p:txBody>
      </p:sp>
      <p:sp>
        <p:nvSpPr>
          <p:cNvPr id="26" name="Shape 24"/>
          <p:cNvSpPr/>
          <p:nvPr/>
        </p:nvSpPr>
        <p:spPr>
          <a:xfrm>
            <a:off x="5303520" y="3026664"/>
            <a:ext cx="3291840" cy="548640"/>
          </a:xfrm>
          <a:prstGeom prst="rect">
            <a:avLst/>
          </a:prstGeom>
          <a:solidFill>
            <a:srgbClr val="E3F2FD"/>
          </a:solidFill>
          <a:ln w="12700">
            <a:solidFill>
              <a:srgbClr val="E3F2FD"/>
            </a:solidFill>
            <a:prstDash val="solid"/>
          </a:ln>
        </p:spPr>
      </p:sp>
      <p:sp>
        <p:nvSpPr>
          <p:cNvPr id="27" name="Text 25"/>
          <p:cNvSpPr/>
          <p:nvPr/>
        </p:nvSpPr>
        <p:spPr>
          <a:xfrm>
            <a:off x="5394960" y="3044952"/>
            <a:ext cx="3200400" cy="530352"/>
          </a:xfrm>
          <a:prstGeom prst="rect">
            <a:avLst/>
          </a:prstGeom>
          <a:noFill/>
          <a:ln/>
        </p:spPr>
        <p:txBody>
          <a:bodyPr wrap="square" lIns="0" tIns="0" rIns="0" bIns="0" rtlCol="0" anchor="ctr"/>
          <a:lstStyle/>
          <a:p>
            <a:pPr indent="0" marL="0">
              <a:buNone/>
            </a:pPr>
            <a:r>
              <a:rPr lang="en-US" sz="1000" dirty="0">
                <a:solidFill>
                  <a:srgbClr val="37474F"/>
                </a:solidFill>
                <a:latin typeface="Malgun Gothic" pitchFamily="34" charset="0"/>
                <a:ea typeface="Malgun Gothic" pitchFamily="34" charset="-122"/>
                <a:cs typeface="Malgun Gothic" pitchFamily="34" charset="-120"/>
              </a:rPr>
              <a:t>60초 / 219건 검증</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60s / 219 NOTAMs verified</a:t>
            </a:r>
            <a:endParaRPr lang="en-US" sz="1000" dirty="0"/>
          </a:p>
        </p:txBody>
      </p:sp>
      <p:sp>
        <p:nvSpPr>
          <p:cNvPr id="28" name="Shape 26"/>
          <p:cNvSpPr/>
          <p:nvPr/>
        </p:nvSpPr>
        <p:spPr>
          <a:xfrm>
            <a:off x="502920" y="3941064"/>
            <a:ext cx="502920" cy="502920"/>
          </a:xfrm>
          <a:prstGeom prst="ellipse">
            <a:avLst/>
          </a:prstGeom>
          <a:solidFill>
            <a:srgbClr val="8E24AA"/>
          </a:solidFill>
          <a:ln w="12700">
            <a:solidFill>
              <a:srgbClr val="8E24AA"/>
            </a:solidFill>
            <a:prstDash val="solid"/>
          </a:ln>
        </p:spPr>
      </p:sp>
      <p:sp>
        <p:nvSpPr>
          <p:cNvPr id="29" name="Text 27"/>
          <p:cNvSpPr/>
          <p:nvPr/>
        </p:nvSpPr>
        <p:spPr>
          <a:xfrm>
            <a:off x="502920" y="3941064"/>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4</a:t>
            </a:r>
            <a:endParaRPr lang="en-US" sz="2200" dirty="0"/>
          </a:p>
        </p:txBody>
      </p:sp>
      <p:sp>
        <p:nvSpPr>
          <p:cNvPr id="30" name="Shape 28"/>
          <p:cNvSpPr/>
          <p:nvPr/>
        </p:nvSpPr>
        <p:spPr>
          <a:xfrm>
            <a:off x="1234440" y="3849624"/>
            <a:ext cx="7498080" cy="777240"/>
          </a:xfrm>
          <a:prstGeom prst="roundRect">
            <a:avLst>
              <a:gd name="adj" fmla="val 9412"/>
            </a:avLst>
          </a:prstGeom>
          <a:solidFill>
            <a:srgbClr val="FFFFFF"/>
          </a:solidFill>
          <a:ln w="19050">
            <a:solidFill>
              <a:srgbClr val="8E24AA"/>
            </a:solidFill>
            <a:prstDash val="solid"/>
          </a:ln>
        </p:spPr>
      </p:sp>
      <p:sp>
        <p:nvSpPr>
          <p:cNvPr id="31" name="Text 29"/>
          <p:cNvSpPr/>
          <p:nvPr/>
        </p:nvSpPr>
        <p:spPr>
          <a:xfrm>
            <a:off x="1371600" y="3895344"/>
            <a:ext cx="3657600" cy="320040"/>
          </a:xfrm>
          <a:prstGeom prst="rect">
            <a:avLst/>
          </a:prstGeom>
          <a:noFill/>
          <a:ln/>
        </p:spPr>
        <p:txBody>
          <a:bodyPr wrap="square" lIns="0" tIns="0" rIns="0" bIns="0" rtlCol="0" anchor="ctr"/>
          <a:lstStyle/>
          <a:p>
            <a:pPr indent="0" marL="0">
              <a:buNone/>
            </a:pPr>
            <a:r>
              <a:rPr lang="en-US" sz="1500" b="1" dirty="0">
                <a:solidFill>
                  <a:srgbClr val="0B1F3A"/>
                </a:solidFill>
                <a:latin typeface="Malgun Gothic" pitchFamily="34" charset="0"/>
                <a:ea typeface="Malgun Gothic" pitchFamily="34" charset="-122"/>
                <a:cs typeface="Malgun Gothic" pitchFamily="34" charset="-120"/>
              </a:rPr>
              <a:t>Kaggle flights.csv</a:t>
            </a:r>
            <a:endParaRPr lang="en-US" sz="1500" dirty="0"/>
          </a:p>
        </p:txBody>
      </p:sp>
      <p:sp>
        <p:nvSpPr>
          <p:cNvPr id="32" name="Text 30"/>
          <p:cNvSpPr/>
          <p:nvPr/>
        </p:nvSpPr>
        <p:spPr>
          <a:xfrm>
            <a:off x="1371600" y="4233672"/>
            <a:ext cx="3657600" cy="256032"/>
          </a:xfrm>
          <a:prstGeom prst="rect">
            <a:avLst/>
          </a:prstGeom>
          <a:noFill/>
          <a:ln/>
        </p:spPr>
        <p:txBody>
          <a:bodyPr wrap="square" lIns="0" tIns="0" rIns="0" bIns="0" rtlCol="0" anchor="ctr"/>
          <a:lstStyle/>
          <a:p>
            <a:pPr indent="0" marL="0">
              <a:buNone/>
            </a:pPr>
            <a:r>
              <a:rPr lang="en-US" sz="1000" i="1" dirty="0">
                <a:solidFill>
                  <a:srgbClr val="78909C"/>
                </a:solidFill>
                <a:latin typeface="Malgun Gothic" pitchFamily="34" charset="0"/>
                <a:ea typeface="Malgun Gothic" pitchFamily="34" charset="-122"/>
                <a:cs typeface="Malgun Gothic" pitchFamily="34" charset="-120"/>
              </a:rPr>
              <a:t>US DOT BTS 2015 batch dataset</a:t>
            </a:r>
            <a:endParaRPr lang="en-US" sz="1000" dirty="0"/>
          </a:p>
        </p:txBody>
      </p:sp>
      <p:sp>
        <p:nvSpPr>
          <p:cNvPr id="33" name="Shape 31"/>
          <p:cNvSpPr/>
          <p:nvPr/>
        </p:nvSpPr>
        <p:spPr>
          <a:xfrm>
            <a:off x="5303520" y="3959352"/>
            <a:ext cx="3291840" cy="548640"/>
          </a:xfrm>
          <a:prstGeom prst="rect">
            <a:avLst/>
          </a:prstGeom>
          <a:solidFill>
            <a:srgbClr val="E3F2FD"/>
          </a:solidFill>
          <a:ln w="12700">
            <a:solidFill>
              <a:srgbClr val="E3F2FD"/>
            </a:solidFill>
            <a:prstDash val="solid"/>
          </a:ln>
        </p:spPr>
      </p:sp>
      <p:sp>
        <p:nvSpPr>
          <p:cNvPr id="34" name="Text 32"/>
          <p:cNvSpPr/>
          <p:nvPr/>
        </p:nvSpPr>
        <p:spPr>
          <a:xfrm>
            <a:off x="5394960" y="3977640"/>
            <a:ext cx="3200400" cy="530352"/>
          </a:xfrm>
          <a:prstGeom prst="rect">
            <a:avLst/>
          </a:prstGeom>
          <a:noFill/>
          <a:ln/>
        </p:spPr>
        <p:txBody>
          <a:bodyPr wrap="square" lIns="0" tIns="0" rIns="0" bIns="0" rtlCol="0" anchor="ctr"/>
          <a:lstStyle/>
          <a:p>
            <a:pPr indent="0" marL="0">
              <a:buNone/>
            </a:pPr>
            <a:r>
              <a:rPr lang="en-US" sz="1000" dirty="0">
                <a:solidFill>
                  <a:srgbClr val="37474F"/>
                </a:solidFill>
                <a:latin typeface="Malgun Gothic" pitchFamily="34" charset="0"/>
                <a:ea typeface="Malgun Gothic" pitchFamily="34" charset="-122"/>
                <a:cs typeface="Malgun Gothic" pitchFamily="34" charset="-120"/>
              </a:rPr>
              <a:t>5.7M 행 · 31 컬럼</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5.7M rows · 31 cols</a:t>
            </a:r>
            <a:endParaRPr lang="en-US" sz="1000" dirty="0"/>
          </a:p>
        </p:txBody>
      </p:sp>
      <p:sp>
        <p:nvSpPr>
          <p:cNvPr id="35" name="Text 33"/>
          <p:cNvSpPr/>
          <p:nvPr/>
        </p:nvSpPr>
        <p:spPr>
          <a:xfrm>
            <a:off x="1234440" y="4599432"/>
            <a:ext cx="7498080" cy="228600"/>
          </a:xfrm>
          <a:prstGeom prst="rect">
            <a:avLst/>
          </a:prstGeom>
          <a:noFill/>
          <a:ln/>
        </p:spPr>
        <p:txBody>
          <a:bodyPr wrap="square" lIns="0" tIns="0" rIns="0" bIns="0" rtlCol="0" anchor="ctr"/>
          <a:lstStyle/>
          <a:p>
            <a:pPr indent="0" marL="0">
              <a:buNone/>
            </a:pPr>
            <a:r>
              <a:rPr lang="en-US" sz="950" b="1" i="1" dirty="0">
                <a:solidFill>
                  <a:srgbClr val="FFB300"/>
                </a:solidFill>
                <a:latin typeface="Malgun Gothic" pitchFamily="34" charset="0"/>
                <a:ea typeface="Malgun Gothic" pitchFamily="34" charset="-122"/>
                <a:cs typeface="Malgun Gothic" pitchFamily="34" charset="-120"/>
              </a:rPr>
              <a:t>★ FAA SWIM 은 대학 프로젝트로서 드문 공식 프로덕션 연동</a:t>
            </a:r>
            <a:endParaRPr lang="en-US" sz="950" dirty="0"/>
          </a:p>
        </p:txBody>
      </p:sp>
      <p:sp>
        <p:nvSpPr>
          <p:cNvPr id="36" name="Shape 34"/>
          <p:cNvSpPr/>
          <p:nvPr/>
        </p:nvSpPr>
        <p:spPr>
          <a:xfrm>
            <a:off x="0" y="4892040"/>
            <a:ext cx="9144000" cy="256032"/>
          </a:xfrm>
          <a:prstGeom prst="rect">
            <a:avLst/>
          </a:prstGeom>
          <a:solidFill>
            <a:srgbClr val="0B1F3A"/>
          </a:solidFill>
          <a:ln w="12700">
            <a:solidFill>
              <a:srgbClr val="0B1F3A"/>
            </a:solidFill>
            <a:prstDash val="solid"/>
          </a:ln>
        </p:spPr>
      </p:sp>
      <p:sp>
        <p:nvSpPr>
          <p:cNvPr id="37" name="Text 35"/>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8" name="Text 36"/>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5 / 30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03 · DATA SOURCES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OpenSky ADS-B 작동 원리</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How ADS-B Works</a:t>
            </a:r>
            <a:endParaRPr lang="en-US" sz="1050" dirty="0"/>
          </a:p>
        </p:txBody>
      </p:sp>
      <p:sp>
        <p:nvSpPr>
          <p:cNvPr id="7" name="Shape 5"/>
          <p:cNvSpPr/>
          <p:nvPr/>
        </p:nvSpPr>
        <p:spPr>
          <a:xfrm>
            <a:off x="457200" y="1005840"/>
            <a:ext cx="1737360" cy="1463040"/>
          </a:xfrm>
          <a:prstGeom prst="roundRect">
            <a:avLst>
              <a:gd name="adj" fmla="val 5000"/>
            </a:avLst>
          </a:prstGeom>
          <a:solidFill>
            <a:srgbClr val="FFFFFF"/>
          </a:solidFill>
          <a:ln w="19050">
            <a:solidFill>
              <a:srgbClr val="1E88E5"/>
            </a:solidFill>
            <a:prstDash val="solid"/>
          </a:ln>
        </p:spPr>
      </p:sp>
      <p:sp>
        <p:nvSpPr>
          <p:cNvPr id="8" name="Text 6"/>
          <p:cNvSpPr/>
          <p:nvPr/>
        </p:nvSpPr>
        <p:spPr>
          <a:xfrm>
            <a:off x="457200" y="1097280"/>
            <a:ext cx="1737360" cy="548640"/>
          </a:xfrm>
          <a:prstGeom prst="rect">
            <a:avLst/>
          </a:prstGeom>
          <a:noFill/>
          <a:ln/>
        </p:spPr>
        <p:txBody>
          <a:bodyPr wrap="square" lIns="0" tIns="0" rIns="0" bIns="0" rtlCol="0" anchor="ctr"/>
          <a:lstStyle/>
          <a:p>
            <a:pPr algn="ctr" indent="0" marL="0">
              <a:buNone/>
            </a:pPr>
            <a:r>
              <a:rPr lang="en-US" sz="3600" dirty="0">
                <a:solidFill>
                  <a:srgbClr val="000000"/>
                </a:solidFill>
                <a:latin typeface="Malgun Gothic" pitchFamily="34" charset="0"/>
                <a:ea typeface="Malgun Gothic" pitchFamily="34" charset="-122"/>
                <a:cs typeface="Malgun Gothic" pitchFamily="34" charset="-120"/>
              </a:rPr>
              <a:t>✈️</a:t>
            </a:r>
            <a:endParaRPr lang="en-US" sz="3600" dirty="0"/>
          </a:p>
        </p:txBody>
      </p:sp>
      <p:sp>
        <p:nvSpPr>
          <p:cNvPr id="9" name="Text 7"/>
          <p:cNvSpPr/>
          <p:nvPr/>
        </p:nvSpPr>
        <p:spPr>
          <a:xfrm>
            <a:off x="457200" y="1691640"/>
            <a:ext cx="1737360"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Malgun Gothic" pitchFamily="34" charset="0"/>
                <a:ea typeface="Malgun Gothic" pitchFamily="34" charset="-122"/>
                <a:cs typeface="Malgun Gothic" pitchFamily="34" charset="-120"/>
              </a:rPr>
              <a:t>항공기</a:t>
            </a:r>
            <a:endParaRPr lang="en-US" sz="1250" dirty="0"/>
          </a:p>
        </p:txBody>
      </p:sp>
      <p:sp>
        <p:nvSpPr>
          <p:cNvPr id="10" name="Text 8"/>
          <p:cNvSpPr/>
          <p:nvPr/>
        </p:nvSpPr>
        <p:spPr>
          <a:xfrm>
            <a:off x="457200" y="2029968"/>
            <a:ext cx="1737360" cy="274320"/>
          </a:xfrm>
          <a:prstGeom prst="rect">
            <a:avLst/>
          </a:prstGeom>
          <a:noFill/>
          <a:ln/>
        </p:spPr>
        <p:txBody>
          <a:bodyPr wrap="square" lIns="0" tIns="0" rIns="0" bIns="0" rtlCol="0" anchor="ctr"/>
          <a:lstStyle/>
          <a:p>
            <a:pPr algn="ctr" indent="0" marL="0">
              <a:buNone/>
            </a:pPr>
            <a:r>
              <a:rPr lang="en-US" sz="950" i="1" dirty="0">
                <a:solidFill>
                  <a:srgbClr val="78909C"/>
                </a:solidFill>
                <a:latin typeface="Malgun Gothic" pitchFamily="34" charset="0"/>
                <a:ea typeface="Malgun Gothic" pitchFamily="34" charset="-122"/>
                <a:cs typeface="Malgun Gothic" pitchFamily="34" charset="-120"/>
              </a:rPr>
              <a:t>Aircraft</a:t>
            </a:r>
            <a:endParaRPr lang="en-US" sz="950" dirty="0"/>
          </a:p>
        </p:txBody>
      </p:sp>
      <p:sp>
        <p:nvSpPr>
          <p:cNvPr id="11" name="Text 9"/>
          <p:cNvSpPr/>
          <p:nvPr/>
        </p:nvSpPr>
        <p:spPr>
          <a:xfrm>
            <a:off x="2194560" y="1005840"/>
            <a:ext cx="274320" cy="1463040"/>
          </a:xfrm>
          <a:prstGeom prst="rect">
            <a:avLst/>
          </a:prstGeom>
          <a:noFill/>
          <a:ln/>
        </p:spPr>
        <p:txBody>
          <a:bodyPr wrap="square" lIns="0" tIns="0" rIns="0" bIns="0" rtlCol="0" anchor="ctr"/>
          <a:lstStyle/>
          <a:p>
            <a:pPr algn="ctr" indent="0" marL="0">
              <a:buNone/>
            </a:pPr>
            <a:r>
              <a:rPr lang="en-US" sz="2400" b="1" dirty="0">
                <a:solidFill>
                  <a:srgbClr val="FFB300"/>
                </a:solidFill>
              </a:rPr>
              <a:t>→</a:t>
            </a:r>
            <a:endParaRPr lang="en-US" sz="2400" dirty="0"/>
          </a:p>
        </p:txBody>
      </p:sp>
      <p:sp>
        <p:nvSpPr>
          <p:cNvPr id="12" name="Shape 10"/>
          <p:cNvSpPr/>
          <p:nvPr/>
        </p:nvSpPr>
        <p:spPr>
          <a:xfrm>
            <a:off x="2468880" y="1005840"/>
            <a:ext cx="1737360" cy="1463040"/>
          </a:xfrm>
          <a:prstGeom prst="roundRect">
            <a:avLst>
              <a:gd name="adj" fmla="val 5000"/>
            </a:avLst>
          </a:prstGeom>
          <a:solidFill>
            <a:srgbClr val="FFFFFF"/>
          </a:solidFill>
          <a:ln w="19050">
            <a:solidFill>
              <a:srgbClr val="1E88E5"/>
            </a:solidFill>
            <a:prstDash val="solid"/>
          </a:ln>
        </p:spPr>
      </p:sp>
      <p:sp>
        <p:nvSpPr>
          <p:cNvPr id="13" name="Text 11"/>
          <p:cNvSpPr/>
          <p:nvPr/>
        </p:nvSpPr>
        <p:spPr>
          <a:xfrm>
            <a:off x="2468880" y="1097280"/>
            <a:ext cx="1737360" cy="548640"/>
          </a:xfrm>
          <a:prstGeom prst="rect">
            <a:avLst/>
          </a:prstGeom>
          <a:noFill/>
          <a:ln/>
        </p:spPr>
        <p:txBody>
          <a:bodyPr wrap="square" lIns="0" tIns="0" rIns="0" bIns="0" rtlCol="0" anchor="ctr"/>
          <a:lstStyle/>
          <a:p>
            <a:pPr algn="ctr" indent="0" marL="0">
              <a:buNone/>
            </a:pPr>
            <a:r>
              <a:rPr lang="en-US" sz="3600" dirty="0">
                <a:solidFill>
                  <a:srgbClr val="000000"/>
                </a:solidFill>
                <a:latin typeface="Malgun Gothic" pitchFamily="34" charset="0"/>
                <a:ea typeface="Malgun Gothic" pitchFamily="34" charset="-122"/>
                <a:cs typeface="Malgun Gothic" pitchFamily="34" charset="-120"/>
              </a:rPr>
              <a:t>📡</a:t>
            </a:r>
            <a:endParaRPr lang="en-US" sz="3600" dirty="0"/>
          </a:p>
        </p:txBody>
      </p:sp>
      <p:sp>
        <p:nvSpPr>
          <p:cNvPr id="14" name="Text 12"/>
          <p:cNvSpPr/>
          <p:nvPr/>
        </p:nvSpPr>
        <p:spPr>
          <a:xfrm>
            <a:off x="2468880" y="1691640"/>
            <a:ext cx="1737360"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Malgun Gothic" pitchFamily="34" charset="0"/>
                <a:ea typeface="Malgun Gothic" pitchFamily="34" charset="-122"/>
                <a:cs typeface="Malgun Gothic" pitchFamily="34" charset="-120"/>
              </a:rPr>
              <a:t>지상 수신기</a:t>
            </a:r>
            <a:endParaRPr lang="en-US" sz="1250" dirty="0"/>
          </a:p>
        </p:txBody>
      </p:sp>
      <p:sp>
        <p:nvSpPr>
          <p:cNvPr id="15" name="Text 13"/>
          <p:cNvSpPr/>
          <p:nvPr/>
        </p:nvSpPr>
        <p:spPr>
          <a:xfrm>
            <a:off x="2468880" y="2029968"/>
            <a:ext cx="1737360" cy="274320"/>
          </a:xfrm>
          <a:prstGeom prst="rect">
            <a:avLst/>
          </a:prstGeom>
          <a:noFill/>
          <a:ln/>
        </p:spPr>
        <p:txBody>
          <a:bodyPr wrap="square" lIns="0" tIns="0" rIns="0" bIns="0" rtlCol="0" anchor="ctr"/>
          <a:lstStyle/>
          <a:p>
            <a:pPr algn="ctr" indent="0" marL="0">
              <a:buNone/>
            </a:pPr>
            <a:r>
              <a:rPr lang="en-US" sz="950" i="1" dirty="0">
                <a:solidFill>
                  <a:srgbClr val="78909C"/>
                </a:solidFill>
                <a:latin typeface="Malgun Gothic" pitchFamily="34" charset="0"/>
                <a:ea typeface="Malgun Gothic" pitchFamily="34" charset="-122"/>
                <a:cs typeface="Malgun Gothic" pitchFamily="34" charset="-120"/>
              </a:rPr>
              <a:t>Ground receiver</a:t>
            </a:r>
            <a:endParaRPr lang="en-US" sz="950" dirty="0"/>
          </a:p>
        </p:txBody>
      </p:sp>
      <p:sp>
        <p:nvSpPr>
          <p:cNvPr id="16" name="Text 14"/>
          <p:cNvSpPr/>
          <p:nvPr/>
        </p:nvSpPr>
        <p:spPr>
          <a:xfrm>
            <a:off x="4206240" y="1005840"/>
            <a:ext cx="274320" cy="1463040"/>
          </a:xfrm>
          <a:prstGeom prst="rect">
            <a:avLst/>
          </a:prstGeom>
          <a:noFill/>
          <a:ln/>
        </p:spPr>
        <p:txBody>
          <a:bodyPr wrap="square" lIns="0" tIns="0" rIns="0" bIns="0" rtlCol="0" anchor="ctr"/>
          <a:lstStyle/>
          <a:p>
            <a:pPr algn="ctr" indent="0" marL="0">
              <a:buNone/>
            </a:pPr>
            <a:r>
              <a:rPr lang="en-US" sz="2400" b="1" dirty="0">
                <a:solidFill>
                  <a:srgbClr val="FFB300"/>
                </a:solidFill>
              </a:rPr>
              <a:t>→</a:t>
            </a:r>
            <a:endParaRPr lang="en-US" sz="2400" dirty="0"/>
          </a:p>
        </p:txBody>
      </p:sp>
      <p:sp>
        <p:nvSpPr>
          <p:cNvPr id="17" name="Shape 15"/>
          <p:cNvSpPr/>
          <p:nvPr/>
        </p:nvSpPr>
        <p:spPr>
          <a:xfrm>
            <a:off x="4480560" y="1005840"/>
            <a:ext cx="1737360" cy="1463040"/>
          </a:xfrm>
          <a:prstGeom prst="roundRect">
            <a:avLst>
              <a:gd name="adj" fmla="val 5000"/>
            </a:avLst>
          </a:prstGeom>
          <a:solidFill>
            <a:srgbClr val="FFFFFF"/>
          </a:solidFill>
          <a:ln w="19050">
            <a:solidFill>
              <a:srgbClr val="1E88E5"/>
            </a:solidFill>
            <a:prstDash val="solid"/>
          </a:ln>
        </p:spPr>
      </p:sp>
      <p:sp>
        <p:nvSpPr>
          <p:cNvPr id="18" name="Text 16"/>
          <p:cNvSpPr/>
          <p:nvPr/>
        </p:nvSpPr>
        <p:spPr>
          <a:xfrm>
            <a:off x="4480560" y="1097280"/>
            <a:ext cx="1737360" cy="548640"/>
          </a:xfrm>
          <a:prstGeom prst="rect">
            <a:avLst/>
          </a:prstGeom>
          <a:noFill/>
          <a:ln/>
        </p:spPr>
        <p:txBody>
          <a:bodyPr wrap="square" lIns="0" tIns="0" rIns="0" bIns="0" rtlCol="0" anchor="ctr"/>
          <a:lstStyle/>
          <a:p>
            <a:pPr algn="ctr" indent="0" marL="0">
              <a:buNone/>
            </a:pPr>
            <a:r>
              <a:rPr lang="en-US" sz="3600" dirty="0">
                <a:solidFill>
                  <a:srgbClr val="000000"/>
                </a:solidFill>
                <a:latin typeface="Malgun Gothic" pitchFamily="34" charset="0"/>
                <a:ea typeface="Malgun Gothic" pitchFamily="34" charset="-122"/>
                <a:cs typeface="Malgun Gothic" pitchFamily="34" charset="-120"/>
              </a:rPr>
              <a:t>🌐</a:t>
            </a:r>
            <a:endParaRPr lang="en-US" sz="3600" dirty="0"/>
          </a:p>
        </p:txBody>
      </p:sp>
      <p:sp>
        <p:nvSpPr>
          <p:cNvPr id="19" name="Text 17"/>
          <p:cNvSpPr/>
          <p:nvPr/>
        </p:nvSpPr>
        <p:spPr>
          <a:xfrm>
            <a:off x="4480560" y="1691640"/>
            <a:ext cx="1737360"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Malgun Gothic" pitchFamily="34" charset="0"/>
                <a:ea typeface="Malgun Gothic" pitchFamily="34" charset="-122"/>
                <a:cs typeface="Malgun Gothic" pitchFamily="34" charset="-120"/>
              </a:rPr>
              <a:t>OpenSky 서버</a:t>
            </a:r>
            <a:endParaRPr lang="en-US" sz="1250" dirty="0"/>
          </a:p>
        </p:txBody>
      </p:sp>
      <p:sp>
        <p:nvSpPr>
          <p:cNvPr id="20" name="Text 18"/>
          <p:cNvSpPr/>
          <p:nvPr/>
        </p:nvSpPr>
        <p:spPr>
          <a:xfrm>
            <a:off x="4480560" y="2029968"/>
            <a:ext cx="1737360" cy="274320"/>
          </a:xfrm>
          <a:prstGeom prst="rect">
            <a:avLst/>
          </a:prstGeom>
          <a:noFill/>
          <a:ln/>
        </p:spPr>
        <p:txBody>
          <a:bodyPr wrap="square" lIns="0" tIns="0" rIns="0" bIns="0" rtlCol="0" anchor="ctr"/>
          <a:lstStyle/>
          <a:p>
            <a:pPr algn="ctr" indent="0" marL="0">
              <a:buNone/>
            </a:pPr>
            <a:r>
              <a:rPr lang="en-US" sz="950" i="1" dirty="0">
                <a:solidFill>
                  <a:srgbClr val="78909C"/>
                </a:solidFill>
                <a:latin typeface="Malgun Gothic" pitchFamily="34" charset="0"/>
                <a:ea typeface="Malgun Gothic" pitchFamily="34" charset="-122"/>
                <a:cs typeface="Malgun Gothic" pitchFamily="34" charset="-120"/>
              </a:rPr>
              <a:t>OpenSky API</a:t>
            </a:r>
            <a:endParaRPr lang="en-US" sz="950" dirty="0"/>
          </a:p>
        </p:txBody>
      </p:sp>
      <p:sp>
        <p:nvSpPr>
          <p:cNvPr id="21" name="Text 19"/>
          <p:cNvSpPr/>
          <p:nvPr/>
        </p:nvSpPr>
        <p:spPr>
          <a:xfrm>
            <a:off x="6217920" y="1005840"/>
            <a:ext cx="274320" cy="1463040"/>
          </a:xfrm>
          <a:prstGeom prst="rect">
            <a:avLst/>
          </a:prstGeom>
          <a:noFill/>
          <a:ln/>
        </p:spPr>
        <p:txBody>
          <a:bodyPr wrap="square" lIns="0" tIns="0" rIns="0" bIns="0" rtlCol="0" anchor="ctr"/>
          <a:lstStyle/>
          <a:p>
            <a:pPr algn="ctr" indent="0" marL="0">
              <a:buNone/>
            </a:pPr>
            <a:r>
              <a:rPr lang="en-US" sz="2400" b="1" dirty="0">
                <a:solidFill>
                  <a:srgbClr val="FFB300"/>
                </a:solidFill>
              </a:rPr>
              <a:t>→</a:t>
            </a:r>
            <a:endParaRPr lang="en-US" sz="2400" dirty="0"/>
          </a:p>
        </p:txBody>
      </p:sp>
      <p:sp>
        <p:nvSpPr>
          <p:cNvPr id="22" name="Shape 20"/>
          <p:cNvSpPr/>
          <p:nvPr/>
        </p:nvSpPr>
        <p:spPr>
          <a:xfrm>
            <a:off x="6492240" y="1005840"/>
            <a:ext cx="1737360" cy="1463040"/>
          </a:xfrm>
          <a:prstGeom prst="roundRect">
            <a:avLst>
              <a:gd name="adj" fmla="val 5000"/>
            </a:avLst>
          </a:prstGeom>
          <a:solidFill>
            <a:srgbClr val="FFFFFF"/>
          </a:solidFill>
          <a:ln w="19050">
            <a:solidFill>
              <a:srgbClr val="1E88E5"/>
            </a:solidFill>
            <a:prstDash val="solid"/>
          </a:ln>
        </p:spPr>
      </p:sp>
      <p:sp>
        <p:nvSpPr>
          <p:cNvPr id="23" name="Text 21"/>
          <p:cNvSpPr/>
          <p:nvPr/>
        </p:nvSpPr>
        <p:spPr>
          <a:xfrm>
            <a:off x="6492240" y="1097280"/>
            <a:ext cx="1737360" cy="548640"/>
          </a:xfrm>
          <a:prstGeom prst="rect">
            <a:avLst/>
          </a:prstGeom>
          <a:noFill/>
          <a:ln/>
        </p:spPr>
        <p:txBody>
          <a:bodyPr wrap="square" lIns="0" tIns="0" rIns="0" bIns="0" rtlCol="0" anchor="ctr"/>
          <a:lstStyle/>
          <a:p>
            <a:pPr algn="ctr" indent="0" marL="0">
              <a:buNone/>
            </a:pPr>
            <a:r>
              <a:rPr lang="en-US" sz="3600" dirty="0">
                <a:solidFill>
                  <a:srgbClr val="000000"/>
                </a:solidFill>
                <a:latin typeface="Malgun Gothic" pitchFamily="34" charset="0"/>
                <a:ea typeface="Malgun Gothic" pitchFamily="34" charset="-122"/>
                <a:cs typeface="Malgun Gothic" pitchFamily="34" charset="-120"/>
              </a:rPr>
              <a:t>📨</a:t>
            </a:r>
            <a:endParaRPr lang="en-US" sz="3600" dirty="0"/>
          </a:p>
        </p:txBody>
      </p:sp>
      <p:sp>
        <p:nvSpPr>
          <p:cNvPr id="24" name="Text 22"/>
          <p:cNvSpPr/>
          <p:nvPr/>
        </p:nvSpPr>
        <p:spPr>
          <a:xfrm>
            <a:off x="6492240" y="1691640"/>
            <a:ext cx="1737360"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Malgun Gothic" pitchFamily="34" charset="0"/>
                <a:ea typeface="Malgun Gothic" pitchFamily="34" charset="-122"/>
                <a:cs typeface="Malgun Gothic" pitchFamily="34" charset="-120"/>
              </a:rPr>
              <a:t>Kafka 토픽</a:t>
            </a:r>
            <a:endParaRPr lang="en-US" sz="1250" dirty="0"/>
          </a:p>
        </p:txBody>
      </p:sp>
      <p:sp>
        <p:nvSpPr>
          <p:cNvPr id="25" name="Text 23"/>
          <p:cNvSpPr/>
          <p:nvPr/>
        </p:nvSpPr>
        <p:spPr>
          <a:xfrm>
            <a:off x="6492240" y="2029968"/>
            <a:ext cx="1737360" cy="274320"/>
          </a:xfrm>
          <a:prstGeom prst="rect">
            <a:avLst/>
          </a:prstGeom>
          <a:noFill/>
          <a:ln/>
        </p:spPr>
        <p:txBody>
          <a:bodyPr wrap="square" lIns="0" tIns="0" rIns="0" bIns="0" rtlCol="0" anchor="ctr"/>
          <a:lstStyle/>
          <a:p>
            <a:pPr algn="ctr" indent="0" marL="0">
              <a:buNone/>
            </a:pPr>
            <a:r>
              <a:rPr lang="en-US" sz="950" i="1" dirty="0">
                <a:solidFill>
                  <a:srgbClr val="78909C"/>
                </a:solidFill>
                <a:latin typeface="Malgun Gothic" pitchFamily="34" charset="0"/>
                <a:ea typeface="Malgun Gothic" pitchFamily="34" charset="-122"/>
                <a:cs typeface="Malgun Gothic" pitchFamily="34" charset="-120"/>
              </a:rPr>
              <a:t>flight-position</a:t>
            </a:r>
            <a:endParaRPr lang="en-US" sz="950" dirty="0"/>
          </a:p>
        </p:txBody>
      </p:sp>
      <p:sp>
        <p:nvSpPr>
          <p:cNvPr id="26" name="Shape 24"/>
          <p:cNvSpPr/>
          <p:nvPr/>
        </p:nvSpPr>
        <p:spPr>
          <a:xfrm>
            <a:off x="457200" y="2743200"/>
            <a:ext cx="8138160" cy="1828800"/>
          </a:xfrm>
          <a:prstGeom prst="roundRect">
            <a:avLst>
              <a:gd name="adj" fmla="val 4000"/>
            </a:avLst>
          </a:prstGeom>
          <a:solidFill>
            <a:srgbClr val="FFFFFF"/>
          </a:solidFill>
          <a:ln w="12700">
            <a:solidFill>
              <a:srgbClr val="37474F"/>
            </a:solidFill>
            <a:prstDash val="solid"/>
          </a:ln>
        </p:spPr>
      </p:sp>
      <p:sp>
        <p:nvSpPr>
          <p:cNvPr id="27" name="Shape 25"/>
          <p:cNvSpPr/>
          <p:nvPr/>
        </p:nvSpPr>
        <p:spPr>
          <a:xfrm>
            <a:off x="457200" y="2743200"/>
            <a:ext cx="8138160" cy="347472"/>
          </a:xfrm>
          <a:prstGeom prst="rect">
            <a:avLst/>
          </a:prstGeom>
          <a:solidFill>
            <a:srgbClr val="0B1F3A"/>
          </a:solidFill>
          <a:ln w="12700">
            <a:solidFill>
              <a:srgbClr val="0B1F3A"/>
            </a:solidFill>
            <a:prstDash val="solid"/>
          </a:ln>
        </p:spPr>
      </p:sp>
      <p:sp>
        <p:nvSpPr>
          <p:cNvPr id="28" name="Text 26"/>
          <p:cNvSpPr/>
          <p:nvPr/>
        </p:nvSpPr>
        <p:spPr>
          <a:xfrm>
            <a:off x="457200" y="2743200"/>
            <a:ext cx="813816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한 편의 항공기에서 들어오는 17개 필드 (What arrives per aircraft)</a:t>
            </a:r>
            <a:endParaRPr lang="en-US" sz="1150" dirty="0"/>
          </a:p>
        </p:txBody>
      </p:sp>
      <p:sp>
        <p:nvSpPr>
          <p:cNvPr id="29" name="Text 27"/>
          <p:cNvSpPr/>
          <p:nvPr/>
        </p:nvSpPr>
        <p:spPr>
          <a:xfrm>
            <a:off x="548640" y="3182112"/>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icao24</a:t>
            </a:r>
            <a:pPr indent="0" marL="0">
              <a:buNone/>
            </a:pPr>
            <a:r>
              <a:rPr lang="en-US" sz="1000" dirty="0">
                <a:solidFill>
                  <a:srgbClr val="FFB300"/>
                </a:solidFill>
                <a:latin typeface="Consolas" pitchFamily="34" charset="0"/>
                <a:ea typeface="Consolas" pitchFamily="34" charset="-122"/>
                <a:cs typeface="Consolas" pitchFamily="34" charset="-120"/>
              </a:rPr>
              <a:t> = aa1234
</a:t>
            </a:r>
            <a:pPr indent="0" marL="0">
              <a:buNone/>
            </a:pPr>
            <a:r>
              <a:rPr lang="en-US" sz="850" i="1" dirty="0">
                <a:solidFill>
                  <a:srgbClr val="78909C"/>
                </a:solidFill>
                <a:latin typeface="Malgun Gothic" pitchFamily="34" charset="0"/>
                <a:ea typeface="Malgun Gothic" pitchFamily="34" charset="-122"/>
                <a:cs typeface="Malgun Gothic" pitchFamily="34" charset="-120"/>
              </a:rPr>
              <a:t>ICAO 24-bit hex</a:t>
            </a:r>
            <a:endParaRPr lang="en-US" sz="1000" dirty="0"/>
          </a:p>
        </p:txBody>
      </p:sp>
      <p:sp>
        <p:nvSpPr>
          <p:cNvPr id="30" name="Text 28"/>
          <p:cNvSpPr/>
          <p:nvPr/>
        </p:nvSpPr>
        <p:spPr>
          <a:xfrm>
            <a:off x="3246120" y="3182112"/>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callsign</a:t>
            </a:r>
            <a:pPr indent="0" marL="0">
              <a:buNone/>
            </a:pPr>
            <a:r>
              <a:rPr lang="en-US" sz="1000" dirty="0">
                <a:solidFill>
                  <a:srgbClr val="FFB300"/>
                </a:solidFill>
                <a:latin typeface="Consolas" pitchFamily="34" charset="0"/>
                <a:ea typeface="Consolas" pitchFamily="34" charset="-122"/>
                <a:cs typeface="Consolas" pitchFamily="34" charset="-120"/>
              </a:rPr>
              <a:t> = KAL123
</a:t>
            </a:r>
            <a:pPr indent="0" marL="0">
              <a:buNone/>
            </a:pPr>
            <a:r>
              <a:rPr lang="en-US" sz="850" i="1" dirty="0">
                <a:solidFill>
                  <a:srgbClr val="78909C"/>
                </a:solidFill>
                <a:latin typeface="Malgun Gothic" pitchFamily="34" charset="0"/>
                <a:ea typeface="Malgun Gothic" pitchFamily="34" charset="-122"/>
                <a:cs typeface="Malgun Gothic" pitchFamily="34" charset="-120"/>
              </a:rPr>
              <a:t>콜사인 / call sign</a:t>
            </a:r>
            <a:endParaRPr lang="en-US" sz="1000" dirty="0"/>
          </a:p>
        </p:txBody>
      </p:sp>
      <p:sp>
        <p:nvSpPr>
          <p:cNvPr id="31" name="Text 29"/>
          <p:cNvSpPr/>
          <p:nvPr/>
        </p:nvSpPr>
        <p:spPr>
          <a:xfrm>
            <a:off x="5943600" y="3182112"/>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latitude</a:t>
            </a:r>
            <a:pPr indent="0" marL="0">
              <a:buNone/>
            </a:pPr>
            <a:r>
              <a:rPr lang="en-US" sz="1000" dirty="0">
                <a:solidFill>
                  <a:srgbClr val="FFB300"/>
                </a:solidFill>
                <a:latin typeface="Consolas" pitchFamily="34" charset="0"/>
                <a:ea typeface="Consolas" pitchFamily="34" charset="-122"/>
                <a:cs typeface="Consolas" pitchFamily="34" charset="-120"/>
              </a:rPr>
              <a:t> = 37.46°
</a:t>
            </a:r>
            <a:pPr indent="0" marL="0">
              <a:buNone/>
            </a:pPr>
            <a:r>
              <a:rPr lang="en-US" sz="850" i="1" dirty="0">
                <a:solidFill>
                  <a:srgbClr val="78909C"/>
                </a:solidFill>
                <a:latin typeface="Malgun Gothic" pitchFamily="34" charset="0"/>
                <a:ea typeface="Malgun Gothic" pitchFamily="34" charset="-122"/>
                <a:cs typeface="Malgun Gothic" pitchFamily="34" charset="-120"/>
              </a:rPr>
              <a:t>위도 / latitude</a:t>
            </a:r>
            <a:endParaRPr lang="en-US" sz="1000" dirty="0"/>
          </a:p>
        </p:txBody>
      </p:sp>
      <p:sp>
        <p:nvSpPr>
          <p:cNvPr id="32" name="Text 30"/>
          <p:cNvSpPr/>
          <p:nvPr/>
        </p:nvSpPr>
        <p:spPr>
          <a:xfrm>
            <a:off x="548640" y="3621024"/>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longitude</a:t>
            </a:r>
            <a:pPr indent="0" marL="0">
              <a:buNone/>
            </a:pPr>
            <a:r>
              <a:rPr lang="en-US" sz="1000" dirty="0">
                <a:solidFill>
                  <a:srgbClr val="FFB300"/>
                </a:solidFill>
                <a:latin typeface="Consolas" pitchFamily="34" charset="0"/>
                <a:ea typeface="Consolas" pitchFamily="34" charset="-122"/>
                <a:cs typeface="Consolas" pitchFamily="34" charset="-120"/>
              </a:rPr>
              <a:t> = 126.44°
</a:t>
            </a:r>
            <a:pPr indent="0" marL="0">
              <a:buNone/>
            </a:pPr>
            <a:r>
              <a:rPr lang="en-US" sz="850" i="1" dirty="0">
                <a:solidFill>
                  <a:srgbClr val="78909C"/>
                </a:solidFill>
                <a:latin typeface="Malgun Gothic" pitchFamily="34" charset="0"/>
                <a:ea typeface="Malgun Gothic" pitchFamily="34" charset="-122"/>
                <a:cs typeface="Malgun Gothic" pitchFamily="34" charset="-120"/>
              </a:rPr>
              <a:t>경도 / longitude</a:t>
            </a:r>
            <a:endParaRPr lang="en-US" sz="1000" dirty="0"/>
          </a:p>
        </p:txBody>
      </p:sp>
      <p:sp>
        <p:nvSpPr>
          <p:cNvPr id="33" name="Text 31"/>
          <p:cNvSpPr/>
          <p:nvPr/>
        </p:nvSpPr>
        <p:spPr>
          <a:xfrm>
            <a:off x="3246120" y="3621024"/>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baro_altitude</a:t>
            </a:r>
            <a:pPr indent="0" marL="0">
              <a:buNone/>
            </a:pPr>
            <a:r>
              <a:rPr lang="en-US" sz="1000" dirty="0">
                <a:solidFill>
                  <a:srgbClr val="FFB300"/>
                </a:solidFill>
                <a:latin typeface="Consolas" pitchFamily="34" charset="0"/>
                <a:ea typeface="Consolas" pitchFamily="34" charset="-122"/>
                <a:cs typeface="Consolas" pitchFamily="34" charset="-120"/>
              </a:rPr>
              <a:t> = 10,668 m
</a:t>
            </a:r>
            <a:pPr indent="0" marL="0">
              <a:buNone/>
            </a:pPr>
            <a:r>
              <a:rPr lang="en-US" sz="850" i="1" dirty="0">
                <a:solidFill>
                  <a:srgbClr val="78909C"/>
                </a:solidFill>
                <a:latin typeface="Malgun Gothic" pitchFamily="34" charset="0"/>
                <a:ea typeface="Malgun Gothic" pitchFamily="34" charset="-122"/>
                <a:cs typeface="Malgun Gothic" pitchFamily="34" charset="-120"/>
              </a:rPr>
              <a:t>기압 고도 / altitude</a:t>
            </a:r>
            <a:endParaRPr lang="en-US" sz="1000" dirty="0"/>
          </a:p>
        </p:txBody>
      </p:sp>
      <p:sp>
        <p:nvSpPr>
          <p:cNvPr id="34" name="Text 32"/>
          <p:cNvSpPr/>
          <p:nvPr/>
        </p:nvSpPr>
        <p:spPr>
          <a:xfrm>
            <a:off x="5943600" y="3621024"/>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velocity</a:t>
            </a:r>
            <a:pPr indent="0" marL="0">
              <a:buNone/>
            </a:pPr>
            <a:r>
              <a:rPr lang="en-US" sz="1000" dirty="0">
                <a:solidFill>
                  <a:srgbClr val="FFB300"/>
                </a:solidFill>
                <a:latin typeface="Consolas" pitchFamily="34" charset="0"/>
                <a:ea typeface="Consolas" pitchFamily="34" charset="-122"/>
                <a:cs typeface="Consolas" pitchFamily="34" charset="-120"/>
              </a:rPr>
              <a:t> = 245 m/s
</a:t>
            </a:r>
            <a:pPr indent="0" marL="0">
              <a:buNone/>
            </a:pPr>
            <a:r>
              <a:rPr lang="en-US" sz="850" i="1" dirty="0">
                <a:solidFill>
                  <a:srgbClr val="78909C"/>
                </a:solidFill>
                <a:latin typeface="Malgun Gothic" pitchFamily="34" charset="0"/>
                <a:ea typeface="Malgun Gothic" pitchFamily="34" charset="-122"/>
                <a:cs typeface="Malgun Gothic" pitchFamily="34" charset="-120"/>
              </a:rPr>
              <a:t>대지속도 / ground speed</a:t>
            </a:r>
            <a:endParaRPr lang="en-US" sz="1000" dirty="0"/>
          </a:p>
        </p:txBody>
      </p:sp>
      <p:sp>
        <p:nvSpPr>
          <p:cNvPr id="35" name="Text 33"/>
          <p:cNvSpPr/>
          <p:nvPr/>
        </p:nvSpPr>
        <p:spPr>
          <a:xfrm>
            <a:off x="548640" y="4059936"/>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vertical_rate</a:t>
            </a:r>
            <a:pPr indent="0" marL="0">
              <a:buNone/>
            </a:pPr>
            <a:r>
              <a:rPr lang="en-US" sz="1000" dirty="0">
                <a:solidFill>
                  <a:srgbClr val="FFB300"/>
                </a:solidFill>
                <a:latin typeface="Consolas" pitchFamily="34" charset="0"/>
                <a:ea typeface="Consolas" pitchFamily="34" charset="-122"/>
                <a:cs typeface="Consolas" pitchFamily="34" charset="-120"/>
              </a:rPr>
              <a:t> = -2.6 m/s
</a:t>
            </a:r>
            <a:pPr indent="0" marL="0">
              <a:buNone/>
            </a:pPr>
            <a:r>
              <a:rPr lang="en-US" sz="850" i="1" dirty="0">
                <a:solidFill>
                  <a:srgbClr val="78909C"/>
                </a:solidFill>
                <a:latin typeface="Malgun Gothic" pitchFamily="34" charset="0"/>
                <a:ea typeface="Malgun Gothic" pitchFamily="34" charset="-122"/>
                <a:cs typeface="Malgun Gothic" pitchFamily="34" charset="-120"/>
              </a:rPr>
              <a:t>수직속도 / climb rate</a:t>
            </a:r>
            <a:endParaRPr lang="en-US" sz="1000" dirty="0"/>
          </a:p>
        </p:txBody>
      </p:sp>
      <p:sp>
        <p:nvSpPr>
          <p:cNvPr id="36" name="Text 34"/>
          <p:cNvSpPr/>
          <p:nvPr/>
        </p:nvSpPr>
        <p:spPr>
          <a:xfrm>
            <a:off x="3246120" y="4059936"/>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on_ground</a:t>
            </a:r>
            <a:pPr indent="0" marL="0">
              <a:buNone/>
            </a:pPr>
            <a:r>
              <a:rPr lang="en-US" sz="1000" dirty="0">
                <a:solidFill>
                  <a:srgbClr val="FFB300"/>
                </a:solidFill>
                <a:latin typeface="Consolas" pitchFamily="34" charset="0"/>
                <a:ea typeface="Consolas" pitchFamily="34" charset="-122"/>
                <a:cs typeface="Consolas" pitchFamily="34" charset="-120"/>
              </a:rPr>
              <a:t> = false
</a:t>
            </a:r>
            <a:pPr indent="0" marL="0">
              <a:buNone/>
            </a:pPr>
            <a:r>
              <a:rPr lang="en-US" sz="850" i="1" dirty="0">
                <a:solidFill>
                  <a:srgbClr val="78909C"/>
                </a:solidFill>
                <a:latin typeface="Malgun Gothic" pitchFamily="34" charset="0"/>
                <a:ea typeface="Malgun Gothic" pitchFamily="34" charset="-122"/>
                <a:cs typeface="Malgun Gothic" pitchFamily="34" charset="-120"/>
              </a:rPr>
              <a:t>지상 여부 / on ground</a:t>
            </a:r>
            <a:endParaRPr lang="en-US" sz="1000" dirty="0"/>
          </a:p>
        </p:txBody>
      </p:sp>
      <p:sp>
        <p:nvSpPr>
          <p:cNvPr id="37" name="Text 35"/>
          <p:cNvSpPr/>
          <p:nvPr/>
        </p:nvSpPr>
        <p:spPr>
          <a:xfrm>
            <a:off x="5943600" y="4059936"/>
            <a:ext cx="2651760" cy="411480"/>
          </a:xfrm>
          <a:prstGeom prst="rect">
            <a:avLst/>
          </a:prstGeom>
          <a:noFill/>
          <a:ln/>
        </p:spPr>
        <p:txBody>
          <a:bodyPr wrap="square" lIns="0" tIns="0" rIns="0" bIns="0" rtlCol="0" anchor="ctr"/>
          <a:lstStyle/>
          <a:p>
            <a:pPr indent="0" marL="0">
              <a:buNone/>
            </a:pPr>
            <a:r>
              <a:rPr lang="en-US" sz="1000" b="1" dirty="0">
                <a:solidFill>
                  <a:srgbClr val="1E88E5"/>
                </a:solidFill>
                <a:latin typeface="Consolas" pitchFamily="34" charset="0"/>
                <a:ea typeface="Consolas" pitchFamily="34" charset="-122"/>
                <a:cs typeface="Consolas" pitchFamily="34" charset="-120"/>
              </a:rPr>
              <a:t>squawk</a:t>
            </a:r>
            <a:pPr indent="0" marL="0">
              <a:buNone/>
            </a:pPr>
            <a:r>
              <a:rPr lang="en-US" sz="1000" dirty="0">
                <a:solidFill>
                  <a:srgbClr val="FFB300"/>
                </a:solidFill>
                <a:latin typeface="Consolas" pitchFamily="34" charset="0"/>
                <a:ea typeface="Consolas" pitchFamily="34" charset="-122"/>
                <a:cs typeface="Consolas" pitchFamily="34" charset="-120"/>
              </a:rPr>
              <a:t> = 2134
</a:t>
            </a:r>
            <a:pPr indent="0" marL="0">
              <a:buNone/>
            </a:pPr>
            <a:r>
              <a:rPr lang="en-US" sz="850" i="1" dirty="0">
                <a:solidFill>
                  <a:srgbClr val="78909C"/>
                </a:solidFill>
                <a:latin typeface="Malgun Gothic" pitchFamily="34" charset="0"/>
                <a:ea typeface="Malgun Gothic" pitchFamily="34" charset="-122"/>
                <a:cs typeface="Malgun Gothic" pitchFamily="34" charset="-120"/>
              </a:rPr>
              <a:t>Squawk 코드</a:t>
            </a:r>
            <a:endParaRPr lang="en-US" sz="1000" dirty="0"/>
          </a:p>
        </p:txBody>
      </p:sp>
      <p:sp>
        <p:nvSpPr>
          <p:cNvPr id="38" name="Shape 36"/>
          <p:cNvSpPr/>
          <p:nvPr/>
        </p:nvSpPr>
        <p:spPr>
          <a:xfrm>
            <a:off x="0" y="4892040"/>
            <a:ext cx="9144000" cy="256032"/>
          </a:xfrm>
          <a:prstGeom prst="rect">
            <a:avLst/>
          </a:prstGeom>
          <a:solidFill>
            <a:srgbClr val="0B1F3A"/>
          </a:solidFill>
          <a:ln w="12700">
            <a:solidFill>
              <a:srgbClr val="0B1F3A"/>
            </a:solidFill>
            <a:prstDash val="solid"/>
          </a:ln>
        </p:spPr>
      </p:sp>
      <p:sp>
        <p:nvSpPr>
          <p:cNvPr id="39" name="Text 37"/>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40" name="Text 38"/>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03 · DATA SOURCES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METAR 해독 · 실습</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Decoding a METAR — live example</a:t>
            </a:r>
            <a:endParaRPr lang="en-US" sz="1050" dirty="0"/>
          </a:p>
        </p:txBody>
      </p:sp>
      <p:sp>
        <p:nvSpPr>
          <p:cNvPr id="7" name="Shape 5"/>
          <p:cNvSpPr/>
          <p:nvPr/>
        </p:nvSpPr>
        <p:spPr>
          <a:xfrm>
            <a:off x="457200" y="960120"/>
            <a:ext cx="8138160" cy="822960"/>
          </a:xfrm>
          <a:prstGeom prst="roundRect">
            <a:avLst>
              <a:gd name="adj" fmla="val 11111"/>
            </a:avLst>
          </a:prstGeom>
          <a:solidFill>
            <a:srgbClr val="0B1F3A"/>
          </a:solidFill>
          <a:ln w="12700">
            <a:solidFill>
              <a:srgbClr val="0B1F3A"/>
            </a:solidFill>
            <a:prstDash val="solid"/>
          </a:ln>
        </p:spPr>
      </p:sp>
      <p:sp>
        <p:nvSpPr>
          <p:cNvPr id="8" name="Text 6"/>
          <p:cNvSpPr/>
          <p:nvPr/>
        </p:nvSpPr>
        <p:spPr>
          <a:xfrm>
            <a:off x="640080" y="1005840"/>
            <a:ext cx="2743200" cy="274320"/>
          </a:xfrm>
          <a:prstGeom prst="rect">
            <a:avLst/>
          </a:prstGeom>
          <a:noFill/>
          <a:ln/>
        </p:spPr>
        <p:txBody>
          <a:bodyPr wrap="square" lIns="0" tIns="0" rIns="0" bIns="0" rtlCol="0" anchor="ctr"/>
          <a:lstStyle/>
          <a:p>
            <a:pPr indent="0" marL="0">
              <a:buNone/>
            </a:pPr>
            <a:r>
              <a:rPr lang="en-US" sz="1100" b="1" dirty="0">
                <a:solidFill>
                  <a:srgbClr val="FFB300"/>
                </a:solidFill>
                <a:latin typeface="Malgun Gothic" pitchFamily="34" charset="0"/>
                <a:ea typeface="Malgun Gothic" pitchFamily="34" charset="-122"/>
                <a:cs typeface="Malgun Gothic" pitchFamily="34" charset="-120"/>
              </a:rPr>
              <a:t>📡  원본 (Raw METAR)</a:t>
            </a:r>
            <a:endParaRPr lang="en-US" sz="1100" dirty="0"/>
          </a:p>
        </p:txBody>
      </p:sp>
      <p:sp>
        <p:nvSpPr>
          <p:cNvPr id="9" name="Text 7"/>
          <p:cNvSpPr/>
          <p:nvPr/>
        </p:nvSpPr>
        <p:spPr>
          <a:xfrm>
            <a:off x="640080" y="1261872"/>
            <a:ext cx="7772400" cy="457200"/>
          </a:xfrm>
          <a:prstGeom prst="rect">
            <a:avLst/>
          </a:prstGeom>
          <a:noFill/>
          <a:ln/>
        </p:spPr>
        <p:txBody>
          <a:bodyPr wrap="square" lIns="0" tIns="0" rIns="0" bIns="0" rtlCol="0" anchor="ctr"/>
          <a:lstStyle/>
          <a:p>
            <a:pPr indent="0" marL="0">
              <a:buNone/>
            </a:pPr>
            <a:r>
              <a:rPr lang="en-US" sz="1800" b="1" dirty="0">
                <a:solidFill>
                  <a:srgbClr val="FFFFFF"/>
                </a:solidFill>
                <a:latin typeface="Consolas" pitchFamily="34" charset="0"/>
                <a:ea typeface="Consolas" pitchFamily="34" charset="-122"/>
                <a:cs typeface="Consolas" pitchFamily="34" charset="-120"/>
              </a:rPr>
              <a:t>RKSI 030900Z 29012KT 9999 SCT030 08/M02 Q1020</a:t>
            </a:r>
            <a:endParaRPr lang="en-US" sz="1800" dirty="0"/>
          </a:p>
        </p:txBody>
      </p:sp>
      <p:sp>
        <p:nvSpPr>
          <p:cNvPr id="10" name="Shape 8"/>
          <p:cNvSpPr/>
          <p:nvPr/>
        </p:nvSpPr>
        <p:spPr>
          <a:xfrm>
            <a:off x="457200" y="2011680"/>
            <a:ext cx="1554480" cy="347472"/>
          </a:xfrm>
          <a:prstGeom prst="rect">
            <a:avLst/>
          </a:prstGeom>
          <a:solidFill>
            <a:srgbClr val="1E88E5"/>
          </a:solidFill>
          <a:ln w="12700">
            <a:solidFill>
              <a:srgbClr val="1E88E5"/>
            </a:solidFill>
            <a:prstDash val="solid"/>
          </a:ln>
        </p:spPr>
      </p:sp>
      <p:sp>
        <p:nvSpPr>
          <p:cNvPr id="11" name="Text 9"/>
          <p:cNvSpPr/>
          <p:nvPr/>
        </p:nvSpPr>
        <p:spPr>
          <a:xfrm>
            <a:off x="457200" y="2011680"/>
            <a:ext cx="1554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RKSI</a:t>
            </a:r>
            <a:endParaRPr lang="en-US" sz="1200" dirty="0"/>
          </a:p>
        </p:txBody>
      </p:sp>
      <p:sp>
        <p:nvSpPr>
          <p:cNvPr id="12" name="Shape 10"/>
          <p:cNvSpPr/>
          <p:nvPr/>
        </p:nvSpPr>
        <p:spPr>
          <a:xfrm>
            <a:off x="2011680" y="2011680"/>
            <a:ext cx="6583680" cy="347472"/>
          </a:xfrm>
          <a:prstGeom prst="rect">
            <a:avLst/>
          </a:prstGeom>
          <a:solidFill>
            <a:srgbClr val="FFFFFF"/>
          </a:solidFill>
          <a:ln w="6350">
            <a:solidFill>
              <a:srgbClr val="1E88E5"/>
            </a:solidFill>
            <a:prstDash val="solid"/>
          </a:ln>
        </p:spPr>
      </p:sp>
      <p:sp>
        <p:nvSpPr>
          <p:cNvPr id="13" name="Text 11"/>
          <p:cNvSpPr/>
          <p:nvPr/>
        </p:nvSpPr>
        <p:spPr>
          <a:xfrm>
            <a:off x="2148840" y="2011680"/>
            <a:ext cx="6400800" cy="347472"/>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인천공항 ICAO 코드</a:t>
            </a:r>
            <a:pPr indent="0" marL="0">
              <a:buNone/>
            </a:pPr>
            <a:r>
              <a:rPr lang="en-US" sz="900" i="1" dirty="0">
                <a:solidFill>
                  <a:srgbClr val="78909C"/>
                </a:solidFill>
                <a:latin typeface="Malgun Gothic" pitchFamily="34" charset="0"/>
                <a:ea typeface="Malgun Gothic" pitchFamily="34" charset="-122"/>
                <a:cs typeface="Malgun Gothic" pitchFamily="34" charset="-120"/>
              </a:rPr>
              <a:t>   Incheon ICAO code</a:t>
            </a:r>
            <a:endParaRPr lang="en-US" sz="1100" dirty="0"/>
          </a:p>
        </p:txBody>
      </p:sp>
      <p:sp>
        <p:nvSpPr>
          <p:cNvPr id="14" name="Shape 12"/>
          <p:cNvSpPr/>
          <p:nvPr/>
        </p:nvSpPr>
        <p:spPr>
          <a:xfrm>
            <a:off x="457200" y="2423160"/>
            <a:ext cx="1554480" cy="347472"/>
          </a:xfrm>
          <a:prstGeom prst="rect">
            <a:avLst/>
          </a:prstGeom>
          <a:solidFill>
            <a:srgbClr val="00897B"/>
          </a:solidFill>
          <a:ln w="12700">
            <a:solidFill>
              <a:srgbClr val="00897B"/>
            </a:solidFill>
            <a:prstDash val="solid"/>
          </a:ln>
        </p:spPr>
      </p:sp>
      <p:sp>
        <p:nvSpPr>
          <p:cNvPr id="15" name="Text 13"/>
          <p:cNvSpPr/>
          <p:nvPr/>
        </p:nvSpPr>
        <p:spPr>
          <a:xfrm>
            <a:off x="457200" y="2423160"/>
            <a:ext cx="1554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030900Z</a:t>
            </a:r>
            <a:endParaRPr lang="en-US" sz="1200" dirty="0"/>
          </a:p>
        </p:txBody>
      </p:sp>
      <p:sp>
        <p:nvSpPr>
          <p:cNvPr id="16" name="Shape 14"/>
          <p:cNvSpPr/>
          <p:nvPr/>
        </p:nvSpPr>
        <p:spPr>
          <a:xfrm>
            <a:off x="2011680" y="2423160"/>
            <a:ext cx="6583680" cy="347472"/>
          </a:xfrm>
          <a:prstGeom prst="rect">
            <a:avLst/>
          </a:prstGeom>
          <a:solidFill>
            <a:srgbClr val="FFFFFF"/>
          </a:solidFill>
          <a:ln w="6350">
            <a:solidFill>
              <a:srgbClr val="00897B"/>
            </a:solidFill>
            <a:prstDash val="solid"/>
          </a:ln>
        </p:spPr>
      </p:sp>
      <p:sp>
        <p:nvSpPr>
          <p:cNvPr id="17" name="Text 15"/>
          <p:cNvSpPr/>
          <p:nvPr/>
        </p:nvSpPr>
        <p:spPr>
          <a:xfrm>
            <a:off x="2148840" y="2423160"/>
            <a:ext cx="6400800" cy="347472"/>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3일 09:00 UTC 관측</a:t>
            </a:r>
            <a:pPr indent="0" marL="0">
              <a:buNone/>
            </a:pPr>
            <a:r>
              <a:rPr lang="en-US" sz="900" i="1" dirty="0">
                <a:solidFill>
                  <a:srgbClr val="78909C"/>
                </a:solidFill>
                <a:latin typeface="Malgun Gothic" pitchFamily="34" charset="0"/>
                <a:ea typeface="Malgun Gothic" pitchFamily="34" charset="-122"/>
                <a:cs typeface="Malgun Gothic" pitchFamily="34" charset="-120"/>
              </a:rPr>
              <a:t>   day-03 09:00 UTC</a:t>
            </a:r>
            <a:endParaRPr lang="en-US" sz="1100" dirty="0"/>
          </a:p>
        </p:txBody>
      </p:sp>
      <p:sp>
        <p:nvSpPr>
          <p:cNvPr id="18" name="Shape 16"/>
          <p:cNvSpPr/>
          <p:nvPr/>
        </p:nvSpPr>
        <p:spPr>
          <a:xfrm>
            <a:off x="457200" y="2834640"/>
            <a:ext cx="1554480" cy="347472"/>
          </a:xfrm>
          <a:prstGeom prst="rect">
            <a:avLst/>
          </a:prstGeom>
          <a:solidFill>
            <a:srgbClr val="FFB300"/>
          </a:solidFill>
          <a:ln w="12700">
            <a:solidFill>
              <a:srgbClr val="FFB300"/>
            </a:solidFill>
            <a:prstDash val="solid"/>
          </a:ln>
        </p:spPr>
      </p:sp>
      <p:sp>
        <p:nvSpPr>
          <p:cNvPr id="19" name="Text 17"/>
          <p:cNvSpPr/>
          <p:nvPr/>
        </p:nvSpPr>
        <p:spPr>
          <a:xfrm>
            <a:off x="457200" y="2834640"/>
            <a:ext cx="1554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29012KT</a:t>
            </a:r>
            <a:endParaRPr lang="en-US" sz="1200" dirty="0"/>
          </a:p>
        </p:txBody>
      </p:sp>
      <p:sp>
        <p:nvSpPr>
          <p:cNvPr id="20" name="Shape 18"/>
          <p:cNvSpPr/>
          <p:nvPr/>
        </p:nvSpPr>
        <p:spPr>
          <a:xfrm>
            <a:off x="2011680" y="2834640"/>
            <a:ext cx="6583680" cy="347472"/>
          </a:xfrm>
          <a:prstGeom prst="rect">
            <a:avLst/>
          </a:prstGeom>
          <a:solidFill>
            <a:srgbClr val="FFFFFF"/>
          </a:solidFill>
          <a:ln w="6350">
            <a:solidFill>
              <a:srgbClr val="FFB300"/>
            </a:solidFill>
            <a:prstDash val="solid"/>
          </a:ln>
        </p:spPr>
      </p:sp>
      <p:sp>
        <p:nvSpPr>
          <p:cNvPr id="21" name="Text 19"/>
          <p:cNvSpPr/>
          <p:nvPr/>
        </p:nvSpPr>
        <p:spPr>
          <a:xfrm>
            <a:off x="2148840" y="2834640"/>
            <a:ext cx="6400800" cy="347472"/>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풍향 290°, 12 노트</a:t>
            </a:r>
            <a:pPr indent="0" marL="0">
              <a:buNone/>
            </a:pPr>
            <a:r>
              <a:rPr lang="en-US" sz="900" i="1" dirty="0">
                <a:solidFill>
                  <a:srgbClr val="78909C"/>
                </a:solidFill>
                <a:latin typeface="Malgun Gothic" pitchFamily="34" charset="0"/>
                <a:ea typeface="Malgun Gothic" pitchFamily="34" charset="-122"/>
                <a:cs typeface="Malgun Gothic" pitchFamily="34" charset="-120"/>
              </a:rPr>
              <a:t>   wind 290°, 12 knots</a:t>
            </a:r>
            <a:endParaRPr lang="en-US" sz="1100" dirty="0"/>
          </a:p>
        </p:txBody>
      </p:sp>
      <p:sp>
        <p:nvSpPr>
          <p:cNvPr id="22" name="Shape 20"/>
          <p:cNvSpPr/>
          <p:nvPr/>
        </p:nvSpPr>
        <p:spPr>
          <a:xfrm>
            <a:off x="457200" y="3246120"/>
            <a:ext cx="1554480" cy="347472"/>
          </a:xfrm>
          <a:prstGeom prst="rect">
            <a:avLst/>
          </a:prstGeom>
          <a:solidFill>
            <a:srgbClr val="43A047"/>
          </a:solidFill>
          <a:ln w="12700">
            <a:solidFill>
              <a:srgbClr val="43A047"/>
            </a:solidFill>
            <a:prstDash val="solid"/>
          </a:ln>
        </p:spPr>
      </p:sp>
      <p:sp>
        <p:nvSpPr>
          <p:cNvPr id="23" name="Text 21"/>
          <p:cNvSpPr/>
          <p:nvPr/>
        </p:nvSpPr>
        <p:spPr>
          <a:xfrm>
            <a:off x="457200" y="3246120"/>
            <a:ext cx="1554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9999</a:t>
            </a:r>
            <a:endParaRPr lang="en-US" sz="1200" dirty="0"/>
          </a:p>
        </p:txBody>
      </p:sp>
      <p:sp>
        <p:nvSpPr>
          <p:cNvPr id="24" name="Shape 22"/>
          <p:cNvSpPr/>
          <p:nvPr/>
        </p:nvSpPr>
        <p:spPr>
          <a:xfrm>
            <a:off x="2011680" y="3246120"/>
            <a:ext cx="6583680" cy="347472"/>
          </a:xfrm>
          <a:prstGeom prst="rect">
            <a:avLst/>
          </a:prstGeom>
          <a:solidFill>
            <a:srgbClr val="FFFFFF"/>
          </a:solidFill>
          <a:ln w="6350">
            <a:solidFill>
              <a:srgbClr val="43A047"/>
            </a:solidFill>
            <a:prstDash val="solid"/>
          </a:ln>
        </p:spPr>
      </p:sp>
      <p:sp>
        <p:nvSpPr>
          <p:cNvPr id="25" name="Text 23"/>
          <p:cNvSpPr/>
          <p:nvPr/>
        </p:nvSpPr>
        <p:spPr>
          <a:xfrm>
            <a:off x="2148840" y="3246120"/>
            <a:ext cx="6400800" cy="347472"/>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가시거리 10 km 이상</a:t>
            </a:r>
            <a:pPr indent="0" marL="0">
              <a:buNone/>
            </a:pPr>
            <a:r>
              <a:rPr lang="en-US" sz="900" i="1" dirty="0">
                <a:solidFill>
                  <a:srgbClr val="78909C"/>
                </a:solidFill>
                <a:latin typeface="Malgun Gothic" pitchFamily="34" charset="0"/>
                <a:ea typeface="Malgun Gothic" pitchFamily="34" charset="-122"/>
                <a:cs typeface="Malgun Gothic" pitchFamily="34" charset="-120"/>
              </a:rPr>
              <a:t>   visibility ≥10 km</a:t>
            </a:r>
            <a:endParaRPr lang="en-US" sz="1100" dirty="0"/>
          </a:p>
        </p:txBody>
      </p:sp>
      <p:sp>
        <p:nvSpPr>
          <p:cNvPr id="26" name="Shape 24"/>
          <p:cNvSpPr/>
          <p:nvPr/>
        </p:nvSpPr>
        <p:spPr>
          <a:xfrm>
            <a:off x="457200" y="3657600"/>
            <a:ext cx="1554480" cy="347472"/>
          </a:xfrm>
          <a:prstGeom prst="rect">
            <a:avLst/>
          </a:prstGeom>
          <a:solidFill>
            <a:srgbClr val="8E24AA"/>
          </a:solidFill>
          <a:ln w="12700">
            <a:solidFill>
              <a:srgbClr val="8E24AA"/>
            </a:solidFill>
            <a:prstDash val="solid"/>
          </a:ln>
        </p:spPr>
      </p:sp>
      <p:sp>
        <p:nvSpPr>
          <p:cNvPr id="27" name="Text 25"/>
          <p:cNvSpPr/>
          <p:nvPr/>
        </p:nvSpPr>
        <p:spPr>
          <a:xfrm>
            <a:off x="457200" y="3657600"/>
            <a:ext cx="1554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SCT030</a:t>
            </a:r>
            <a:endParaRPr lang="en-US" sz="1200" dirty="0"/>
          </a:p>
        </p:txBody>
      </p:sp>
      <p:sp>
        <p:nvSpPr>
          <p:cNvPr id="28" name="Shape 26"/>
          <p:cNvSpPr/>
          <p:nvPr/>
        </p:nvSpPr>
        <p:spPr>
          <a:xfrm>
            <a:off x="2011680" y="3657600"/>
            <a:ext cx="6583680" cy="347472"/>
          </a:xfrm>
          <a:prstGeom prst="rect">
            <a:avLst/>
          </a:prstGeom>
          <a:solidFill>
            <a:srgbClr val="FFFFFF"/>
          </a:solidFill>
          <a:ln w="6350">
            <a:solidFill>
              <a:srgbClr val="8E24AA"/>
            </a:solidFill>
            <a:prstDash val="solid"/>
          </a:ln>
        </p:spPr>
      </p:sp>
      <p:sp>
        <p:nvSpPr>
          <p:cNvPr id="29" name="Text 27"/>
          <p:cNvSpPr/>
          <p:nvPr/>
        </p:nvSpPr>
        <p:spPr>
          <a:xfrm>
            <a:off x="2148840" y="3657600"/>
            <a:ext cx="6400800" cy="347472"/>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3000 ft 에 부분운</a:t>
            </a:r>
            <a:pPr indent="0" marL="0">
              <a:buNone/>
            </a:pPr>
            <a:r>
              <a:rPr lang="en-US" sz="900" i="1" dirty="0">
                <a:solidFill>
                  <a:srgbClr val="78909C"/>
                </a:solidFill>
                <a:latin typeface="Malgun Gothic" pitchFamily="34" charset="0"/>
                <a:ea typeface="Malgun Gothic" pitchFamily="34" charset="-122"/>
                <a:cs typeface="Malgun Gothic" pitchFamily="34" charset="-120"/>
              </a:rPr>
              <a:t>   scattered clouds @3000ft</a:t>
            </a:r>
            <a:endParaRPr lang="en-US" sz="1100" dirty="0"/>
          </a:p>
        </p:txBody>
      </p:sp>
      <p:sp>
        <p:nvSpPr>
          <p:cNvPr id="30" name="Shape 28"/>
          <p:cNvSpPr/>
          <p:nvPr/>
        </p:nvSpPr>
        <p:spPr>
          <a:xfrm>
            <a:off x="457200" y="4069080"/>
            <a:ext cx="1554480" cy="347472"/>
          </a:xfrm>
          <a:prstGeom prst="rect">
            <a:avLst/>
          </a:prstGeom>
          <a:solidFill>
            <a:srgbClr val="EF5350"/>
          </a:solidFill>
          <a:ln w="12700">
            <a:solidFill>
              <a:srgbClr val="EF5350"/>
            </a:solidFill>
            <a:prstDash val="solid"/>
          </a:ln>
        </p:spPr>
      </p:sp>
      <p:sp>
        <p:nvSpPr>
          <p:cNvPr id="31" name="Text 29"/>
          <p:cNvSpPr/>
          <p:nvPr/>
        </p:nvSpPr>
        <p:spPr>
          <a:xfrm>
            <a:off x="457200" y="4069080"/>
            <a:ext cx="1554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08/M02</a:t>
            </a:r>
            <a:endParaRPr lang="en-US" sz="1200" dirty="0"/>
          </a:p>
        </p:txBody>
      </p:sp>
      <p:sp>
        <p:nvSpPr>
          <p:cNvPr id="32" name="Shape 30"/>
          <p:cNvSpPr/>
          <p:nvPr/>
        </p:nvSpPr>
        <p:spPr>
          <a:xfrm>
            <a:off x="2011680" y="4069080"/>
            <a:ext cx="6583680" cy="347472"/>
          </a:xfrm>
          <a:prstGeom prst="rect">
            <a:avLst/>
          </a:prstGeom>
          <a:solidFill>
            <a:srgbClr val="FFFFFF"/>
          </a:solidFill>
          <a:ln w="6350">
            <a:solidFill>
              <a:srgbClr val="EF5350"/>
            </a:solidFill>
            <a:prstDash val="solid"/>
          </a:ln>
        </p:spPr>
      </p:sp>
      <p:sp>
        <p:nvSpPr>
          <p:cNvPr id="33" name="Text 31"/>
          <p:cNvSpPr/>
          <p:nvPr/>
        </p:nvSpPr>
        <p:spPr>
          <a:xfrm>
            <a:off x="2148840" y="4069080"/>
            <a:ext cx="6400800" cy="347472"/>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기온 8°C / 이슬점 -2°C</a:t>
            </a:r>
            <a:pPr indent="0" marL="0">
              <a:buNone/>
            </a:pPr>
            <a:r>
              <a:rPr lang="en-US" sz="900" i="1" dirty="0">
                <a:solidFill>
                  <a:srgbClr val="78909C"/>
                </a:solidFill>
                <a:latin typeface="Malgun Gothic" pitchFamily="34" charset="0"/>
                <a:ea typeface="Malgun Gothic" pitchFamily="34" charset="-122"/>
                <a:cs typeface="Malgun Gothic" pitchFamily="34" charset="-120"/>
              </a:rPr>
              <a:t>   temp 8°C / dew -2°C</a:t>
            </a:r>
            <a:endParaRPr lang="en-US" sz="1100" dirty="0"/>
          </a:p>
        </p:txBody>
      </p:sp>
      <p:sp>
        <p:nvSpPr>
          <p:cNvPr id="34" name="Shape 32"/>
          <p:cNvSpPr/>
          <p:nvPr/>
        </p:nvSpPr>
        <p:spPr>
          <a:xfrm>
            <a:off x="457200" y="4480560"/>
            <a:ext cx="1554480" cy="347472"/>
          </a:xfrm>
          <a:prstGeom prst="rect">
            <a:avLst/>
          </a:prstGeom>
          <a:solidFill>
            <a:srgbClr val="37474F"/>
          </a:solidFill>
          <a:ln w="12700">
            <a:solidFill>
              <a:srgbClr val="37474F"/>
            </a:solidFill>
            <a:prstDash val="solid"/>
          </a:ln>
        </p:spPr>
      </p:sp>
      <p:sp>
        <p:nvSpPr>
          <p:cNvPr id="35" name="Text 33"/>
          <p:cNvSpPr/>
          <p:nvPr/>
        </p:nvSpPr>
        <p:spPr>
          <a:xfrm>
            <a:off x="457200" y="4480560"/>
            <a:ext cx="1554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Q1020</a:t>
            </a:r>
            <a:endParaRPr lang="en-US" sz="1200" dirty="0"/>
          </a:p>
        </p:txBody>
      </p:sp>
      <p:sp>
        <p:nvSpPr>
          <p:cNvPr id="36" name="Shape 34"/>
          <p:cNvSpPr/>
          <p:nvPr/>
        </p:nvSpPr>
        <p:spPr>
          <a:xfrm>
            <a:off x="2011680" y="4480560"/>
            <a:ext cx="6583680" cy="347472"/>
          </a:xfrm>
          <a:prstGeom prst="rect">
            <a:avLst/>
          </a:prstGeom>
          <a:solidFill>
            <a:srgbClr val="FFFFFF"/>
          </a:solidFill>
          <a:ln w="6350">
            <a:solidFill>
              <a:srgbClr val="37474F"/>
            </a:solidFill>
            <a:prstDash val="solid"/>
          </a:ln>
        </p:spPr>
      </p:sp>
      <p:sp>
        <p:nvSpPr>
          <p:cNvPr id="37" name="Text 35"/>
          <p:cNvSpPr/>
          <p:nvPr/>
        </p:nvSpPr>
        <p:spPr>
          <a:xfrm>
            <a:off x="2148840" y="4480560"/>
            <a:ext cx="6400800" cy="347472"/>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QNH 1020 hPa</a:t>
            </a:r>
            <a:pPr indent="0" marL="0">
              <a:buNone/>
            </a:pPr>
            <a:r>
              <a:rPr lang="en-US" sz="900" i="1" dirty="0">
                <a:solidFill>
                  <a:srgbClr val="78909C"/>
                </a:solidFill>
                <a:latin typeface="Malgun Gothic" pitchFamily="34" charset="0"/>
                <a:ea typeface="Malgun Gothic" pitchFamily="34" charset="-122"/>
                <a:cs typeface="Malgun Gothic" pitchFamily="34" charset="-120"/>
              </a:rPr>
              <a:t>   altimeter 1020 hPa</a:t>
            </a:r>
            <a:endParaRPr lang="en-US" sz="1100" dirty="0"/>
          </a:p>
        </p:txBody>
      </p:sp>
      <p:sp>
        <p:nvSpPr>
          <p:cNvPr id="38" name="Shape 36"/>
          <p:cNvSpPr/>
          <p:nvPr/>
        </p:nvSpPr>
        <p:spPr>
          <a:xfrm>
            <a:off x="0" y="4892040"/>
            <a:ext cx="9144000" cy="256032"/>
          </a:xfrm>
          <a:prstGeom prst="rect">
            <a:avLst/>
          </a:prstGeom>
          <a:solidFill>
            <a:srgbClr val="0B1F3A"/>
          </a:solidFill>
          <a:ln w="12700">
            <a:solidFill>
              <a:srgbClr val="0B1F3A"/>
            </a:solidFill>
            <a:prstDash val="solid"/>
          </a:ln>
        </p:spPr>
      </p:sp>
      <p:sp>
        <p:nvSpPr>
          <p:cNvPr id="39" name="Text 37"/>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40" name="Text 38"/>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03 · DATA SOURCES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FAA SWIM 실연동 ★</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FAA SWIM Live Integration — our flagship achievement</a:t>
            </a:r>
            <a:endParaRPr lang="en-US" sz="1050" dirty="0"/>
          </a:p>
        </p:txBody>
      </p:sp>
      <p:sp>
        <p:nvSpPr>
          <p:cNvPr id="7" name="Shape 5"/>
          <p:cNvSpPr/>
          <p:nvPr/>
        </p:nvSpPr>
        <p:spPr>
          <a:xfrm>
            <a:off x="6126480" y="914400"/>
            <a:ext cx="2468880" cy="1188720"/>
          </a:xfrm>
          <a:prstGeom prst="roundRect">
            <a:avLst>
              <a:gd name="adj" fmla="val 11538"/>
            </a:avLst>
          </a:prstGeom>
          <a:solidFill>
            <a:srgbClr val="FFB300"/>
          </a:solidFill>
          <a:ln w="12700">
            <a:solidFill>
              <a:srgbClr val="FFB300"/>
            </a:solidFill>
            <a:prstDash val="solid"/>
          </a:ln>
        </p:spPr>
      </p:sp>
      <p:sp>
        <p:nvSpPr>
          <p:cNvPr id="8" name="Text 6"/>
          <p:cNvSpPr/>
          <p:nvPr/>
        </p:nvSpPr>
        <p:spPr>
          <a:xfrm>
            <a:off x="6126480" y="960120"/>
            <a:ext cx="2468880" cy="411480"/>
          </a:xfrm>
          <a:prstGeom prst="rect">
            <a:avLst/>
          </a:prstGeom>
          <a:noFill/>
          <a:ln/>
        </p:spPr>
        <p:txBody>
          <a:bodyPr wrap="square" lIns="0" tIns="0" rIns="0" bIns="0" rtlCol="0" anchor="ctr"/>
          <a:lstStyle/>
          <a:p>
            <a:pPr algn="ctr" indent="0" marL="0">
              <a:buNone/>
            </a:pPr>
            <a:r>
              <a:rPr lang="en-US" sz="1800" b="1" dirty="0">
                <a:solidFill>
                  <a:srgbClr val="0B1F3A"/>
                </a:solidFill>
                <a:latin typeface="Malgun Gothic" pitchFamily="34" charset="0"/>
                <a:ea typeface="Malgun Gothic" pitchFamily="34" charset="-122"/>
                <a:cs typeface="Malgun Gothic" pitchFamily="34" charset="-120"/>
              </a:rPr>
              <a:t>60 초 / 219건</a:t>
            </a:r>
            <a:endParaRPr lang="en-US" sz="1800" dirty="0"/>
          </a:p>
        </p:txBody>
      </p:sp>
      <p:sp>
        <p:nvSpPr>
          <p:cNvPr id="9" name="Text 7"/>
          <p:cNvSpPr/>
          <p:nvPr/>
        </p:nvSpPr>
        <p:spPr>
          <a:xfrm>
            <a:off x="6126480" y="1353312"/>
            <a:ext cx="246888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Consolas" pitchFamily="34" charset="0"/>
                <a:ea typeface="Consolas" pitchFamily="34" charset="-122"/>
                <a:cs typeface="Consolas" pitchFamily="34" charset="-120"/>
              </a:rPr>
              <a:t>parse_err = 0</a:t>
            </a:r>
            <a:endParaRPr lang="en-US" sz="1200" dirty="0"/>
          </a:p>
        </p:txBody>
      </p:sp>
      <p:sp>
        <p:nvSpPr>
          <p:cNvPr id="10" name="Text 8"/>
          <p:cNvSpPr/>
          <p:nvPr/>
        </p:nvSpPr>
        <p:spPr>
          <a:xfrm>
            <a:off x="6126480" y="1673352"/>
            <a:ext cx="2468880" cy="274320"/>
          </a:xfrm>
          <a:prstGeom prst="rect">
            <a:avLst/>
          </a:prstGeom>
          <a:noFill/>
          <a:ln/>
        </p:spPr>
        <p:txBody>
          <a:bodyPr wrap="square" lIns="0" tIns="0" rIns="0" bIns="0" rtlCol="0" anchor="ctr"/>
          <a:lstStyle/>
          <a:p>
            <a:pPr algn="ctr" indent="0" marL="0">
              <a:buNone/>
            </a:pPr>
            <a:r>
              <a:rPr lang="en-US" sz="950" i="1" dirty="0">
                <a:solidFill>
                  <a:srgbClr val="0B1F3A"/>
                </a:solidFill>
                <a:latin typeface="Malgun Gothic" pitchFamily="34" charset="0"/>
                <a:ea typeface="Malgun Gothic" pitchFamily="34" charset="-122"/>
                <a:cs typeface="Malgun Gothic" pitchFamily="34" charset="-120"/>
              </a:rPr>
              <a:t>production verified</a:t>
            </a:r>
            <a:endParaRPr lang="en-US" sz="950" dirty="0"/>
          </a:p>
        </p:txBody>
      </p:sp>
      <p:sp>
        <p:nvSpPr>
          <p:cNvPr id="11" name="Shape 9"/>
          <p:cNvSpPr/>
          <p:nvPr/>
        </p:nvSpPr>
        <p:spPr>
          <a:xfrm>
            <a:off x="457200" y="2331720"/>
            <a:ext cx="1737360" cy="914400"/>
          </a:xfrm>
          <a:prstGeom prst="roundRect">
            <a:avLst>
              <a:gd name="adj" fmla="val 8000"/>
            </a:avLst>
          </a:prstGeom>
          <a:solidFill>
            <a:srgbClr val="0B1F3A"/>
          </a:solidFill>
          <a:ln w="12700">
            <a:solidFill>
              <a:srgbClr val="0B1F3A"/>
            </a:solidFill>
            <a:prstDash val="solid"/>
          </a:ln>
        </p:spPr>
      </p:sp>
      <p:sp>
        <p:nvSpPr>
          <p:cNvPr id="12" name="Text 10"/>
          <p:cNvSpPr/>
          <p:nvPr/>
        </p:nvSpPr>
        <p:spPr>
          <a:xfrm>
            <a:off x="457200" y="2377440"/>
            <a:ext cx="17373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FAA Solace</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JMS Broker</a:t>
            </a:r>
            <a:endParaRPr lang="en-US" sz="1100" dirty="0"/>
          </a:p>
        </p:txBody>
      </p:sp>
      <p:sp>
        <p:nvSpPr>
          <p:cNvPr id="13" name="Text 11"/>
          <p:cNvSpPr/>
          <p:nvPr/>
        </p:nvSpPr>
        <p:spPr>
          <a:xfrm>
            <a:off x="502920" y="2898648"/>
            <a:ext cx="1645920" cy="320040"/>
          </a:xfrm>
          <a:prstGeom prst="rect">
            <a:avLst/>
          </a:prstGeom>
          <a:noFill/>
          <a:ln/>
        </p:spPr>
        <p:txBody>
          <a:bodyPr wrap="square" lIns="0" tIns="0" rIns="0" bIns="0" rtlCol="0" anchor="ctr"/>
          <a:lstStyle/>
          <a:p>
            <a:pPr algn="ctr" indent="0" marL="0">
              <a:buNone/>
            </a:pPr>
            <a:r>
              <a:rPr lang="en-US" sz="800" i="1" dirty="0">
                <a:solidFill>
                  <a:srgbClr val="E3F2FD"/>
                </a:solidFill>
                <a:latin typeface="Consolas" pitchFamily="34" charset="0"/>
                <a:ea typeface="Consolas" pitchFamily="34" charset="-122"/>
                <a:cs typeface="Consolas" pitchFamily="34" charset="-120"/>
              </a:rPr>
              <a:t>ems2.swim.faa.gov:55443</a:t>
            </a:r>
            <a:endParaRPr lang="en-US" sz="800" dirty="0"/>
          </a:p>
        </p:txBody>
      </p:sp>
      <p:sp>
        <p:nvSpPr>
          <p:cNvPr id="14" name="Text 12"/>
          <p:cNvSpPr/>
          <p:nvPr/>
        </p:nvSpPr>
        <p:spPr>
          <a:xfrm>
            <a:off x="2194560" y="2331720"/>
            <a:ext cx="201168" cy="914400"/>
          </a:xfrm>
          <a:prstGeom prst="rect">
            <a:avLst/>
          </a:prstGeom>
          <a:noFill/>
          <a:ln/>
        </p:spPr>
        <p:txBody>
          <a:bodyPr wrap="square" lIns="0" tIns="0" rIns="0" bIns="0" rtlCol="0" anchor="ctr"/>
          <a:lstStyle/>
          <a:p>
            <a:pPr algn="ctr" indent="0" marL="0">
              <a:buNone/>
            </a:pPr>
            <a:r>
              <a:rPr lang="en-US" sz="2200" b="1" dirty="0">
                <a:solidFill>
                  <a:srgbClr val="FFB300"/>
                </a:solidFill>
              </a:rPr>
              <a:t>→</a:t>
            </a:r>
            <a:endParaRPr lang="en-US" sz="2200" dirty="0"/>
          </a:p>
        </p:txBody>
      </p:sp>
      <p:sp>
        <p:nvSpPr>
          <p:cNvPr id="15" name="Shape 13"/>
          <p:cNvSpPr/>
          <p:nvPr/>
        </p:nvSpPr>
        <p:spPr>
          <a:xfrm>
            <a:off x="2377440" y="2331720"/>
            <a:ext cx="1737360" cy="914400"/>
          </a:xfrm>
          <a:prstGeom prst="roundRect">
            <a:avLst>
              <a:gd name="adj" fmla="val 8000"/>
            </a:avLst>
          </a:prstGeom>
          <a:solidFill>
            <a:srgbClr val="EF5350"/>
          </a:solidFill>
          <a:ln w="12700">
            <a:solidFill>
              <a:srgbClr val="EF5350"/>
            </a:solidFill>
            <a:prstDash val="solid"/>
          </a:ln>
        </p:spPr>
      </p:sp>
      <p:sp>
        <p:nvSpPr>
          <p:cNvPr id="16" name="Text 14"/>
          <p:cNvSpPr/>
          <p:nvPr/>
        </p:nvSpPr>
        <p:spPr>
          <a:xfrm>
            <a:off x="2377440" y="2377440"/>
            <a:ext cx="17373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TLS 1.2</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인증 통과</a:t>
            </a:r>
            <a:endParaRPr lang="en-US" sz="1100" dirty="0"/>
          </a:p>
        </p:txBody>
      </p:sp>
      <p:sp>
        <p:nvSpPr>
          <p:cNvPr id="17" name="Text 15"/>
          <p:cNvSpPr/>
          <p:nvPr/>
        </p:nvSpPr>
        <p:spPr>
          <a:xfrm>
            <a:off x="2423160" y="2898648"/>
            <a:ext cx="1645920" cy="320040"/>
          </a:xfrm>
          <a:prstGeom prst="rect">
            <a:avLst/>
          </a:prstGeom>
          <a:noFill/>
          <a:ln/>
        </p:spPr>
        <p:txBody>
          <a:bodyPr wrap="square" lIns="0" tIns="0" rIns="0" bIns="0" rtlCol="0" anchor="ctr"/>
          <a:lstStyle/>
          <a:p>
            <a:pPr algn="ctr" indent="0" marL="0">
              <a:buNone/>
            </a:pPr>
            <a:r>
              <a:rPr lang="en-US" sz="800" i="1" dirty="0">
                <a:solidFill>
                  <a:srgbClr val="E3F2FD"/>
                </a:solidFill>
                <a:latin typeface="Consolas" pitchFamily="34" charset="0"/>
                <a:ea typeface="Consolas" pitchFamily="34" charset="-122"/>
                <a:cs typeface="Consolas" pitchFamily="34" charset="-120"/>
              </a:rPr>
              <a:t>DigiCert Global Root G2</a:t>
            </a:r>
            <a:endParaRPr lang="en-US" sz="800" dirty="0"/>
          </a:p>
        </p:txBody>
      </p:sp>
      <p:sp>
        <p:nvSpPr>
          <p:cNvPr id="18" name="Text 16"/>
          <p:cNvSpPr/>
          <p:nvPr/>
        </p:nvSpPr>
        <p:spPr>
          <a:xfrm>
            <a:off x="4114800" y="2331720"/>
            <a:ext cx="201168" cy="914400"/>
          </a:xfrm>
          <a:prstGeom prst="rect">
            <a:avLst/>
          </a:prstGeom>
          <a:noFill/>
          <a:ln/>
        </p:spPr>
        <p:txBody>
          <a:bodyPr wrap="square" lIns="0" tIns="0" rIns="0" bIns="0" rtlCol="0" anchor="ctr"/>
          <a:lstStyle/>
          <a:p>
            <a:pPr algn="ctr" indent="0" marL="0">
              <a:buNone/>
            </a:pPr>
            <a:r>
              <a:rPr lang="en-US" sz="2200" b="1" dirty="0">
                <a:solidFill>
                  <a:srgbClr val="FFB300"/>
                </a:solidFill>
              </a:rPr>
              <a:t>→</a:t>
            </a:r>
            <a:endParaRPr lang="en-US" sz="2200" dirty="0"/>
          </a:p>
        </p:txBody>
      </p:sp>
      <p:sp>
        <p:nvSpPr>
          <p:cNvPr id="19" name="Shape 17"/>
          <p:cNvSpPr/>
          <p:nvPr/>
        </p:nvSpPr>
        <p:spPr>
          <a:xfrm>
            <a:off x="4297680" y="2331720"/>
            <a:ext cx="1737360" cy="914400"/>
          </a:xfrm>
          <a:prstGeom prst="roundRect">
            <a:avLst>
              <a:gd name="adj" fmla="val 8000"/>
            </a:avLst>
          </a:prstGeom>
          <a:solidFill>
            <a:srgbClr val="00897B"/>
          </a:solidFill>
          <a:ln w="12700">
            <a:solidFill>
              <a:srgbClr val="00897B"/>
            </a:solidFill>
            <a:prstDash val="solid"/>
          </a:ln>
        </p:spPr>
      </p:sp>
      <p:sp>
        <p:nvSpPr>
          <p:cNvPr id="20" name="Text 18"/>
          <p:cNvSpPr/>
          <p:nvPr/>
        </p:nvSpPr>
        <p:spPr>
          <a:xfrm>
            <a:off x="4297680" y="2377440"/>
            <a:ext cx="17373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AIXM 5.1</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XML 파싱</a:t>
            </a:r>
            <a:endParaRPr lang="en-US" sz="1100" dirty="0"/>
          </a:p>
        </p:txBody>
      </p:sp>
      <p:sp>
        <p:nvSpPr>
          <p:cNvPr id="21" name="Text 19"/>
          <p:cNvSpPr/>
          <p:nvPr/>
        </p:nvSpPr>
        <p:spPr>
          <a:xfrm>
            <a:off x="4343400" y="2898648"/>
            <a:ext cx="1645920" cy="320040"/>
          </a:xfrm>
          <a:prstGeom prst="rect">
            <a:avLst/>
          </a:prstGeom>
          <a:noFill/>
          <a:ln/>
        </p:spPr>
        <p:txBody>
          <a:bodyPr wrap="square" lIns="0" tIns="0" rIns="0" bIns="0" rtlCol="0" anchor="ctr"/>
          <a:lstStyle/>
          <a:p>
            <a:pPr algn="ctr" indent="0" marL="0">
              <a:buNone/>
            </a:pPr>
            <a:r>
              <a:rPr lang="en-US" sz="800" i="1" dirty="0">
                <a:solidFill>
                  <a:srgbClr val="E3F2FD"/>
                </a:solidFill>
                <a:latin typeface="Consolas" pitchFamily="34" charset="0"/>
                <a:ea typeface="Consolas" pitchFamily="34" charset="-122"/>
                <a:cs typeface="Consolas" pitchFamily="34" charset="-120"/>
              </a:rPr>
              <a:t>FAA event: namespace</a:t>
            </a:r>
            <a:endParaRPr lang="en-US" sz="800" dirty="0"/>
          </a:p>
        </p:txBody>
      </p:sp>
      <p:sp>
        <p:nvSpPr>
          <p:cNvPr id="22" name="Text 20"/>
          <p:cNvSpPr/>
          <p:nvPr/>
        </p:nvSpPr>
        <p:spPr>
          <a:xfrm>
            <a:off x="6035040" y="2331720"/>
            <a:ext cx="201168" cy="914400"/>
          </a:xfrm>
          <a:prstGeom prst="rect">
            <a:avLst/>
          </a:prstGeom>
          <a:noFill/>
          <a:ln/>
        </p:spPr>
        <p:txBody>
          <a:bodyPr wrap="square" lIns="0" tIns="0" rIns="0" bIns="0" rtlCol="0" anchor="ctr"/>
          <a:lstStyle/>
          <a:p>
            <a:pPr algn="ctr" indent="0" marL="0">
              <a:buNone/>
            </a:pPr>
            <a:r>
              <a:rPr lang="en-US" sz="2200" b="1" dirty="0">
                <a:solidFill>
                  <a:srgbClr val="FFB300"/>
                </a:solidFill>
              </a:rPr>
              <a:t>→</a:t>
            </a:r>
            <a:endParaRPr lang="en-US" sz="2200" dirty="0"/>
          </a:p>
        </p:txBody>
      </p:sp>
      <p:sp>
        <p:nvSpPr>
          <p:cNvPr id="23" name="Shape 21"/>
          <p:cNvSpPr/>
          <p:nvPr/>
        </p:nvSpPr>
        <p:spPr>
          <a:xfrm>
            <a:off x="6217920" y="2331720"/>
            <a:ext cx="1737360" cy="914400"/>
          </a:xfrm>
          <a:prstGeom prst="roundRect">
            <a:avLst>
              <a:gd name="adj" fmla="val 8000"/>
            </a:avLst>
          </a:prstGeom>
          <a:solidFill>
            <a:srgbClr val="1E88E5"/>
          </a:solidFill>
          <a:ln w="12700">
            <a:solidFill>
              <a:srgbClr val="1E88E5"/>
            </a:solidFill>
            <a:prstDash val="solid"/>
          </a:ln>
        </p:spPr>
      </p:sp>
      <p:sp>
        <p:nvSpPr>
          <p:cNvPr id="24" name="Text 22"/>
          <p:cNvSpPr/>
          <p:nvPr/>
        </p:nvSpPr>
        <p:spPr>
          <a:xfrm>
            <a:off x="6217920" y="2377440"/>
            <a:ext cx="17373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Kafka</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notam 토픽</a:t>
            </a:r>
            <a:endParaRPr lang="en-US" sz="1100" dirty="0"/>
          </a:p>
        </p:txBody>
      </p:sp>
      <p:sp>
        <p:nvSpPr>
          <p:cNvPr id="25" name="Text 23"/>
          <p:cNvSpPr/>
          <p:nvPr/>
        </p:nvSpPr>
        <p:spPr>
          <a:xfrm>
            <a:off x="6263640" y="2898648"/>
            <a:ext cx="1645920" cy="320040"/>
          </a:xfrm>
          <a:prstGeom prst="rect">
            <a:avLst/>
          </a:prstGeom>
          <a:noFill/>
          <a:ln/>
        </p:spPr>
        <p:txBody>
          <a:bodyPr wrap="square" lIns="0" tIns="0" rIns="0" bIns="0" rtlCol="0" anchor="ctr"/>
          <a:lstStyle/>
          <a:p>
            <a:pPr algn="ctr" indent="0" marL="0">
              <a:buNone/>
            </a:pPr>
            <a:r>
              <a:rPr lang="en-US" sz="800" i="1" dirty="0">
                <a:solidFill>
                  <a:srgbClr val="E3F2FD"/>
                </a:solidFill>
                <a:latin typeface="Consolas" pitchFamily="34" charset="0"/>
                <a:ea typeface="Consolas" pitchFamily="34" charset="-122"/>
                <a:cs typeface="Consolas" pitchFamily="34" charset="-120"/>
              </a:rPr>
              <a:t>Avro v2.0 schema</a:t>
            </a:r>
            <a:endParaRPr lang="en-US" sz="800" dirty="0"/>
          </a:p>
        </p:txBody>
      </p:sp>
      <p:sp>
        <p:nvSpPr>
          <p:cNvPr id="26" name="Shape 24"/>
          <p:cNvSpPr/>
          <p:nvPr/>
        </p:nvSpPr>
        <p:spPr>
          <a:xfrm>
            <a:off x="457200" y="3520440"/>
            <a:ext cx="8138160" cy="1188720"/>
          </a:xfrm>
          <a:prstGeom prst="roundRect">
            <a:avLst>
              <a:gd name="adj" fmla="val 6154"/>
            </a:avLst>
          </a:prstGeom>
          <a:solidFill>
            <a:srgbClr val="E3F2FD"/>
          </a:solidFill>
          <a:ln w="19050">
            <a:solidFill>
              <a:srgbClr val="EF5350"/>
            </a:solidFill>
            <a:prstDash val="solid"/>
          </a:ln>
        </p:spPr>
      </p:sp>
      <p:sp>
        <p:nvSpPr>
          <p:cNvPr id="27" name="Text 25"/>
          <p:cNvSpPr/>
          <p:nvPr/>
        </p:nvSpPr>
        <p:spPr>
          <a:xfrm>
            <a:off x="640080" y="3584448"/>
            <a:ext cx="7863840" cy="274320"/>
          </a:xfrm>
          <a:prstGeom prst="rect">
            <a:avLst/>
          </a:prstGeom>
          <a:noFill/>
          <a:ln/>
        </p:spPr>
        <p:txBody>
          <a:bodyPr wrap="square" lIns="0" tIns="0" rIns="0" bIns="0" rtlCol="0" anchor="ctr"/>
          <a:lstStyle/>
          <a:p>
            <a:pPr indent="0" marL="0">
              <a:buNone/>
            </a:pPr>
            <a:r>
              <a:rPr lang="en-US" sz="1200" b="1" dirty="0">
                <a:solidFill>
                  <a:srgbClr val="EF5350"/>
                </a:solidFill>
                <a:latin typeface="Malgun Gothic" pitchFamily="34" charset="0"/>
                <a:ea typeface="Malgun Gothic" pitchFamily="34" charset="-122"/>
                <a:cs typeface="Malgun Gothic" pitchFamily="34" charset="-120"/>
              </a:rPr>
              <a:t>왜 어려웠나 (Why it was hard)</a:t>
            </a:r>
            <a:endParaRPr lang="en-US" sz="1200" dirty="0"/>
          </a:p>
        </p:txBody>
      </p:sp>
      <p:sp>
        <p:nvSpPr>
          <p:cNvPr id="28" name="Text 26"/>
          <p:cNvSpPr/>
          <p:nvPr/>
        </p:nvSpPr>
        <p:spPr>
          <a:xfrm>
            <a:off x="640080" y="3886200"/>
            <a:ext cx="7863840" cy="804672"/>
          </a:xfrm>
          <a:prstGeom prst="rect">
            <a:avLst/>
          </a:prstGeom>
          <a:noFill/>
          <a:ln/>
        </p:spPr>
        <p:txBody>
          <a:bodyPr wrap="square" lIns="0" tIns="0" rIns="0" bIns="0" rtlCol="0" anchor="ctr"/>
          <a:lstStyle/>
          <a:p>
            <a:pPr indent="0" marL="0">
              <a:buNone/>
            </a:pPr>
            <a:r>
              <a:rPr lang="en-US" sz="1000" b="1" dirty="0">
                <a:solidFill>
                  <a:srgbClr val="0B1F3A"/>
                </a:solidFill>
                <a:latin typeface="Malgun Gothic" pitchFamily="34" charset="0"/>
                <a:ea typeface="Malgun Gothic" pitchFamily="34" charset="-122"/>
                <a:cs typeface="Malgun Gothic" pitchFamily="34" charset="-120"/>
              </a:rPr>
              <a:t>• Trust store setup 3 번 실패 후 성공  </a:t>
            </a:r>
            <a:pPr indent="0" marL="0">
              <a:buNone/>
            </a:pPr>
            <a:r>
              <a:rPr lang="en-US" sz="900" i="1" dirty="0">
                <a:solidFill>
                  <a:srgbClr val="78909C"/>
                </a:solidFill>
                <a:latin typeface="Malgun Gothic" pitchFamily="34" charset="0"/>
                <a:ea typeface="Malgun Gothic" pitchFamily="34" charset="-122"/>
                <a:cs typeface="Malgun Gothic" pitchFamily="34" charset="-120"/>
              </a:rPr>
              <a:t>(3 failed attempts at trust store setup)
</a:t>
            </a:r>
            <a:pPr indent="0" marL="0">
              <a:buNone/>
            </a:pPr>
            <a:r>
              <a:rPr lang="en-US" sz="1000" dirty="0">
                <a:solidFill>
                  <a:srgbClr val="0B1F3A"/>
                </a:solidFill>
                <a:latin typeface="Malgun Gothic" pitchFamily="34" charset="0"/>
                <a:ea typeface="Malgun Gothic" pitchFamily="34" charset="-122"/>
                <a:cs typeface="Malgun Gothic" pitchFamily="34" charset="-120"/>
              </a:rPr>
              <a:t>• DigiCert Global Root G2 인증서를 수동으로 </a:t>
            </a:r>
            <a:pPr indent="0" marL="0">
              <a:buNone/>
            </a:pPr>
            <a:r>
              <a:rPr lang="en-US" sz="1000" b="1" dirty="0">
                <a:solidFill>
                  <a:srgbClr val="FFB300"/>
                </a:solidFill>
                <a:latin typeface="Consolas" pitchFamily="34" charset="0"/>
                <a:ea typeface="Consolas" pitchFamily="34" charset="-122"/>
                <a:cs typeface="Consolas" pitchFamily="34" charset="-120"/>
              </a:rPr>
              <a:t>c_rehash </a:t>
            </a:r>
            <a:pPr indent="0" marL="0">
              <a:buNone/>
            </a:pPr>
            <a:r>
              <a:rPr lang="en-US" sz="1000" dirty="0">
                <a:solidFill>
                  <a:srgbClr val="0B1F3A"/>
                </a:solidFill>
                <a:latin typeface="Malgun Gothic" pitchFamily="34" charset="0"/>
                <a:ea typeface="Malgun Gothic" pitchFamily="34" charset="-122"/>
                <a:cs typeface="Malgun Gothic" pitchFamily="34" charset="-120"/>
              </a:rPr>
              <a:t>형식으로 import
</a:t>
            </a:r>
            <a:pPr indent="0" marL="0">
              <a:buNone/>
            </a:pPr>
            <a:r>
              <a:rPr lang="en-US" sz="900" i="1" dirty="0">
                <a:solidFill>
                  <a:srgbClr val="78909C"/>
                </a:solidFill>
                <a:latin typeface="Malgun Gothic" pitchFamily="34" charset="0"/>
                <a:ea typeface="Malgun Gothic" pitchFamily="34" charset="-122"/>
                <a:cs typeface="Malgun Gothic" pitchFamily="34" charset="-120"/>
              </a:rPr>
              <a:t>  (manually imported DigiCert G2 in c_rehash format)
</a:t>
            </a:r>
            <a:pPr indent="0" marL="0">
              <a:buNone/>
            </a:pPr>
            <a:r>
              <a:rPr lang="en-US" sz="1000" dirty="0">
                <a:solidFill>
                  <a:srgbClr val="0B1F3A"/>
                </a:solidFill>
                <a:latin typeface="Malgun Gothic" pitchFamily="34" charset="0"/>
                <a:ea typeface="Malgun Gothic" pitchFamily="34" charset="-122"/>
                <a:cs typeface="Malgun Gothic" pitchFamily="34" charset="-120"/>
              </a:rPr>
              <a:t>• AIXM 5.1 XML + FAA event: namespace 파서 자체 구현 </a:t>
            </a:r>
            <a:pPr indent="0" marL="0">
              <a:buNone/>
            </a:pPr>
            <a:r>
              <a:rPr lang="en-US" sz="900" i="1" dirty="0">
                <a:solidFill>
                  <a:srgbClr val="78909C"/>
                </a:solidFill>
                <a:latin typeface="Malgun Gothic" pitchFamily="34" charset="0"/>
                <a:ea typeface="Malgun Gothic" pitchFamily="34" charset="-122"/>
                <a:cs typeface="Malgun Gothic" pitchFamily="34" charset="-120"/>
              </a:rPr>
              <a:t>(custom parser)</a:t>
            </a:r>
            <a:endParaRPr lang="en-US" sz="1000" dirty="0"/>
          </a:p>
        </p:txBody>
      </p:sp>
      <p:sp>
        <p:nvSpPr>
          <p:cNvPr id="29" name="Shape 27"/>
          <p:cNvSpPr/>
          <p:nvPr/>
        </p:nvSpPr>
        <p:spPr>
          <a:xfrm>
            <a:off x="0" y="4892040"/>
            <a:ext cx="9144000" cy="256032"/>
          </a:xfrm>
          <a:prstGeom prst="rect">
            <a:avLst/>
          </a:prstGeom>
          <a:solidFill>
            <a:srgbClr val="0B1F3A"/>
          </a:solidFill>
          <a:ln w="12700">
            <a:solidFill>
              <a:srgbClr val="0B1F3A"/>
            </a:solidFill>
            <a:prstDash val="solid"/>
          </a:ln>
        </p:spPr>
      </p:sp>
      <p:sp>
        <p:nvSpPr>
          <p:cNvPr id="30" name="Text 28"/>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1" name="Text 29"/>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8 / 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03 · DATA SOURCES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Kaggle flights.csv · EDA</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Exploring the 5.7M row training dataset</a:t>
            </a:r>
            <a:endParaRPr lang="en-US" sz="1050" dirty="0"/>
          </a:p>
        </p:txBody>
      </p:sp>
      <p:sp>
        <p:nvSpPr>
          <p:cNvPr id="7" name="Shape 5"/>
          <p:cNvSpPr/>
          <p:nvPr/>
        </p:nvSpPr>
        <p:spPr>
          <a:xfrm>
            <a:off x="457200" y="960120"/>
            <a:ext cx="3840480" cy="1554480"/>
          </a:xfrm>
          <a:prstGeom prst="roundRect">
            <a:avLst>
              <a:gd name="adj" fmla="val 5882"/>
            </a:avLst>
          </a:prstGeom>
          <a:solidFill>
            <a:srgbClr val="0B1F3A"/>
          </a:solidFill>
          <a:ln w="12700">
            <a:solidFill>
              <a:srgbClr val="0B1F3A"/>
            </a:solidFill>
            <a:prstDash val="solid"/>
          </a:ln>
        </p:spPr>
      </p:sp>
      <p:sp>
        <p:nvSpPr>
          <p:cNvPr id="8" name="Text 6"/>
          <p:cNvSpPr/>
          <p:nvPr/>
        </p:nvSpPr>
        <p:spPr>
          <a:xfrm>
            <a:off x="548640" y="1005840"/>
            <a:ext cx="3657600" cy="274320"/>
          </a:xfrm>
          <a:prstGeom prst="rect">
            <a:avLst/>
          </a:prstGeom>
          <a:noFill/>
          <a:ln/>
        </p:spPr>
        <p:txBody>
          <a:bodyPr wrap="square" lIns="0" tIns="0" rIns="0" bIns="0" rtlCol="0" anchor="ctr"/>
          <a:lstStyle/>
          <a:p>
            <a:pPr indent="0" marL="0">
              <a:buNone/>
            </a:pPr>
            <a:r>
              <a:rPr lang="en-US" sz="1200" b="1" dirty="0">
                <a:solidFill>
                  <a:srgbClr val="FFB300"/>
                </a:solidFill>
                <a:latin typeface="Malgun Gothic" pitchFamily="34" charset="0"/>
                <a:ea typeface="Malgun Gothic" pitchFamily="34" charset="-122"/>
                <a:cs typeface="Malgun Gothic" pitchFamily="34" charset="-120"/>
              </a:rPr>
              <a:t>📦  데이터 규모</a:t>
            </a:r>
            <a:endParaRPr lang="en-US" sz="1200" dirty="0"/>
          </a:p>
        </p:txBody>
      </p:sp>
      <p:sp>
        <p:nvSpPr>
          <p:cNvPr id="9" name="Text 7"/>
          <p:cNvSpPr/>
          <p:nvPr/>
        </p:nvSpPr>
        <p:spPr>
          <a:xfrm>
            <a:off x="548640" y="1298448"/>
            <a:ext cx="1828800" cy="594360"/>
          </a:xfrm>
          <a:prstGeom prst="rect">
            <a:avLst/>
          </a:prstGeom>
          <a:noFill/>
          <a:ln/>
        </p:spPr>
        <p:txBody>
          <a:bodyPr wrap="square" lIns="0" tIns="0" rIns="0" bIns="0" rtlCol="0" anchor="ctr"/>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5.7 M</a:t>
            </a:r>
            <a:endParaRPr lang="en-US" sz="3800" dirty="0"/>
          </a:p>
        </p:txBody>
      </p:sp>
      <p:sp>
        <p:nvSpPr>
          <p:cNvPr id="10" name="Text 8"/>
          <p:cNvSpPr/>
          <p:nvPr/>
        </p:nvSpPr>
        <p:spPr>
          <a:xfrm>
            <a:off x="2103120" y="1389888"/>
            <a:ext cx="914400" cy="548640"/>
          </a:xfrm>
          <a:prstGeom prst="rect">
            <a:avLst/>
          </a:prstGeom>
          <a:noFill/>
          <a:ln/>
        </p:spPr>
        <p:txBody>
          <a:bodyPr wrap="square" lIns="0" tIns="0" rIns="0" bIns="0" rtlCol="0" anchor="ctr"/>
          <a:lstStyle/>
          <a:p>
            <a:pPr indent="0" marL="0">
              <a:buNone/>
            </a:pPr>
            <a:r>
              <a:rPr lang="en-US" sz="1000" dirty="0">
                <a:solidFill>
                  <a:srgbClr val="E3F2FD"/>
                </a:solidFill>
                <a:latin typeface="Malgun Gothic" pitchFamily="34" charset="0"/>
                <a:ea typeface="Malgun Gothic" pitchFamily="34" charset="-122"/>
                <a:cs typeface="Malgun Gothic" pitchFamily="34" charset="-120"/>
              </a:rPr>
              <a:t>행</a:t>
            </a:r>
            <a:endParaRPr lang="en-US" sz="1000" dirty="0"/>
          </a:p>
          <a:p>
            <a:pPr indent="0" marL="0">
              <a:buNone/>
            </a:pPr>
            <a:r>
              <a:rPr lang="en-US" sz="1000" dirty="0">
                <a:solidFill>
                  <a:srgbClr val="E3F2FD"/>
                </a:solidFill>
                <a:latin typeface="Malgun Gothic" pitchFamily="34" charset="0"/>
                <a:ea typeface="Malgun Gothic" pitchFamily="34" charset="-122"/>
                <a:cs typeface="Malgun Gothic" pitchFamily="34" charset="-120"/>
              </a:rPr>
              <a:t>rows</a:t>
            </a:r>
            <a:endParaRPr lang="en-US" sz="1000" dirty="0"/>
          </a:p>
        </p:txBody>
      </p:sp>
      <p:sp>
        <p:nvSpPr>
          <p:cNvPr id="11" name="Text 9"/>
          <p:cNvSpPr/>
          <p:nvPr/>
        </p:nvSpPr>
        <p:spPr>
          <a:xfrm>
            <a:off x="548640" y="1938528"/>
            <a:ext cx="3657600" cy="256032"/>
          </a:xfrm>
          <a:prstGeom prst="rect">
            <a:avLst/>
          </a:prstGeom>
          <a:noFill/>
          <a:ln/>
        </p:spPr>
        <p:txBody>
          <a:bodyPr wrap="square" lIns="0" tIns="0" rIns="0" bIns="0" rtlCol="0" anchor="ctr"/>
          <a:lstStyle/>
          <a:p>
            <a:pPr indent="0" marL="0">
              <a:buNone/>
            </a:pPr>
            <a:r>
              <a:rPr lang="en-US" sz="1000" dirty="0">
                <a:solidFill>
                  <a:srgbClr val="E3F2FD"/>
                </a:solidFill>
                <a:latin typeface="Malgun Gothic" pitchFamily="34" charset="0"/>
                <a:ea typeface="Malgun Gothic" pitchFamily="34" charset="-122"/>
                <a:cs typeface="Malgun Gothic" pitchFamily="34" charset="-120"/>
              </a:rPr>
              <a:t>31 컬럼 · 580 MB</a:t>
            </a:r>
            <a:endParaRPr lang="en-US" sz="1000" dirty="0"/>
          </a:p>
        </p:txBody>
      </p:sp>
      <p:sp>
        <p:nvSpPr>
          <p:cNvPr id="12" name="Text 10"/>
          <p:cNvSpPr/>
          <p:nvPr/>
        </p:nvSpPr>
        <p:spPr>
          <a:xfrm>
            <a:off x="548640" y="2212848"/>
            <a:ext cx="3657600" cy="256032"/>
          </a:xfrm>
          <a:prstGeom prst="rect">
            <a:avLst/>
          </a:prstGeom>
          <a:noFill/>
          <a:ln/>
        </p:spPr>
        <p:txBody>
          <a:bodyPr wrap="square" lIns="0" tIns="0" rIns="0" bIns="0" rtlCol="0" anchor="ctr"/>
          <a:lstStyle/>
          <a:p>
            <a:pPr indent="0" marL="0">
              <a:buNone/>
            </a:pPr>
            <a:r>
              <a:rPr lang="en-US" sz="900" i="1" dirty="0">
                <a:solidFill>
                  <a:srgbClr val="78909C"/>
                </a:solidFill>
                <a:latin typeface="Malgun Gothic" pitchFamily="34" charset="0"/>
                <a:ea typeface="Malgun Gothic" pitchFamily="34" charset="-122"/>
                <a:cs typeface="Malgun Gothic" pitchFamily="34" charset="-120"/>
              </a:rPr>
              <a:t>US DOT BTS 2015 · 10% → 500K 샘플링</a:t>
            </a:r>
            <a:endParaRPr lang="en-US" sz="900" dirty="0"/>
          </a:p>
        </p:txBody>
      </p:sp>
      <p:sp>
        <p:nvSpPr>
          <p:cNvPr id="13" name="Shape 11"/>
          <p:cNvSpPr/>
          <p:nvPr/>
        </p:nvSpPr>
        <p:spPr>
          <a:xfrm>
            <a:off x="4480560" y="960120"/>
            <a:ext cx="4114800" cy="1554480"/>
          </a:xfrm>
          <a:prstGeom prst="roundRect">
            <a:avLst>
              <a:gd name="adj" fmla="val 5882"/>
            </a:avLst>
          </a:prstGeom>
          <a:solidFill>
            <a:srgbClr val="FFFFFF"/>
          </a:solidFill>
          <a:ln w="12700">
            <a:solidFill>
              <a:srgbClr val="1E88E5"/>
            </a:solidFill>
            <a:prstDash val="solid"/>
          </a:ln>
        </p:spPr>
      </p:sp>
      <p:sp>
        <p:nvSpPr>
          <p:cNvPr id="14" name="Text 12"/>
          <p:cNvSpPr/>
          <p:nvPr/>
        </p:nvSpPr>
        <p:spPr>
          <a:xfrm>
            <a:off x="4572000" y="1005840"/>
            <a:ext cx="3931920" cy="274320"/>
          </a:xfrm>
          <a:prstGeom prst="rect">
            <a:avLst/>
          </a:prstGeom>
          <a:noFill/>
          <a:ln/>
        </p:spPr>
        <p:txBody>
          <a:bodyPr wrap="square" lIns="0" tIns="0" rIns="0" bIns="0" rtlCol="0" anchor="ctr"/>
          <a:lstStyle/>
          <a:p>
            <a:pPr indent="0" marL="0">
              <a:buNone/>
            </a:pPr>
            <a:r>
              <a:rPr lang="en-US" sz="1200" b="1" dirty="0">
                <a:solidFill>
                  <a:srgbClr val="1E88E5"/>
                </a:solidFill>
                <a:latin typeface="Malgun Gothic" pitchFamily="34" charset="0"/>
                <a:ea typeface="Malgun Gothic" pitchFamily="34" charset="-122"/>
                <a:cs typeface="Malgun Gothic" pitchFamily="34" charset="-120"/>
              </a:rPr>
              <a:t>📊  EDA 핵심 지표</a:t>
            </a:r>
            <a:endParaRPr lang="en-US" sz="1200" dirty="0"/>
          </a:p>
        </p:txBody>
      </p:sp>
      <p:sp>
        <p:nvSpPr>
          <p:cNvPr id="15" name="Text 13"/>
          <p:cNvSpPr/>
          <p:nvPr/>
        </p:nvSpPr>
        <p:spPr>
          <a:xfrm>
            <a:off x="4572000" y="1325880"/>
            <a:ext cx="1645920" cy="246888"/>
          </a:xfrm>
          <a:prstGeom prst="rect">
            <a:avLst/>
          </a:prstGeom>
          <a:noFill/>
          <a:ln/>
        </p:spPr>
        <p:txBody>
          <a:bodyPr wrap="square" lIns="0" tIns="0" rIns="0" bIns="0" rtlCol="0" anchor="ctr"/>
          <a:lstStyle/>
          <a:p>
            <a:pPr indent="0" marL="0">
              <a:buNone/>
            </a:pPr>
            <a:r>
              <a:rPr lang="en-US" sz="950" dirty="0">
                <a:solidFill>
                  <a:srgbClr val="37474F"/>
                </a:solidFill>
                <a:latin typeface="Malgun Gothic" pitchFamily="34" charset="0"/>
                <a:ea typeface="Malgun Gothic" pitchFamily="34" charset="-122"/>
                <a:cs typeface="Malgun Gothic" pitchFamily="34" charset="-120"/>
              </a:rPr>
              <a:t>지연 편 (&gt;0 분)</a:t>
            </a:r>
            <a:endParaRPr lang="en-US" sz="950" dirty="0"/>
          </a:p>
        </p:txBody>
      </p:sp>
      <p:sp>
        <p:nvSpPr>
          <p:cNvPr id="16" name="Text 14"/>
          <p:cNvSpPr/>
          <p:nvPr/>
        </p:nvSpPr>
        <p:spPr>
          <a:xfrm>
            <a:off x="6217920" y="1325880"/>
            <a:ext cx="1005840" cy="246888"/>
          </a:xfrm>
          <a:prstGeom prst="rect">
            <a:avLst/>
          </a:prstGeom>
          <a:noFill/>
          <a:ln/>
        </p:spPr>
        <p:txBody>
          <a:bodyPr wrap="square" lIns="0" tIns="0" rIns="0" bIns="0" rtlCol="0" anchor="ctr"/>
          <a:lstStyle/>
          <a:p>
            <a:pPr algn="r" indent="0" marL="0">
              <a:buNone/>
            </a:pPr>
            <a:r>
              <a:rPr lang="en-US" sz="1150" b="1" dirty="0">
                <a:solidFill>
                  <a:srgbClr val="EF5350"/>
                </a:solidFill>
                <a:latin typeface="Malgun Gothic" pitchFamily="34" charset="0"/>
                <a:ea typeface="Malgun Gothic" pitchFamily="34" charset="-122"/>
                <a:cs typeface="Malgun Gothic" pitchFamily="34" charset="-120"/>
              </a:rPr>
              <a:t>38.8%</a:t>
            </a:r>
            <a:endParaRPr lang="en-US" sz="1150" dirty="0"/>
          </a:p>
        </p:txBody>
      </p:sp>
      <p:sp>
        <p:nvSpPr>
          <p:cNvPr id="17" name="Text 15"/>
          <p:cNvSpPr/>
          <p:nvPr/>
        </p:nvSpPr>
        <p:spPr>
          <a:xfrm>
            <a:off x="7269480" y="1353312"/>
            <a:ext cx="1280160" cy="228600"/>
          </a:xfrm>
          <a:prstGeom prst="rect">
            <a:avLst/>
          </a:prstGeom>
          <a:noFill/>
          <a:ln/>
        </p:spPr>
        <p:txBody>
          <a:bodyPr wrap="square" lIns="0" tIns="0" rIns="0" bIns="0" rtlCol="0" anchor="ctr"/>
          <a:lstStyle/>
          <a:p>
            <a:pPr indent="0" marL="0">
              <a:buNone/>
            </a:pPr>
            <a:r>
              <a:rPr lang="en-US" sz="850" i="1" dirty="0">
                <a:solidFill>
                  <a:srgbClr val="78909C"/>
                </a:solidFill>
                <a:latin typeface="Malgun Gothic" pitchFamily="34" charset="0"/>
                <a:ea typeface="Malgun Gothic" pitchFamily="34" charset="-122"/>
                <a:cs typeface="Malgun Gothic" pitchFamily="34" charset="-120"/>
              </a:rPr>
              <a:t>delayed flights</a:t>
            </a:r>
            <a:endParaRPr lang="en-US" sz="850" dirty="0"/>
          </a:p>
        </p:txBody>
      </p:sp>
      <p:sp>
        <p:nvSpPr>
          <p:cNvPr id="18" name="Text 16"/>
          <p:cNvSpPr/>
          <p:nvPr/>
        </p:nvSpPr>
        <p:spPr>
          <a:xfrm>
            <a:off x="4572000" y="1600200"/>
            <a:ext cx="1645920" cy="246888"/>
          </a:xfrm>
          <a:prstGeom prst="rect">
            <a:avLst/>
          </a:prstGeom>
          <a:noFill/>
          <a:ln/>
        </p:spPr>
        <p:txBody>
          <a:bodyPr wrap="square" lIns="0" tIns="0" rIns="0" bIns="0" rtlCol="0" anchor="ctr"/>
          <a:lstStyle/>
          <a:p>
            <a:pPr indent="0" marL="0">
              <a:buNone/>
            </a:pPr>
            <a:r>
              <a:rPr lang="en-US" sz="950" dirty="0">
                <a:solidFill>
                  <a:srgbClr val="37474F"/>
                </a:solidFill>
                <a:latin typeface="Malgun Gothic" pitchFamily="34" charset="0"/>
                <a:ea typeface="Malgun Gothic" pitchFamily="34" charset="-122"/>
                <a:cs typeface="Malgun Gothic" pitchFamily="34" charset="-120"/>
              </a:rPr>
              <a:t>취소 편</a:t>
            </a:r>
            <a:endParaRPr lang="en-US" sz="950" dirty="0"/>
          </a:p>
        </p:txBody>
      </p:sp>
      <p:sp>
        <p:nvSpPr>
          <p:cNvPr id="19" name="Text 17"/>
          <p:cNvSpPr/>
          <p:nvPr/>
        </p:nvSpPr>
        <p:spPr>
          <a:xfrm>
            <a:off x="6217920" y="1600200"/>
            <a:ext cx="1005840" cy="246888"/>
          </a:xfrm>
          <a:prstGeom prst="rect">
            <a:avLst/>
          </a:prstGeom>
          <a:noFill/>
          <a:ln/>
        </p:spPr>
        <p:txBody>
          <a:bodyPr wrap="square" lIns="0" tIns="0" rIns="0" bIns="0" rtlCol="0" anchor="ctr"/>
          <a:lstStyle/>
          <a:p>
            <a:pPr algn="r" indent="0" marL="0">
              <a:buNone/>
            </a:pPr>
            <a:r>
              <a:rPr lang="en-US" sz="1150" b="1" dirty="0">
                <a:solidFill>
                  <a:srgbClr val="EF5350"/>
                </a:solidFill>
                <a:latin typeface="Malgun Gothic" pitchFamily="34" charset="0"/>
                <a:ea typeface="Malgun Gothic" pitchFamily="34" charset="-122"/>
                <a:cs typeface="Malgun Gothic" pitchFamily="34" charset="-120"/>
              </a:rPr>
              <a:t>3.4%</a:t>
            </a:r>
            <a:endParaRPr lang="en-US" sz="1150" dirty="0"/>
          </a:p>
        </p:txBody>
      </p:sp>
      <p:sp>
        <p:nvSpPr>
          <p:cNvPr id="20" name="Text 18"/>
          <p:cNvSpPr/>
          <p:nvPr/>
        </p:nvSpPr>
        <p:spPr>
          <a:xfrm>
            <a:off x="7269480" y="1627632"/>
            <a:ext cx="1280160" cy="228600"/>
          </a:xfrm>
          <a:prstGeom prst="rect">
            <a:avLst/>
          </a:prstGeom>
          <a:noFill/>
          <a:ln/>
        </p:spPr>
        <p:txBody>
          <a:bodyPr wrap="square" lIns="0" tIns="0" rIns="0" bIns="0" rtlCol="0" anchor="ctr"/>
          <a:lstStyle/>
          <a:p>
            <a:pPr indent="0" marL="0">
              <a:buNone/>
            </a:pPr>
            <a:r>
              <a:rPr lang="en-US" sz="850" i="1" dirty="0">
                <a:solidFill>
                  <a:srgbClr val="78909C"/>
                </a:solidFill>
                <a:latin typeface="Malgun Gothic" pitchFamily="34" charset="0"/>
                <a:ea typeface="Malgun Gothic" pitchFamily="34" charset="-122"/>
                <a:cs typeface="Malgun Gothic" pitchFamily="34" charset="-120"/>
              </a:rPr>
              <a:t>cancelled</a:t>
            </a:r>
            <a:endParaRPr lang="en-US" sz="850" dirty="0"/>
          </a:p>
        </p:txBody>
      </p:sp>
      <p:sp>
        <p:nvSpPr>
          <p:cNvPr id="21" name="Text 19"/>
          <p:cNvSpPr/>
          <p:nvPr/>
        </p:nvSpPr>
        <p:spPr>
          <a:xfrm>
            <a:off x="4572000" y="1874520"/>
            <a:ext cx="1645920" cy="246888"/>
          </a:xfrm>
          <a:prstGeom prst="rect">
            <a:avLst/>
          </a:prstGeom>
          <a:noFill/>
          <a:ln/>
        </p:spPr>
        <p:txBody>
          <a:bodyPr wrap="square" lIns="0" tIns="0" rIns="0" bIns="0" rtlCol="0" anchor="ctr"/>
          <a:lstStyle/>
          <a:p>
            <a:pPr indent="0" marL="0">
              <a:buNone/>
            </a:pPr>
            <a:r>
              <a:rPr lang="en-US" sz="950" dirty="0">
                <a:solidFill>
                  <a:srgbClr val="37474F"/>
                </a:solidFill>
                <a:latin typeface="Malgun Gothic" pitchFamily="34" charset="0"/>
                <a:ea typeface="Malgun Gothic" pitchFamily="34" charset="-122"/>
                <a:cs typeface="Malgun Gothic" pitchFamily="34" charset="-120"/>
              </a:rPr>
              <a:t>평균 도착 지연</a:t>
            </a:r>
            <a:endParaRPr lang="en-US" sz="950" dirty="0"/>
          </a:p>
        </p:txBody>
      </p:sp>
      <p:sp>
        <p:nvSpPr>
          <p:cNvPr id="22" name="Text 20"/>
          <p:cNvSpPr/>
          <p:nvPr/>
        </p:nvSpPr>
        <p:spPr>
          <a:xfrm>
            <a:off x="6217920" y="1874520"/>
            <a:ext cx="1005840" cy="246888"/>
          </a:xfrm>
          <a:prstGeom prst="rect">
            <a:avLst/>
          </a:prstGeom>
          <a:noFill/>
          <a:ln/>
        </p:spPr>
        <p:txBody>
          <a:bodyPr wrap="square" lIns="0" tIns="0" rIns="0" bIns="0" rtlCol="0" anchor="ctr"/>
          <a:lstStyle/>
          <a:p>
            <a:pPr algn="r" indent="0" marL="0">
              <a:buNone/>
            </a:pPr>
            <a:r>
              <a:rPr lang="en-US" sz="1150" b="1" dirty="0">
                <a:solidFill>
                  <a:srgbClr val="EF5350"/>
                </a:solidFill>
                <a:latin typeface="Malgun Gothic" pitchFamily="34" charset="0"/>
                <a:ea typeface="Malgun Gothic" pitchFamily="34" charset="-122"/>
                <a:cs typeface="Malgun Gothic" pitchFamily="34" charset="-120"/>
              </a:rPr>
              <a:t>6.2 분</a:t>
            </a:r>
            <a:endParaRPr lang="en-US" sz="1150" dirty="0"/>
          </a:p>
        </p:txBody>
      </p:sp>
      <p:sp>
        <p:nvSpPr>
          <p:cNvPr id="23" name="Text 21"/>
          <p:cNvSpPr/>
          <p:nvPr/>
        </p:nvSpPr>
        <p:spPr>
          <a:xfrm>
            <a:off x="7269480" y="1901952"/>
            <a:ext cx="1280160" cy="228600"/>
          </a:xfrm>
          <a:prstGeom prst="rect">
            <a:avLst/>
          </a:prstGeom>
          <a:noFill/>
          <a:ln/>
        </p:spPr>
        <p:txBody>
          <a:bodyPr wrap="square" lIns="0" tIns="0" rIns="0" bIns="0" rtlCol="0" anchor="ctr"/>
          <a:lstStyle/>
          <a:p>
            <a:pPr indent="0" marL="0">
              <a:buNone/>
            </a:pPr>
            <a:r>
              <a:rPr lang="en-US" sz="850" i="1" dirty="0">
                <a:solidFill>
                  <a:srgbClr val="78909C"/>
                </a:solidFill>
                <a:latin typeface="Malgun Gothic" pitchFamily="34" charset="0"/>
                <a:ea typeface="Malgun Gothic" pitchFamily="34" charset="-122"/>
                <a:cs typeface="Malgun Gothic" pitchFamily="34" charset="-120"/>
              </a:rPr>
              <a:t>mean arr delay</a:t>
            </a:r>
            <a:endParaRPr lang="en-US" sz="850" dirty="0"/>
          </a:p>
        </p:txBody>
      </p:sp>
      <p:sp>
        <p:nvSpPr>
          <p:cNvPr id="24" name="Text 22"/>
          <p:cNvSpPr/>
          <p:nvPr/>
        </p:nvSpPr>
        <p:spPr>
          <a:xfrm>
            <a:off x="4572000" y="2148840"/>
            <a:ext cx="1645920" cy="246888"/>
          </a:xfrm>
          <a:prstGeom prst="rect">
            <a:avLst/>
          </a:prstGeom>
          <a:noFill/>
          <a:ln/>
        </p:spPr>
        <p:txBody>
          <a:bodyPr wrap="square" lIns="0" tIns="0" rIns="0" bIns="0" rtlCol="0" anchor="ctr"/>
          <a:lstStyle/>
          <a:p>
            <a:pPr indent="0" marL="0">
              <a:buNone/>
            </a:pPr>
            <a:r>
              <a:rPr lang="en-US" sz="950" dirty="0">
                <a:solidFill>
                  <a:srgbClr val="37474F"/>
                </a:solidFill>
                <a:latin typeface="Malgun Gothic" pitchFamily="34" charset="0"/>
                <a:ea typeface="Malgun Gothic" pitchFamily="34" charset="-122"/>
                <a:cs typeface="Malgun Gothic" pitchFamily="34" charset="-120"/>
              </a:rPr>
              <a:t>최대 지연</a:t>
            </a:r>
            <a:endParaRPr lang="en-US" sz="950" dirty="0"/>
          </a:p>
        </p:txBody>
      </p:sp>
      <p:sp>
        <p:nvSpPr>
          <p:cNvPr id="25" name="Text 23"/>
          <p:cNvSpPr/>
          <p:nvPr/>
        </p:nvSpPr>
        <p:spPr>
          <a:xfrm>
            <a:off x="6217920" y="2148840"/>
            <a:ext cx="1005840" cy="246888"/>
          </a:xfrm>
          <a:prstGeom prst="rect">
            <a:avLst/>
          </a:prstGeom>
          <a:noFill/>
          <a:ln/>
        </p:spPr>
        <p:txBody>
          <a:bodyPr wrap="square" lIns="0" tIns="0" rIns="0" bIns="0" rtlCol="0" anchor="ctr"/>
          <a:lstStyle/>
          <a:p>
            <a:pPr algn="r" indent="0" marL="0">
              <a:buNone/>
            </a:pPr>
            <a:r>
              <a:rPr lang="en-US" sz="1150" b="1" dirty="0">
                <a:solidFill>
                  <a:srgbClr val="EF5350"/>
                </a:solidFill>
                <a:latin typeface="Malgun Gothic" pitchFamily="34" charset="0"/>
                <a:ea typeface="Malgun Gothic" pitchFamily="34" charset="-122"/>
                <a:cs typeface="Malgun Gothic" pitchFamily="34" charset="-120"/>
              </a:rPr>
              <a:t>1,971 분</a:t>
            </a:r>
            <a:endParaRPr lang="en-US" sz="1150" dirty="0"/>
          </a:p>
        </p:txBody>
      </p:sp>
      <p:sp>
        <p:nvSpPr>
          <p:cNvPr id="26" name="Text 24"/>
          <p:cNvSpPr/>
          <p:nvPr/>
        </p:nvSpPr>
        <p:spPr>
          <a:xfrm>
            <a:off x="7269480" y="2176272"/>
            <a:ext cx="1280160" cy="228600"/>
          </a:xfrm>
          <a:prstGeom prst="rect">
            <a:avLst/>
          </a:prstGeom>
          <a:noFill/>
          <a:ln/>
        </p:spPr>
        <p:txBody>
          <a:bodyPr wrap="square" lIns="0" tIns="0" rIns="0" bIns="0" rtlCol="0" anchor="ctr"/>
          <a:lstStyle/>
          <a:p>
            <a:pPr indent="0" marL="0">
              <a:buNone/>
            </a:pPr>
            <a:r>
              <a:rPr lang="en-US" sz="850" i="1" dirty="0">
                <a:solidFill>
                  <a:srgbClr val="78909C"/>
                </a:solidFill>
                <a:latin typeface="Malgun Gothic" pitchFamily="34" charset="0"/>
                <a:ea typeface="Malgun Gothic" pitchFamily="34" charset="-122"/>
                <a:cs typeface="Malgun Gothic" pitchFamily="34" charset="-120"/>
              </a:rPr>
              <a:t>worst case (32+ hrs)</a:t>
            </a:r>
            <a:endParaRPr lang="en-US" sz="850" dirty="0"/>
          </a:p>
        </p:txBody>
      </p:sp>
      <p:sp>
        <p:nvSpPr>
          <p:cNvPr id="27" name="Shape 25"/>
          <p:cNvSpPr/>
          <p:nvPr/>
        </p:nvSpPr>
        <p:spPr>
          <a:xfrm>
            <a:off x="457200" y="2697480"/>
            <a:ext cx="8138160" cy="2011680"/>
          </a:xfrm>
          <a:prstGeom prst="roundRect">
            <a:avLst>
              <a:gd name="adj" fmla="val 3636"/>
            </a:avLst>
          </a:prstGeom>
          <a:solidFill>
            <a:srgbClr val="FFFFFF"/>
          </a:solidFill>
          <a:ln w="12700">
            <a:solidFill>
              <a:srgbClr val="37474F"/>
            </a:solidFill>
            <a:prstDash val="solid"/>
          </a:ln>
        </p:spPr>
      </p:sp>
      <p:sp>
        <p:nvSpPr>
          <p:cNvPr id="28" name="Text 26"/>
          <p:cNvSpPr/>
          <p:nvPr/>
        </p:nvSpPr>
        <p:spPr>
          <a:xfrm>
            <a:off x="640080" y="2743200"/>
            <a:ext cx="7863840" cy="274320"/>
          </a:xfrm>
          <a:prstGeom prst="rect">
            <a:avLst/>
          </a:prstGeom>
          <a:noFill/>
          <a:ln/>
        </p:spPr>
        <p:txBody>
          <a:bodyPr wrap="square" lIns="0" tIns="0" rIns="0" bIns="0" rtlCol="0" anchor="ctr"/>
          <a:lstStyle/>
          <a:p>
            <a:pPr indent="0" marL="0">
              <a:buNone/>
            </a:pPr>
            <a:r>
              <a:rPr lang="en-US" sz="1200" b="1" dirty="0">
                <a:solidFill>
                  <a:srgbClr val="0B1F3A"/>
                </a:solidFill>
                <a:latin typeface="Malgun Gothic" pitchFamily="34" charset="0"/>
                <a:ea typeface="Malgun Gothic" pitchFamily="34" charset="-122"/>
                <a:cs typeface="Malgun Gothic" pitchFamily="34" charset="-120"/>
              </a:rPr>
              <a:t>지연 원인별 기여도 (Delay Cause Attribution)</a:t>
            </a:r>
            <a:endParaRPr lang="en-US" sz="1200" dirty="0"/>
          </a:p>
        </p:txBody>
      </p:sp>
      <p:sp>
        <p:nvSpPr>
          <p:cNvPr id="29" name="Text 27"/>
          <p:cNvSpPr/>
          <p:nvPr/>
        </p:nvSpPr>
        <p:spPr>
          <a:xfrm>
            <a:off x="640080" y="3108960"/>
            <a:ext cx="2103120" cy="274320"/>
          </a:xfrm>
          <a:prstGeom prst="rect">
            <a:avLst/>
          </a:prstGeom>
          <a:noFill/>
          <a:ln/>
        </p:spPr>
        <p:txBody>
          <a:bodyPr wrap="square" lIns="0" tIns="0" rIns="0" bIns="0" rtlCol="0" anchor="ctr"/>
          <a:lstStyle/>
          <a:p>
            <a:pPr indent="0" marL="0">
              <a:buNone/>
            </a:pPr>
            <a:r>
              <a:rPr lang="en-US" sz="950" b="1" dirty="0">
                <a:solidFill>
                  <a:srgbClr val="0B1F3A"/>
                </a:solidFill>
                <a:latin typeface="Malgun Gothic" pitchFamily="34" charset="0"/>
                <a:ea typeface="Malgun Gothic" pitchFamily="34" charset="-122"/>
                <a:cs typeface="Malgun Gothic" pitchFamily="34" charset="-120"/>
              </a:rPr>
              <a:t>전편 지연 (Cascade)</a:t>
            </a:r>
            <a:endParaRPr lang="en-US" sz="950" dirty="0"/>
          </a:p>
        </p:txBody>
      </p:sp>
      <p:sp>
        <p:nvSpPr>
          <p:cNvPr id="30" name="Shape 28"/>
          <p:cNvSpPr/>
          <p:nvPr/>
        </p:nvSpPr>
        <p:spPr>
          <a:xfrm>
            <a:off x="2834640" y="3145536"/>
            <a:ext cx="4978908" cy="201168"/>
          </a:xfrm>
          <a:prstGeom prst="rect">
            <a:avLst/>
          </a:prstGeom>
          <a:solidFill>
            <a:srgbClr val="EF5350"/>
          </a:solidFill>
          <a:ln w="12700">
            <a:solidFill>
              <a:srgbClr val="EF5350"/>
            </a:solidFill>
            <a:prstDash val="solid"/>
          </a:ln>
        </p:spPr>
      </p:sp>
      <p:sp>
        <p:nvSpPr>
          <p:cNvPr id="31" name="Text 29"/>
          <p:cNvSpPr/>
          <p:nvPr/>
        </p:nvSpPr>
        <p:spPr>
          <a:xfrm>
            <a:off x="7904988" y="3108960"/>
            <a:ext cx="731520" cy="274320"/>
          </a:xfrm>
          <a:prstGeom prst="rect">
            <a:avLst/>
          </a:prstGeom>
          <a:noFill/>
          <a:ln/>
        </p:spPr>
        <p:txBody>
          <a:bodyPr wrap="square" lIns="0" tIns="0" rIns="0" bIns="0" rtlCol="0" anchor="ctr"/>
          <a:lstStyle/>
          <a:p>
            <a:pPr indent="0" marL="0">
              <a:buNone/>
            </a:pPr>
            <a:r>
              <a:rPr lang="en-US" sz="1000" b="1" dirty="0">
                <a:solidFill>
                  <a:srgbClr val="EF5350"/>
                </a:solidFill>
                <a:latin typeface="Malgun Gothic" pitchFamily="34" charset="0"/>
                <a:ea typeface="Malgun Gothic" pitchFamily="34" charset="-122"/>
                <a:cs typeface="Malgun Gothic" pitchFamily="34" charset="-120"/>
              </a:rPr>
              <a:t>39.6%</a:t>
            </a:r>
            <a:endParaRPr lang="en-US" sz="1000" dirty="0"/>
          </a:p>
        </p:txBody>
      </p:sp>
      <p:sp>
        <p:nvSpPr>
          <p:cNvPr id="32" name="Text 30"/>
          <p:cNvSpPr/>
          <p:nvPr/>
        </p:nvSpPr>
        <p:spPr>
          <a:xfrm>
            <a:off x="7315200" y="3145536"/>
            <a:ext cx="1280160" cy="228600"/>
          </a:xfrm>
          <a:prstGeom prst="rect">
            <a:avLst/>
          </a:prstGeom>
          <a:noFill/>
          <a:ln/>
        </p:spPr>
        <p:txBody>
          <a:bodyPr wrap="square" lIns="0" tIns="0" rIns="0" bIns="0" rtlCol="0" anchor="ctr"/>
          <a:lstStyle/>
          <a:p>
            <a:pPr algn="r" indent="0" marL="0">
              <a:buNone/>
            </a:pPr>
            <a:r>
              <a:rPr lang="en-US" sz="850" i="1" dirty="0">
                <a:solidFill>
                  <a:srgbClr val="78909C"/>
                </a:solidFill>
                <a:latin typeface="Malgun Gothic" pitchFamily="34" charset="0"/>
                <a:ea typeface="Malgun Gothic" pitchFamily="34" charset="-122"/>
                <a:cs typeface="Malgun Gothic" pitchFamily="34" charset="-120"/>
              </a:rPr>
              <a:t>Late aircraft (reactionary)</a:t>
            </a:r>
            <a:endParaRPr lang="en-US" sz="850" dirty="0"/>
          </a:p>
        </p:txBody>
      </p:sp>
      <p:sp>
        <p:nvSpPr>
          <p:cNvPr id="33" name="Text 31"/>
          <p:cNvSpPr/>
          <p:nvPr/>
        </p:nvSpPr>
        <p:spPr>
          <a:xfrm>
            <a:off x="640080" y="3401568"/>
            <a:ext cx="2103120" cy="274320"/>
          </a:xfrm>
          <a:prstGeom prst="rect">
            <a:avLst/>
          </a:prstGeom>
          <a:noFill/>
          <a:ln/>
        </p:spPr>
        <p:txBody>
          <a:bodyPr wrap="square" lIns="0" tIns="0" rIns="0" bIns="0" rtlCol="0" anchor="ctr"/>
          <a:lstStyle/>
          <a:p>
            <a:pPr indent="0" marL="0">
              <a:buNone/>
            </a:pPr>
            <a:r>
              <a:rPr lang="en-US" sz="950" b="1" dirty="0">
                <a:solidFill>
                  <a:srgbClr val="0B1F3A"/>
                </a:solidFill>
                <a:latin typeface="Malgun Gothic" pitchFamily="34" charset="0"/>
                <a:ea typeface="Malgun Gothic" pitchFamily="34" charset="-122"/>
                <a:cs typeface="Malgun Gothic" pitchFamily="34" charset="-120"/>
              </a:rPr>
              <a:t>항공사 귀책</a:t>
            </a:r>
            <a:endParaRPr lang="en-US" sz="950" dirty="0"/>
          </a:p>
        </p:txBody>
      </p:sp>
      <p:sp>
        <p:nvSpPr>
          <p:cNvPr id="34" name="Shape 32"/>
          <p:cNvSpPr/>
          <p:nvPr/>
        </p:nvSpPr>
        <p:spPr>
          <a:xfrm>
            <a:off x="2834640" y="3438144"/>
            <a:ext cx="3922776" cy="201168"/>
          </a:xfrm>
          <a:prstGeom prst="rect">
            <a:avLst/>
          </a:prstGeom>
          <a:solidFill>
            <a:srgbClr val="FFB300"/>
          </a:solidFill>
          <a:ln w="12700">
            <a:solidFill>
              <a:srgbClr val="FFB300"/>
            </a:solidFill>
            <a:prstDash val="solid"/>
          </a:ln>
        </p:spPr>
      </p:sp>
      <p:sp>
        <p:nvSpPr>
          <p:cNvPr id="35" name="Text 33"/>
          <p:cNvSpPr/>
          <p:nvPr/>
        </p:nvSpPr>
        <p:spPr>
          <a:xfrm>
            <a:off x="6848856" y="3401568"/>
            <a:ext cx="731520" cy="274320"/>
          </a:xfrm>
          <a:prstGeom prst="rect">
            <a:avLst/>
          </a:prstGeom>
          <a:noFill/>
          <a:ln/>
        </p:spPr>
        <p:txBody>
          <a:bodyPr wrap="square" lIns="0" tIns="0" rIns="0" bIns="0" rtlCol="0" anchor="ctr"/>
          <a:lstStyle/>
          <a:p>
            <a:pPr indent="0" marL="0">
              <a:buNone/>
            </a:pPr>
            <a:r>
              <a:rPr lang="en-US" sz="1000" b="1" dirty="0">
                <a:solidFill>
                  <a:srgbClr val="FFB300"/>
                </a:solidFill>
                <a:latin typeface="Malgun Gothic" pitchFamily="34" charset="0"/>
                <a:ea typeface="Malgun Gothic" pitchFamily="34" charset="-122"/>
                <a:cs typeface="Malgun Gothic" pitchFamily="34" charset="-120"/>
              </a:rPr>
              <a:t>31.2%</a:t>
            </a:r>
            <a:endParaRPr lang="en-US" sz="1000" dirty="0"/>
          </a:p>
        </p:txBody>
      </p:sp>
      <p:sp>
        <p:nvSpPr>
          <p:cNvPr id="36" name="Text 34"/>
          <p:cNvSpPr/>
          <p:nvPr/>
        </p:nvSpPr>
        <p:spPr>
          <a:xfrm>
            <a:off x="7315200" y="3438144"/>
            <a:ext cx="1280160" cy="228600"/>
          </a:xfrm>
          <a:prstGeom prst="rect">
            <a:avLst/>
          </a:prstGeom>
          <a:noFill/>
          <a:ln/>
        </p:spPr>
        <p:txBody>
          <a:bodyPr wrap="square" lIns="0" tIns="0" rIns="0" bIns="0" rtlCol="0" anchor="ctr"/>
          <a:lstStyle/>
          <a:p>
            <a:pPr algn="r" indent="0" marL="0">
              <a:buNone/>
            </a:pPr>
            <a:r>
              <a:rPr lang="en-US" sz="850" i="1" dirty="0">
                <a:solidFill>
                  <a:srgbClr val="78909C"/>
                </a:solidFill>
                <a:latin typeface="Malgun Gothic" pitchFamily="34" charset="0"/>
                <a:ea typeface="Malgun Gothic" pitchFamily="34" charset="-122"/>
                <a:cs typeface="Malgun Gothic" pitchFamily="34" charset="-120"/>
              </a:rPr>
              <a:t>Carrier</a:t>
            </a:r>
            <a:endParaRPr lang="en-US" sz="850" dirty="0"/>
          </a:p>
        </p:txBody>
      </p:sp>
      <p:sp>
        <p:nvSpPr>
          <p:cNvPr id="37" name="Text 35"/>
          <p:cNvSpPr/>
          <p:nvPr/>
        </p:nvSpPr>
        <p:spPr>
          <a:xfrm>
            <a:off x="640080" y="3694176"/>
            <a:ext cx="2103120" cy="274320"/>
          </a:xfrm>
          <a:prstGeom prst="rect">
            <a:avLst/>
          </a:prstGeom>
          <a:noFill/>
          <a:ln/>
        </p:spPr>
        <p:txBody>
          <a:bodyPr wrap="square" lIns="0" tIns="0" rIns="0" bIns="0" rtlCol="0" anchor="ctr"/>
          <a:lstStyle/>
          <a:p>
            <a:pPr indent="0" marL="0">
              <a:buNone/>
            </a:pPr>
            <a:r>
              <a:rPr lang="en-US" sz="950" b="1" dirty="0">
                <a:solidFill>
                  <a:srgbClr val="0B1F3A"/>
                </a:solidFill>
                <a:latin typeface="Malgun Gothic" pitchFamily="34" charset="0"/>
                <a:ea typeface="Malgun Gothic" pitchFamily="34" charset="-122"/>
                <a:cs typeface="Malgun Gothic" pitchFamily="34" charset="-120"/>
              </a:rPr>
              <a:t>국가항공시스템 NAS</a:t>
            </a:r>
            <a:endParaRPr lang="en-US" sz="950" dirty="0"/>
          </a:p>
        </p:txBody>
      </p:sp>
      <p:sp>
        <p:nvSpPr>
          <p:cNvPr id="38" name="Shape 36"/>
          <p:cNvSpPr/>
          <p:nvPr/>
        </p:nvSpPr>
        <p:spPr>
          <a:xfrm>
            <a:off x="2834640" y="3730752"/>
            <a:ext cx="2929509" cy="201168"/>
          </a:xfrm>
          <a:prstGeom prst="rect">
            <a:avLst/>
          </a:prstGeom>
          <a:solidFill>
            <a:srgbClr val="1E88E5"/>
          </a:solidFill>
          <a:ln w="12700">
            <a:solidFill>
              <a:srgbClr val="1E88E5"/>
            </a:solidFill>
            <a:prstDash val="solid"/>
          </a:ln>
        </p:spPr>
      </p:sp>
      <p:sp>
        <p:nvSpPr>
          <p:cNvPr id="39" name="Text 37"/>
          <p:cNvSpPr/>
          <p:nvPr/>
        </p:nvSpPr>
        <p:spPr>
          <a:xfrm>
            <a:off x="5855589" y="3694176"/>
            <a:ext cx="731520" cy="274320"/>
          </a:xfrm>
          <a:prstGeom prst="rect">
            <a:avLst/>
          </a:prstGeom>
          <a:noFill/>
          <a:ln/>
        </p:spPr>
        <p:txBody>
          <a:bodyPr wrap="square" lIns="0" tIns="0" rIns="0" bIns="0" rtlCol="0" anchor="ctr"/>
          <a:lstStyle/>
          <a:p>
            <a:pPr indent="0" marL="0">
              <a:buNone/>
            </a:pPr>
            <a:r>
              <a:rPr lang="en-US" sz="1000" b="1" dirty="0">
                <a:solidFill>
                  <a:srgbClr val="1E88E5"/>
                </a:solidFill>
                <a:latin typeface="Malgun Gothic" pitchFamily="34" charset="0"/>
                <a:ea typeface="Malgun Gothic" pitchFamily="34" charset="-122"/>
                <a:cs typeface="Malgun Gothic" pitchFamily="34" charset="-120"/>
              </a:rPr>
              <a:t>23.3%</a:t>
            </a:r>
            <a:endParaRPr lang="en-US" sz="1000" dirty="0"/>
          </a:p>
        </p:txBody>
      </p:sp>
      <p:sp>
        <p:nvSpPr>
          <p:cNvPr id="40" name="Text 38"/>
          <p:cNvSpPr/>
          <p:nvPr/>
        </p:nvSpPr>
        <p:spPr>
          <a:xfrm>
            <a:off x="7315200" y="3730752"/>
            <a:ext cx="1280160" cy="228600"/>
          </a:xfrm>
          <a:prstGeom prst="rect">
            <a:avLst/>
          </a:prstGeom>
          <a:noFill/>
          <a:ln/>
        </p:spPr>
        <p:txBody>
          <a:bodyPr wrap="square" lIns="0" tIns="0" rIns="0" bIns="0" rtlCol="0" anchor="ctr"/>
          <a:lstStyle/>
          <a:p>
            <a:pPr algn="r" indent="0" marL="0">
              <a:buNone/>
            </a:pPr>
            <a:r>
              <a:rPr lang="en-US" sz="850" i="1" dirty="0">
                <a:solidFill>
                  <a:srgbClr val="78909C"/>
                </a:solidFill>
                <a:latin typeface="Malgun Gothic" pitchFamily="34" charset="0"/>
                <a:ea typeface="Malgun Gothic" pitchFamily="34" charset="-122"/>
                <a:cs typeface="Malgun Gothic" pitchFamily="34" charset="-120"/>
              </a:rPr>
              <a:t>National Air System</a:t>
            </a:r>
            <a:endParaRPr lang="en-US" sz="850" dirty="0"/>
          </a:p>
        </p:txBody>
      </p:sp>
      <p:sp>
        <p:nvSpPr>
          <p:cNvPr id="41" name="Text 39"/>
          <p:cNvSpPr/>
          <p:nvPr/>
        </p:nvSpPr>
        <p:spPr>
          <a:xfrm>
            <a:off x="640080" y="3986784"/>
            <a:ext cx="2103120" cy="274320"/>
          </a:xfrm>
          <a:prstGeom prst="rect">
            <a:avLst/>
          </a:prstGeom>
          <a:noFill/>
          <a:ln/>
        </p:spPr>
        <p:txBody>
          <a:bodyPr wrap="square" lIns="0" tIns="0" rIns="0" bIns="0" rtlCol="0" anchor="ctr"/>
          <a:lstStyle/>
          <a:p>
            <a:pPr indent="0" marL="0">
              <a:buNone/>
            </a:pPr>
            <a:r>
              <a:rPr lang="en-US" sz="950" b="1" dirty="0">
                <a:solidFill>
                  <a:srgbClr val="0B1F3A"/>
                </a:solidFill>
                <a:latin typeface="Malgun Gothic" pitchFamily="34" charset="0"/>
                <a:ea typeface="Malgun Gothic" pitchFamily="34" charset="-122"/>
                <a:cs typeface="Malgun Gothic" pitchFamily="34" charset="-120"/>
              </a:rPr>
              <a:t>기상</a:t>
            </a:r>
            <a:endParaRPr lang="en-US" sz="950" dirty="0"/>
          </a:p>
        </p:txBody>
      </p:sp>
      <p:sp>
        <p:nvSpPr>
          <p:cNvPr id="42" name="Shape 40"/>
          <p:cNvSpPr/>
          <p:nvPr/>
        </p:nvSpPr>
        <p:spPr>
          <a:xfrm>
            <a:off x="2834640" y="4023360"/>
            <a:ext cx="716661" cy="201168"/>
          </a:xfrm>
          <a:prstGeom prst="rect">
            <a:avLst/>
          </a:prstGeom>
          <a:solidFill>
            <a:srgbClr val="00897B"/>
          </a:solidFill>
          <a:ln w="12700">
            <a:solidFill>
              <a:srgbClr val="00897B"/>
            </a:solidFill>
            <a:prstDash val="solid"/>
          </a:ln>
        </p:spPr>
      </p:sp>
      <p:sp>
        <p:nvSpPr>
          <p:cNvPr id="43" name="Text 41"/>
          <p:cNvSpPr/>
          <p:nvPr/>
        </p:nvSpPr>
        <p:spPr>
          <a:xfrm>
            <a:off x="3642741" y="3986784"/>
            <a:ext cx="731520" cy="274320"/>
          </a:xfrm>
          <a:prstGeom prst="rect">
            <a:avLst/>
          </a:prstGeom>
          <a:noFill/>
          <a:ln/>
        </p:spPr>
        <p:txBody>
          <a:bodyPr wrap="square" lIns="0" tIns="0" rIns="0" bIns="0" rtlCol="0" anchor="ctr"/>
          <a:lstStyle/>
          <a:p>
            <a:pPr indent="0" marL="0">
              <a:buNone/>
            </a:pPr>
            <a:r>
              <a:rPr lang="en-US" sz="1000" b="1" dirty="0">
                <a:solidFill>
                  <a:srgbClr val="00897B"/>
                </a:solidFill>
                <a:latin typeface="Malgun Gothic" pitchFamily="34" charset="0"/>
                <a:ea typeface="Malgun Gothic" pitchFamily="34" charset="-122"/>
                <a:cs typeface="Malgun Gothic" pitchFamily="34" charset="-120"/>
              </a:rPr>
              <a:t>5.7%</a:t>
            </a:r>
            <a:endParaRPr lang="en-US" sz="1000" dirty="0"/>
          </a:p>
        </p:txBody>
      </p:sp>
      <p:sp>
        <p:nvSpPr>
          <p:cNvPr id="44" name="Text 42"/>
          <p:cNvSpPr/>
          <p:nvPr/>
        </p:nvSpPr>
        <p:spPr>
          <a:xfrm>
            <a:off x="7315200" y="4023360"/>
            <a:ext cx="1280160" cy="228600"/>
          </a:xfrm>
          <a:prstGeom prst="rect">
            <a:avLst/>
          </a:prstGeom>
          <a:noFill/>
          <a:ln/>
        </p:spPr>
        <p:txBody>
          <a:bodyPr wrap="square" lIns="0" tIns="0" rIns="0" bIns="0" rtlCol="0" anchor="ctr"/>
          <a:lstStyle/>
          <a:p>
            <a:pPr algn="r" indent="0" marL="0">
              <a:buNone/>
            </a:pPr>
            <a:r>
              <a:rPr lang="en-US" sz="850" i="1" dirty="0">
                <a:solidFill>
                  <a:srgbClr val="78909C"/>
                </a:solidFill>
                <a:latin typeface="Malgun Gothic" pitchFamily="34" charset="0"/>
                <a:ea typeface="Malgun Gothic" pitchFamily="34" charset="-122"/>
                <a:cs typeface="Malgun Gothic" pitchFamily="34" charset="-120"/>
              </a:rPr>
              <a:t>Weather</a:t>
            </a:r>
            <a:endParaRPr lang="en-US" sz="850" dirty="0"/>
          </a:p>
        </p:txBody>
      </p:sp>
      <p:sp>
        <p:nvSpPr>
          <p:cNvPr id="45" name="Text 43"/>
          <p:cNvSpPr/>
          <p:nvPr/>
        </p:nvSpPr>
        <p:spPr>
          <a:xfrm>
            <a:off x="640080" y="4279392"/>
            <a:ext cx="2103120" cy="274320"/>
          </a:xfrm>
          <a:prstGeom prst="rect">
            <a:avLst/>
          </a:prstGeom>
          <a:noFill/>
          <a:ln/>
        </p:spPr>
        <p:txBody>
          <a:bodyPr wrap="square" lIns="0" tIns="0" rIns="0" bIns="0" rtlCol="0" anchor="ctr"/>
          <a:lstStyle/>
          <a:p>
            <a:pPr indent="0" marL="0">
              <a:buNone/>
            </a:pPr>
            <a:r>
              <a:rPr lang="en-US" sz="950" b="1" dirty="0">
                <a:solidFill>
                  <a:srgbClr val="0B1F3A"/>
                </a:solidFill>
                <a:latin typeface="Malgun Gothic" pitchFamily="34" charset="0"/>
                <a:ea typeface="Malgun Gothic" pitchFamily="34" charset="-122"/>
                <a:cs typeface="Malgun Gothic" pitchFamily="34" charset="-120"/>
              </a:rPr>
              <a:t>보안</a:t>
            </a:r>
            <a:endParaRPr lang="en-US" sz="950" dirty="0"/>
          </a:p>
        </p:txBody>
      </p:sp>
      <p:sp>
        <p:nvSpPr>
          <p:cNvPr id="46" name="Shape 44"/>
          <p:cNvSpPr/>
          <p:nvPr/>
        </p:nvSpPr>
        <p:spPr>
          <a:xfrm>
            <a:off x="2834640" y="4315968"/>
            <a:ext cx="12573" cy="201168"/>
          </a:xfrm>
          <a:prstGeom prst="rect">
            <a:avLst/>
          </a:prstGeom>
          <a:solidFill>
            <a:srgbClr val="78909C"/>
          </a:solidFill>
          <a:ln w="12700">
            <a:solidFill>
              <a:srgbClr val="78909C"/>
            </a:solidFill>
            <a:prstDash val="solid"/>
          </a:ln>
        </p:spPr>
      </p:sp>
      <p:sp>
        <p:nvSpPr>
          <p:cNvPr id="47" name="Text 45"/>
          <p:cNvSpPr/>
          <p:nvPr/>
        </p:nvSpPr>
        <p:spPr>
          <a:xfrm>
            <a:off x="2938653" y="4279392"/>
            <a:ext cx="731520" cy="274320"/>
          </a:xfrm>
          <a:prstGeom prst="rect">
            <a:avLst/>
          </a:prstGeom>
          <a:noFill/>
          <a:ln/>
        </p:spPr>
        <p:txBody>
          <a:bodyPr wrap="square" lIns="0" tIns="0" rIns="0" bIns="0" rtlCol="0" anchor="ctr"/>
          <a:lstStyle/>
          <a:p>
            <a:pPr indent="0" marL="0">
              <a:buNone/>
            </a:pPr>
            <a:r>
              <a:rPr lang="en-US" sz="1000" b="1" dirty="0">
                <a:solidFill>
                  <a:srgbClr val="78909C"/>
                </a:solidFill>
                <a:latin typeface="Malgun Gothic" pitchFamily="34" charset="0"/>
                <a:ea typeface="Malgun Gothic" pitchFamily="34" charset="-122"/>
                <a:cs typeface="Malgun Gothic" pitchFamily="34" charset="-120"/>
              </a:rPr>
              <a:t>0.1%</a:t>
            </a:r>
            <a:endParaRPr lang="en-US" sz="1000" dirty="0"/>
          </a:p>
        </p:txBody>
      </p:sp>
      <p:sp>
        <p:nvSpPr>
          <p:cNvPr id="48" name="Text 46"/>
          <p:cNvSpPr/>
          <p:nvPr/>
        </p:nvSpPr>
        <p:spPr>
          <a:xfrm>
            <a:off x="7315200" y="4315968"/>
            <a:ext cx="1280160" cy="228600"/>
          </a:xfrm>
          <a:prstGeom prst="rect">
            <a:avLst/>
          </a:prstGeom>
          <a:noFill/>
          <a:ln/>
        </p:spPr>
        <p:txBody>
          <a:bodyPr wrap="square" lIns="0" tIns="0" rIns="0" bIns="0" rtlCol="0" anchor="ctr"/>
          <a:lstStyle/>
          <a:p>
            <a:pPr algn="r" indent="0" marL="0">
              <a:buNone/>
            </a:pPr>
            <a:r>
              <a:rPr lang="en-US" sz="850" i="1" dirty="0">
                <a:solidFill>
                  <a:srgbClr val="78909C"/>
                </a:solidFill>
                <a:latin typeface="Malgun Gothic" pitchFamily="34" charset="0"/>
                <a:ea typeface="Malgun Gothic" pitchFamily="34" charset="-122"/>
                <a:cs typeface="Malgun Gothic" pitchFamily="34" charset="-120"/>
              </a:rPr>
              <a:t>Security</a:t>
            </a:r>
            <a:endParaRPr lang="en-US" sz="850" dirty="0"/>
          </a:p>
        </p:txBody>
      </p:sp>
      <p:sp>
        <p:nvSpPr>
          <p:cNvPr id="49" name="Text 47"/>
          <p:cNvSpPr/>
          <p:nvPr/>
        </p:nvSpPr>
        <p:spPr>
          <a:xfrm>
            <a:off x="640080" y="4434840"/>
            <a:ext cx="7863840" cy="228600"/>
          </a:xfrm>
          <a:prstGeom prst="rect">
            <a:avLst/>
          </a:prstGeom>
          <a:noFill/>
          <a:ln/>
        </p:spPr>
        <p:txBody>
          <a:bodyPr wrap="square" lIns="0" tIns="0" rIns="0" bIns="0" rtlCol="0" anchor="ctr"/>
          <a:lstStyle/>
          <a:p>
            <a:pPr indent="0" marL="0">
              <a:buNone/>
            </a:pPr>
            <a:r>
              <a:rPr lang="en-US" sz="900" b="1" i="1" dirty="0">
                <a:solidFill>
                  <a:srgbClr val="FFB300"/>
                </a:solidFill>
                <a:latin typeface="Malgun Gothic" pitchFamily="34" charset="0"/>
                <a:ea typeface="Malgun Gothic" pitchFamily="34" charset="-122"/>
                <a:cs typeface="Malgun Gothic" pitchFamily="34" charset="-120"/>
              </a:rPr>
              <a:t>💡 전편 지연 39.6% → Rotation features 5 종 추가의 근거 (P1 · 슬라이드 16)</a:t>
            </a:r>
            <a:endParaRPr lang="en-US" sz="900" dirty="0"/>
          </a:p>
        </p:txBody>
      </p:sp>
      <p:sp>
        <p:nvSpPr>
          <p:cNvPr id="50" name="Shape 48"/>
          <p:cNvSpPr/>
          <p:nvPr/>
        </p:nvSpPr>
        <p:spPr>
          <a:xfrm>
            <a:off x="0" y="4892040"/>
            <a:ext cx="9144000" cy="256032"/>
          </a:xfrm>
          <a:prstGeom prst="rect">
            <a:avLst/>
          </a:prstGeom>
          <a:solidFill>
            <a:srgbClr val="0B1F3A"/>
          </a:solidFill>
          <a:ln w="12700">
            <a:solidFill>
              <a:srgbClr val="0B1F3A"/>
            </a:solidFill>
            <a:prstDash val="solid"/>
          </a:ln>
        </p:spPr>
      </p:sp>
      <p:sp>
        <p:nvSpPr>
          <p:cNvPr id="51" name="Text 49"/>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52" name="Text 50"/>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9 / 30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04 · DATA FORMAT</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데이터 포맷의 진화</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From JSON to Avro — why the upgrade?</a:t>
            </a:r>
            <a:endParaRPr lang="en-US" sz="1050" dirty="0"/>
          </a:p>
        </p:txBody>
      </p:sp>
      <p:sp>
        <p:nvSpPr>
          <p:cNvPr id="7" name="Shape 5"/>
          <p:cNvSpPr/>
          <p:nvPr/>
        </p:nvSpPr>
        <p:spPr>
          <a:xfrm>
            <a:off x="457200" y="960120"/>
            <a:ext cx="2560320" cy="3749040"/>
          </a:xfrm>
          <a:prstGeom prst="roundRect">
            <a:avLst>
              <a:gd name="adj" fmla="val 3571"/>
            </a:avLst>
          </a:prstGeom>
          <a:solidFill>
            <a:srgbClr val="FFFFFF"/>
          </a:solidFill>
          <a:ln w="25400">
            <a:solidFill>
              <a:srgbClr val="FFB300"/>
            </a:solidFill>
            <a:prstDash val="solid"/>
          </a:ln>
        </p:spPr>
      </p:sp>
      <p:sp>
        <p:nvSpPr>
          <p:cNvPr id="8" name="Shape 6"/>
          <p:cNvSpPr/>
          <p:nvPr/>
        </p:nvSpPr>
        <p:spPr>
          <a:xfrm>
            <a:off x="457200" y="960120"/>
            <a:ext cx="2560320" cy="457200"/>
          </a:xfrm>
          <a:prstGeom prst="rect">
            <a:avLst/>
          </a:prstGeom>
          <a:solidFill>
            <a:srgbClr val="FFB300"/>
          </a:solidFill>
          <a:ln w="12700">
            <a:solidFill>
              <a:srgbClr val="FFB300"/>
            </a:solidFill>
            <a:prstDash val="solid"/>
          </a:ln>
        </p:spPr>
      </p:sp>
      <p:sp>
        <p:nvSpPr>
          <p:cNvPr id="9" name="Text 7"/>
          <p:cNvSpPr/>
          <p:nvPr/>
        </p:nvSpPr>
        <p:spPr>
          <a:xfrm>
            <a:off x="457200" y="96012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JSON</a:t>
            </a:r>
            <a:endParaRPr lang="en-US" sz="1800" dirty="0"/>
          </a:p>
        </p:txBody>
      </p:sp>
      <p:sp>
        <p:nvSpPr>
          <p:cNvPr id="10" name="Text 8"/>
          <p:cNvSpPr/>
          <p:nvPr/>
        </p:nvSpPr>
        <p:spPr>
          <a:xfrm>
            <a:off x="594360" y="1508760"/>
            <a:ext cx="2286000" cy="457200"/>
          </a:xfrm>
          <a:prstGeom prst="rect">
            <a:avLst/>
          </a:prstGeom>
          <a:noFill/>
          <a:ln/>
        </p:spPr>
        <p:txBody>
          <a:bodyPr wrap="square" lIns="0" tIns="0" rIns="0" bIns="0" rtlCol="0" anchor="ctr"/>
          <a:lstStyle/>
          <a:p>
            <a:pPr algn="ctr" indent="0" marL="0">
              <a:buNone/>
            </a:pPr>
            <a:r>
              <a:rPr lang="en-US" sz="1000" dirty="0">
                <a:solidFill>
                  <a:srgbClr val="37474F"/>
                </a:solidFill>
                <a:latin typeface="Malgun Gothic" pitchFamily="34" charset="0"/>
                <a:ea typeface="Malgun Gothic" pitchFamily="34" charset="-122"/>
                <a:cs typeface="Malgun Gothic" pitchFamily="34" charset="-120"/>
              </a:rPr>
              <a:t>읽기 쉬움</a:t>
            </a:r>
            <a:endParaRPr lang="en-US" sz="1000" dirty="0"/>
          </a:p>
          <a:p>
            <a:pPr algn="ctr" indent="0" marL="0">
              <a:buNone/>
            </a:pPr>
            <a:r>
              <a:rPr lang="en-US" sz="1000" dirty="0">
                <a:solidFill>
                  <a:srgbClr val="37474F"/>
                </a:solidFill>
                <a:latin typeface="Malgun Gothic" pitchFamily="34" charset="0"/>
                <a:ea typeface="Malgun Gothic" pitchFamily="34" charset="-122"/>
                <a:cs typeface="Malgun Gothic" pitchFamily="34" charset="-120"/>
              </a:rPr>
              <a:t>human-readable</a:t>
            </a:r>
            <a:endParaRPr lang="en-US" sz="1000" dirty="0"/>
          </a:p>
        </p:txBody>
      </p:sp>
      <p:sp>
        <p:nvSpPr>
          <p:cNvPr id="11" name="Text 9"/>
          <p:cNvSpPr/>
          <p:nvPr/>
        </p:nvSpPr>
        <p:spPr>
          <a:xfrm>
            <a:off x="594360" y="1920240"/>
            <a:ext cx="2286000" cy="274320"/>
          </a:xfrm>
          <a:prstGeom prst="rect">
            <a:avLst/>
          </a:prstGeom>
          <a:noFill/>
          <a:ln/>
        </p:spPr>
        <p:txBody>
          <a:bodyPr wrap="square" lIns="0" tIns="0" rIns="0" bIns="0" rtlCol="0" anchor="ctr"/>
          <a:lstStyle/>
          <a:p>
            <a:pPr algn="ctr" indent="0" marL="0">
              <a:buNone/>
            </a:pPr>
            <a:r>
              <a:rPr lang="en-US" sz="1100" b="1" dirty="0">
                <a:solidFill>
                  <a:srgbClr val="FFB300"/>
                </a:solidFill>
                <a:latin typeface="Consolas" pitchFamily="34" charset="0"/>
                <a:ea typeface="Consolas" pitchFamily="34" charset="-122"/>
                <a:cs typeface="Consolas" pitchFamily="34" charset="-120"/>
              </a:rPr>
              <a:t>1 record ≈ 100 B</a:t>
            </a:r>
            <a:endParaRPr lang="en-US" sz="1100" dirty="0"/>
          </a:p>
        </p:txBody>
      </p:sp>
      <p:sp>
        <p:nvSpPr>
          <p:cNvPr id="12" name="Text 10"/>
          <p:cNvSpPr/>
          <p:nvPr/>
        </p:nvSpPr>
        <p:spPr>
          <a:xfrm>
            <a:off x="594360" y="2286000"/>
            <a:ext cx="2286000" cy="228600"/>
          </a:xfrm>
          <a:prstGeom prst="rect">
            <a:avLst/>
          </a:prstGeom>
          <a:noFill/>
          <a:ln/>
        </p:spPr>
        <p:txBody>
          <a:bodyPr wrap="square" lIns="0" tIns="0" rIns="0" bIns="0" rtlCol="0" anchor="ctr"/>
          <a:lstStyle/>
          <a:p>
            <a:pPr indent="0" marL="0">
              <a:buNone/>
            </a:pPr>
            <a:r>
              <a:rPr lang="en-US" sz="1000" b="1" dirty="0">
                <a:solidFill>
                  <a:srgbClr val="43A047"/>
                </a:solidFill>
                <a:latin typeface="Malgun Gothic" pitchFamily="34" charset="0"/>
                <a:ea typeface="Malgun Gothic" pitchFamily="34" charset="-122"/>
                <a:cs typeface="Malgun Gothic" pitchFamily="34" charset="-120"/>
              </a:rPr>
              <a:t>✅ 장점 (Pros)</a:t>
            </a:r>
            <a:endParaRPr lang="en-US" sz="1000" dirty="0"/>
          </a:p>
        </p:txBody>
      </p:sp>
      <p:sp>
        <p:nvSpPr>
          <p:cNvPr id="13" name="Text 11"/>
          <p:cNvSpPr/>
          <p:nvPr/>
        </p:nvSpPr>
        <p:spPr>
          <a:xfrm>
            <a:off x="640080" y="2542032"/>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사람 읽기 쉬움</a:t>
            </a:r>
            <a:endParaRPr lang="en-US" sz="900" dirty="0"/>
          </a:p>
        </p:txBody>
      </p:sp>
      <p:sp>
        <p:nvSpPr>
          <p:cNvPr id="14" name="Text 12"/>
          <p:cNvSpPr/>
          <p:nvPr/>
        </p:nvSpPr>
        <p:spPr>
          <a:xfrm>
            <a:off x="640080" y="2743200"/>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debug 편함</a:t>
            </a:r>
            <a:endParaRPr lang="en-US" sz="900" dirty="0"/>
          </a:p>
        </p:txBody>
      </p:sp>
      <p:sp>
        <p:nvSpPr>
          <p:cNvPr id="15" name="Text 13"/>
          <p:cNvSpPr/>
          <p:nvPr/>
        </p:nvSpPr>
        <p:spPr>
          <a:xfrm>
            <a:off x="594360" y="3081528"/>
            <a:ext cx="2286000" cy="228600"/>
          </a:xfrm>
          <a:prstGeom prst="rect">
            <a:avLst/>
          </a:prstGeom>
          <a:noFill/>
          <a:ln/>
        </p:spPr>
        <p:txBody>
          <a:bodyPr wrap="square" lIns="0" tIns="0" rIns="0" bIns="0" rtlCol="0" anchor="ctr"/>
          <a:lstStyle/>
          <a:p>
            <a:pPr indent="0" marL="0">
              <a:buNone/>
            </a:pPr>
            <a:r>
              <a:rPr lang="en-US" sz="1000" b="1" dirty="0">
                <a:solidFill>
                  <a:srgbClr val="EF5350"/>
                </a:solidFill>
                <a:latin typeface="Malgun Gothic" pitchFamily="34" charset="0"/>
                <a:ea typeface="Malgun Gothic" pitchFamily="34" charset="-122"/>
                <a:cs typeface="Malgun Gothic" pitchFamily="34" charset="-120"/>
              </a:rPr>
              <a:t>❌ 단점 (Cons)</a:t>
            </a:r>
            <a:endParaRPr lang="en-US" sz="1000" dirty="0"/>
          </a:p>
        </p:txBody>
      </p:sp>
      <p:sp>
        <p:nvSpPr>
          <p:cNvPr id="16" name="Text 14"/>
          <p:cNvSpPr/>
          <p:nvPr/>
        </p:nvSpPr>
        <p:spPr>
          <a:xfrm>
            <a:off x="640080" y="3337560"/>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스키마 없음</a:t>
            </a:r>
            <a:endParaRPr lang="en-US" sz="900" dirty="0"/>
          </a:p>
        </p:txBody>
      </p:sp>
      <p:sp>
        <p:nvSpPr>
          <p:cNvPr id="17" name="Text 15"/>
          <p:cNvSpPr/>
          <p:nvPr/>
        </p:nvSpPr>
        <p:spPr>
          <a:xfrm>
            <a:off x="640080" y="3538728"/>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타입 없음</a:t>
            </a:r>
            <a:endParaRPr lang="en-US" sz="900" dirty="0"/>
          </a:p>
        </p:txBody>
      </p:sp>
      <p:sp>
        <p:nvSpPr>
          <p:cNvPr id="18" name="Text 16"/>
          <p:cNvSpPr/>
          <p:nvPr/>
        </p:nvSpPr>
        <p:spPr>
          <a:xfrm>
            <a:off x="640080" y="3739896"/>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크기 큼</a:t>
            </a:r>
            <a:endParaRPr lang="en-US" sz="900" dirty="0"/>
          </a:p>
        </p:txBody>
      </p:sp>
      <p:sp>
        <p:nvSpPr>
          <p:cNvPr id="19" name="Shape 17"/>
          <p:cNvSpPr/>
          <p:nvPr/>
        </p:nvSpPr>
        <p:spPr>
          <a:xfrm>
            <a:off x="3291840" y="960120"/>
            <a:ext cx="2560320" cy="3749040"/>
          </a:xfrm>
          <a:prstGeom prst="roundRect">
            <a:avLst>
              <a:gd name="adj" fmla="val 3571"/>
            </a:avLst>
          </a:prstGeom>
          <a:solidFill>
            <a:srgbClr val="FFFFFF"/>
          </a:solidFill>
          <a:ln w="25400">
            <a:solidFill>
              <a:srgbClr val="00897B"/>
            </a:solidFill>
            <a:prstDash val="solid"/>
          </a:ln>
        </p:spPr>
      </p:sp>
      <p:sp>
        <p:nvSpPr>
          <p:cNvPr id="20" name="Shape 18"/>
          <p:cNvSpPr/>
          <p:nvPr/>
        </p:nvSpPr>
        <p:spPr>
          <a:xfrm>
            <a:off x="3291840" y="960120"/>
            <a:ext cx="2560320" cy="457200"/>
          </a:xfrm>
          <a:prstGeom prst="rect">
            <a:avLst/>
          </a:prstGeom>
          <a:solidFill>
            <a:srgbClr val="00897B"/>
          </a:solidFill>
          <a:ln w="12700">
            <a:solidFill>
              <a:srgbClr val="00897B"/>
            </a:solidFill>
            <a:prstDash val="solid"/>
          </a:ln>
        </p:spPr>
      </p:sp>
      <p:sp>
        <p:nvSpPr>
          <p:cNvPr id="21" name="Text 19"/>
          <p:cNvSpPr/>
          <p:nvPr/>
        </p:nvSpPr>
        <p:spPr>
          <a:xfrm>
            <a:off x="3291840" y="96012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CSV</a:t>
            </a:r>
            <a:endParaRPr lang="en-US" sz="1800" dirty="0"/>
          </a:p>
        </p:txBody>
      </p:sp>
      <p:sp>
        <p:nvSpPr>
          <p:cNvPr id="22" name="Text 20"/>
          <p:cNvSpPr/>
          <p:nvPr/>
        </p:nvSpPr>
        <p:spPr>
          <a:xfrm>
            <a:off x="3429000" y="1508760"/>
            <a:ext cx="2286000" cy="457200"/>
          </a:xfrm>
          <a:prstGeom prst="rect">
            <a:avLst/>
          </a:prstGeom>
          <a:noFill/>
          <a:ln/>
        </p:spPr>
        <p:txBody>
          <a:bodyPr wrap="square" lIns="0" tIns="0" rIns="0" bIns="0" rtlCol="0" anchor="ctr"/>
          <a:lstStyle/>
          <a:p>
            <a:pPr algn="ctr" indent="0" marL="0">
              <a:buNone/>
            </a:pPr>
            <a:r>
              <a:rPr lang="en-US" sz="1000" dirty="0">
                <a:solidFill>
                  <a:srgbClr val="37474F"/>
                </a:solidFill>
                <a:latin typeface="Malgun Gothic" pitchFamily="34" charset="0"/>
                <a:ea typeface="Malgun Gothic" pitchFamily="34" charset="-122"/>
                <a:cs typeface="Malgun Gothic" pitchFamily="34" charset="-120"/>
              </a:rPr>
              <a:t>가볍지만 단순</a:t>
            </a:r>
            <a:endParaRPr lang="en-US" sz="1000" dirty="0"/>
          </a:p>
          <a:p>
            <a:pPr algn="ctr" indent="0" marL="0">
              <a:buNone/>
            </a:pPr>
            <a:r>
              <a:rPr lang="en-US" sz="1000" dirty="0">
                <a:solidFill>
                  <a:srgbClr val="37474F"/>
                </a:solidFill>
                <a:latin typeface="Malgun Gothic" pitchFamily="34" charset="0"/>
                <a:ea typeface="Malgun Gothic" pitchFamily="34" charset="-122"/>
                <a:cs typeface="Malgun Gothic" pitchFamily="34" charset="-120"/>
              </a:rPr>
              <a:t>light but flat</a:t>
            </a:r>
            <a:endParaRPr lang="en-US" sz="1000" dirty="0"/>
          </a:p>
        </p:txBody>
      </p:sp>
      <p:sp>
        <p:nvSpPr>
          <p:cNvPr id="23" name="Text 21"/>
          <p:cNvSpPr/>
          <p:nvPr/>
        </p:nvSpPr>
        <p:spPr>
          <a:xfrm>
            <a:off x="3429000" y="1920240"/>
            <a:ext cx="2286000" cy="274320"/>
          </a:xfrm>
          <a:prstGeom prst="rect">
            <a:avLst/>
          </a:prstGeom>
          <a:noFill/>
          <a:ln/>
        </p:spPr>
        <p:txBody>
          <a:bodyPr wrap="square" lIns="0" tIns="0" rIns="0" bIns="0" rtlCol="0" anchor="ctr"/>
          <a:lstStyle/>
          <a:p>
            <a:pPr algn="ctr" indent="0" marL="0">
              <a:buNone/>
            </a:pPr>
            <a:r>
              <a:rPr lang="en-US" sz="1100" b="1" dirty="0">
                <a:solidFill>
                  <a:srgbClr val="00897B"/>
                </a:solidFill>
                <a:latin typeface="Consolas" pitchFamily="34" charset="0"/>
                <a:ea typeface="Consolas" pitchFamily="34" charset="-122"/>
                <a:cs typeface="Consolas" pitchFamily="34" charset="-120"/>
              </a:rPr>
              <a:t>1 record ≈ 60 B</a:t>
            </a:r>
            <a:endParaRPr lang="en-US" sz="1100" dirty="0"/>
          </a:p>
        </p:txBody>
      </p:sp>
      <p:sp>
        <p:nvSpPr>
          <p:cNvPr id="24" name="Text 22"/>
          <p:cNvSpPr/>
          <p:nvPr/>
        </p:nvSpPr>
        <p:spPr>
          <a:xfrm>
            <a:off x="3429000" y="2286000"/>
            <a:ext cx="2286000" cy="228600"/>
          </a:xfrm>
          <a:prstGeom prst="rect">
            <a:avLst/>
          </a:prstGeom>
          <a:noFill/>
          <a:ln/>
        </p:spPr>
        <p:txBody>
          <a:bodyPr wrap="square" lIns="0" tIns="0" rIns="0" bIns="0" rtlCol="0" anchor="ctr"/>
          <a:lstStyle/>
          <a:p>
            <a:pPr indent="0" marL="0">
              <a:buNone/>
            </a:pPr>
            <a:r>
              <a:rPr lang="en-US" sz="1000" b="1" dirty="0">
                <a:solidFill>
                  <a:srgbClr val="43A047"/>
                </a:solidFill>
                <a:latin typeface="Malgun Gothic" pitchFamily="34" charset="0"/>
                <a:ea typeface="Malgun Gothic" pitchFamily="34" charset="-122"/>
                <a:cs typeface="Malgun Gothic" pitchFamily="34" charset="-120"/>
              </a:rPr>
              <a:t>✅ 장점 (Pros)</a:t>
            </a:r>
            <a:endParaRPr lang="en-US" sz="1000" dirty="0"/>
          </a:p>
        </p:txBody>
      </p:sp>
      <p:sp>
        <p:nvSpPr>
          <p:cNvPr id="25" name="Text 23"/>
          <p:cNvSpPr/>
          <p:nvPr/>
        </p:nvSpPr>
        <p:spPr>
          <a:xfrm>
            <a:off x="3474720" y="2542032"/>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가장 가벼움</a:t>
            </a:r>
            <a:endParaRPr lang="en-US" sz="900" dirty="0"/>
          </a:p>
        </p:txBody>
      </p:sp>
      <p:sp>
        <p:nvSpPr>
          <p:cNvPr id="26" name="Text 24"/>
          <p:cNvSpPr/>
          <p:nvPr/>
        </p:nvSpPr>
        <p:spPr>
          <a:xfrm>
            <a:off x="3474720" y="2743200"/>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Excel 호환</a:t>
            </a:r>
            <a:endParaRPr lang="en-US" sz="900" dirty="0"/>
          </a:p>
        </p:txBody>
      </p:sp>
      <p:sp>
        <p:nvSpPr>
          <p:cNvPr id="27" name="Text 25"/>
          <p:cNvSpPr/>
          <p:nvPr/>
        </p:nvSpPr>
        <p:spPr>
          <a:xfrm>
            <a:off x="3429000" y="3081528"/>
            <a:ext cx="2286000" cy="228600"/>
          </a:xfrm>
          <a:prstGeom prst="rect">
            <a:avLst/>
          </a:prstGeom>
          <a:noFill/>
          <a:ln/>
        </p:spPr>
        <p:txBody>
          <a:bodyPr wrap="square" lIns="0" tIns="0" rIns="0" bIns="0" rtlCol="0" anchor="ctr"/>
          <a:lstStyle/>
          <a:p>
            <a:pPr indent="0" marL="0">
              <a:buNone/>
            </a:pPr>
            <a:r>
              <a:rPr lang="en-US" sz="1000" b="1" dirty="0">
                <a:solidFill>
                  <a:srgbClr val="EF5350"/>
                </a:solidFill>
                <a:latin typeface="Malgun Gothic" pitchFamily="34" charset="0"/>
                <a:ea typeface="Malgun Gothic" pitchFamily="34" charset="-122"/>
                <a:cs typeface="Malgun Gothic" pitchFamily="34" charset="-120"/>
              </a:rPr>
              <a:t>❌ 단점 (Cons)</a:t>
            </a:r>
            <a:endParaRPr lang="en-US" sz="1000" dirty="0"/>
          </a:p>
        </p:txBody>
      </p:sp>
      <p:sp>
        <p:nvSpPr>
          <p:cNvPr id="28" name="Text 26"/>
          <p:cNvSpPr/>
          <p:nvPr/>
        </p:nvSpPr>
        <p:spPr>
          <a:xfrm>
            <a:off x="3474720" y="3337560"/>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타입 없음</a:t>
            </a:r>
            <a:endParaRPr lang="en-US" sz="900" dirty="0"/>
          </a:p>
        </p:txBody>
      </p:sp>
      <p:sp>
        <p:nvSpPr>
          <p:cNvPr id="29" name="Text 27"/>
          <p:cNvSpPr/>
          <p:nvPr/>
        </p:nvSpPr>
        <p:spPr>
          <a:xfrm>
            <a:off x="3474720" y="3538728"/>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중첩 불가</a:t>
            </a:r>
            <a:endParaRPr lang="en-US" sz="900" dirty="0"/>
          </a:p>
        </p:txBody>
      </p:sp>
      <p:sp>
        <p:nvSpPr>
          <p:cNvPr id="30" name="Text 28"/>
          <p:cNvSpPr/>
          <p:nvPr/>
        </p:nvSpPr>
        <p:spPr>
          <a:xfrm>
            <a:off x="3474720" y="3739896"/>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이스케이프 난해</a:t>
            </a:r>
            <a:endParaRPr lang="en-US" sz="900" dirty="0"/>
          </a:p>
        </p:txBody>
      </p:sp>
      <p:sp>
        <p:nvSpPr>
          <p:cNvPr id="31" name="Shape 29"/>
          <p:cNvSpPr/>
          <p:nvPr/>
        </p:nvSpPr>
        <p:spPr>
          <a:xfrm>
            <a:off x="6126480" y="960120"/>
            <a:ext cx="2560320" cy="3749040"/>
          </a:xfrm>
          <a:prstGeom prst="roundRect">
            <a:avLst>
              <a:gd name="adj" fmla="val 3571"/>
            </a:avLst>
          </a:prstGeom>
          <a:solidFill>
            <a:srgbClr val="FFFFFF"/>
          </a:solidFill>
          <a:ln w="25400">
            <a:solidFill>
              <a:srgbClr val="1E88E5"/>
            </a:solidFill>
            <a:prstDash val="solid"/>
          </a:ln>
        </p:spPr>
      </p:sp>
      <p:sp>
        <p:nvSpPr>
          <p:cNvPr id="32" name="Shape 30"/>
          <p:cNvSpPr/>
          <p:nvPr/>
        </p:nvSpPr>
        <p:spPr>
          <a:xfrm>
            <a:off x="6126480" y="960120"/>
            <a:ext cx="2560320" cy="457200"/>
          </a:xfrm>
          <a:prstGeom prst="rect">
            <a:avLst/>
          </a:prstGeom>
          <a:solidFill>
            <a:srgbClr val="1E88E5"/>
          </a:solidFill>
          <a:ln w="12700">
            <a:solidFill>
              <a:srgbClr val="1E88E5"/>
            </a:solidFill>
            <a:prstDash val="solid"/>
          </a:ln>
        </p:spPr>
      </p:sp>
      <p:sp>
        <p:nvSpPr>
          <p:cNvPr id="33" name="Text 31"/>
          <p:cNvSpPr/>
          <p:nvPr/>
        </p:nvSpPr>
        <p:spPr>
          <a:xfrm>
            <a:off x="6126480" y="960120"/>
            <a:ext cx="25603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Avro ★</a:t>
            </a:r>
            <a:endParaRPr lang="en-US" sz="1800" dirty="0"/>
          </a:p>
        </p:txBody>
      </p:sp>
      <p:sp>
        <p:nvSpPr>
          <p:cNvPr id="34" name="Text 32"/>
          <p:cNvSpPr/>
          <p:nvPr/>
        </p:nvSpPr>
        <p:spPr>
          <a:xfrm>
            <a:off x="6263640" y="1508760"/>
            <a:ext cx="2286000" cy="457200"/>
          </a:xfrm>
          <a:prstGeom prst="rect">
            <a:avLst/>
          </a:prstGeom>
          <a:noFill/>
          <a:ln/>
        </p:spPr>
        <p:txBody>
          <a:bodyPr wrap="square" lIns="0" tIns="0" rIns="0" bIns="0" rtlCol="0" anchor="ctr"/>
          <a:lstStyle/>
          <a:p>
            <a:pPr algn="ctr" indent="0" marL="0">
              <a:buNone/>
            </a:pPr>
            <a:r>
              <a:rPr lang="en-US" sz="1000" dirty="0">
                <a:solidFill>
                  <a:srgbClr val="37474F"/>
                </a:solidFill>
                <a:latin typeface="Malgun Gothic" pitchFamily="34" charset="0"/>
                <a:ea typeface="Malgun Gothic" pitchFamily="34" charset="-122"/>
                <a:cs typeface="Malgun Gothic" pitchFamily="34" charset="-120"/>
              </a:rPr>
              <a:t>스키마 강제</a:t>
            </a:r>
            <a:endParaRPr lang="en-US" sz="1000" dirty="0"/>
          </a:p>
          <a:p>
            <a:pPr algn="ctr" indent="0" marL="0">
              <a:buNone/>
            </a:pPr>
            <a:r>
              <a:rPr lang="en-US" sz="1000" dirty="0">
                <a:solidFill>
                  <a:srgbClr val="37474F"/>
                </a:solidFill>
                <a:latin typeface="Malgun Gothic" pitchFamily="34" charset="0"/>
                <a:ea typeface="Malgun Gothic" pitchFamily="34" charset="-122"/>
                <a:cs typeface="Malgun Gothic" pitchFamily="34" charset="-120"/>
              </a:rPr>
              <a:t>schema-enforced</a:t>
            </a:r>
            <a:endParaRPr lang="en-US" sz="1000" dirty="0"/>
          </a:p>
        </p:txBody>
      </p:sp>
      <p:sp>
        <p:nvSpPr>
          <p:cNvPr id="35" name="Text 33"/>
          <p:cNvSpPr/>
          <p:nvPr/>
        </p:nvSpPr>
        <p:spPr>
          <a:xfrm>
            <a:off x="6263640" y="1920240"/>
            <a:ext cx="2286000" cy="274320"/>
          </a:xfrm>
          <a:prstGeom prst="rect">
            <a:avLst/>
          </a:prstGeom>
          <a:noFill/>
          <a:ln/>
        </p:spPr>
        <p:txBody>
          <a:bodyPr wrap="square" lIns="0" tIns="0" rIns="0" bIns="0" rtlCol="0" anchor="ctr"/>
          <a:lstStyle/>
          <a:p>
            <a:pPr algn="ctr" indent="0" marL="0">
              <a:buNone/>
            </a:pPr>
            <a:r>
              <a:rPr lang="en-US" sz="1100" b="1" dirty="0">
                <a:solidFill>
                  <a:srgbClr val="1E88E5"/>
                </a:solidFill>
                <a:latin typeface="Consolas" pitchFamily="34" charset="0"/>
                <a:ea typeface="Consolas" pitchFamily="34" charset="-122"/>
                <a:cs typeface="Consolas" pitchFamily="34" charset="-120"/>
              </a:rPr>
              <a:t>1 record ≈ 35 B</a:t>
            </a:r>
            <a:endParaRPr lang="en-US" sz="1100" dirty="0"/>
          </a:p>
        </p:txBody>
      </p:sp>
      <p:sp>
        <p:nvSpPr>
          <p:cNvPr id="36" name="Text 34"/>
          <p:cNvSpPr/>
          <p:nvPr/>
        </p:nvSpPr>
        <p:spPr>
          <a:xfrm>
            <a:off x="6263640" y="2286000"/>
            <a:ext cx="2286000" cy="228600"/>
          </a:xfrm>
          <a:prstGeom prst="rect">
            <a:avLst/>
          </a:prstGeom>
          <a:noFill/>
          <a:ln/>
        </p:spPr>
        <p:txBody>
          <a:bodyPr wrap="square" lIns="0" tIns="0" rIns="0" bIns="0" rtlCol="0" anchor="ctr"/>
          <a:lstStyle/>
          <a:p>
            <a:pPr indent="0" marL="0">
              <a:buNone/>
            </a:pPr>
            <a:r>
              <a:rPr lang="en-US" sz="1000" b="1" dirty="0">
                <a:solidFill>
                  <a:srgbClr val="43A047"/>
                </a:solidFill>
                <a:latin typeface="Malgun Gothic" pitchFamily="34" charset="0"/>
                <a:ea typeface="Malgun Gothic" pitchFamily="34" charset="-122"/>
                <a:cs typeface="Malgun Gothic" pitchFamily="34" charset="-120"/>
              </a:rPr>
              <a:t>✅ 장점 (Pros)</a:t>
            </a:r>
            <a:endParaRPr lang="en-US" sz="1000" dirty="0"/>
          </a:p>
        </p:txBody>
      </p:sp>
      <p:sp>
        <p:nvSpPr>
          <p:cNvPr id="37" name="Text 35"/>
          <p:cNvSpPr/>
          <p:nvPr/>
        </p:nvSpPr>
        <p:spPr>
          <a:xfrm>
            <a:off x="6309360" y="2542032"/>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스키마 진화</a:t>
            </a:r>
            <a:endParaRPr lang="en-US" sz="900" dirty="0"/>
          </a:p>
        </p:txBody>
      </p:sp>
      <p:sp>
        <p:nvSpPr>
          <p:cNvPr id="38" name="Text 36"/>
          <p:cNvSpPr/>
          <p:nvPr/>
        </p:nvSpPr>
        <p:spPr>
          <a:xfrm>
            <a:off x="6309360" y="2743200"/>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이진 압축</a:t>
            </a:r>
            <a:endParaRPr lang="en-US" sz="900" dirty="0"/>
          </a:p>
        </p:txBody>
      </p:sp>
      <p:sp>
        <p:nvSpPr>
          <p:cNvPr id="39" name="Text 37"/>
          <p:cNvSpPr/>
          <p:nvPr/>
        </p:nvSpPr>
        <p:spPr>
          <a:xfrm>
            <a:off x="6309360" y="2944368"/>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타입 안전</a:t>
            </a:r>
            <a:endParaRPr lang="en-US" sz="900" dirty="0"/>
          </a:p>
        </p:txBody>
      </p:sp>
      <p:sp>
        <p:nvSpPr>
          <p:cNvPr id="40" name="Text 38"/>
          <p:cNvSpPr/>
          <p:nvPr/>
        </p:nvSpPr>
        <p:spPr>
          <a:xfrm>
            <a:off x="6263640" y="3282696"/>
            <a:ext cx="2286000" cy="228600"/>
          </a:xfrm>
          <a:prstGeom prst="rect">
            <a:avLst/>
          </a:prstGeom>
          <a:noFill/>
          <a:ln/>
        </p:spPr>
        <p:txBody>
          <a:bodyPr wrap="square" lIns="0" tIns="0" rIns="0" bIns="0" rtlCol="0" anchor="ctr"/>
          <a:lstStyle/>
          <a:p>
            <a:pPr indent="0" marL="0">
              <a:buNone/>
            </a:pPr>
            <a:r>
              <a:rPr lang="en-US" sz="1000" b="1" dirty="0">
                <a:solidFill>
                  <a:srgbClr val="EF5350"/>
                </a:solidFill>
                <a:latin typeface="Malgun Gothic" pitchFamily="34" charset="0"/>
                <a:ea typeface="Malgun Gothic" pitchFamily="34" charset="-122"/>
                <a:cs typeface="Malgun Gothic" pitchFamily="34" charset="-120"/>
              </a:rPr>
              <a:t>❌ 단점 (Cons)</a:t>
            </a:r>
            <a:endParaRPr lang="en-US" sz="1000" dirty="0"/>
          </a:p>
        </p:txBody>
      </p:sp>
      <p:sp>
        <p:nvSpPr>
          <p:cNvPr id="41" name="Text 39"/>
          <p:cNvSpPr/>
          <p:nvPr/>
        </p:nvSpPr>
        <p:spPr>
          <a:xfrm>
            <a:off x="6309360" y="3538728"/>
            <a:ext cx="2286000" cy="201168"/>
          </a:xfrm>
          <a:prstGeom prst="rect">
            <a:avLst/>
          </a:prstGeom>
          <a:noFill/>
          <a:ln/>
        </p:spPr>
        <p:txBody>
          <a:bodyPr wrap="square" lIns="0" tIns="0" rIns="0" bIns="0" rtlCol="0" anchor="ctr"/>
          <a:lstStyle/>
          <a:p>
            <a:pPr indent="0" marL="0">
              <a:buNone/>
            </a:pPr>
            <a:r>
              <a:rPr lang="en-US" sz="900" dirty="0">
                <a:solidFill>
                  <a:srgbClr val="37474F"/>
                </a:solidFill>
                <a:latin typeface="Malgun Gothic" pitchFamily="34" charset="0"/>
                <a:ea typeface="Malgun Gothic" pitchFamily="34" charset="-122"/>
                <a:cs typeface="Malgun Gothic" pitchFamily="34" charset="-120"/>
              </a:rPr>
              <a:t>· 사람 읽기 어려움</a:t>
            </a:r>
            <a:endParaRPr lang="en-US" sz="900" dirty="0"/>
          </a:p>
        </p:txBody>
      </p:sp>
      <p:sp>
        <p:nvSpPr>
          <p:cNvPr id="42" name="Shape 40"/>
          <p:cNvSpPr/>
          <p:nvPr/>
        </p:nvSpPr>
        <p:spPr>
          <a:xfrm>
            <a:off x="0" y="4892040"/>
            <a:ext cx="9144000" cy="256032"/>
          </a:xfrm>
          <a:prstGeom prst="rect">
            <a:avLst/>
          </a:prstGeom>
          <a:solidFill>
            <a:srgbClr val="0B1F3A"/>
          </a:solidFill>
          <a:ln w="12700">
            <a:solidFill>
              <a:srgbClr val="0B1F3A"/>
            </a:solidFill>
            <a:prstDash val="solid"/>
          </a:ln>
        </p:spPr>
      </p:sp>
      <p:sp>
        <p:nvSpPr>
          <p:cNvPr id="43" name="Text 41"/>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44" name="Text 42"/>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04 · DATA FORMAT</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왜 Schema Registry 인가?</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Why Schema Registry? — a real failure scenario</a:t>
            </a:r>
            <a:endParaRPr lang="en-US" sz="1050" dirty="0"/>
          </a:p>
        </p:txBody>
      </p:sp>
      <p:sp>
        <p:nvSpPr>
          <p:cNvPr id="7" name="Shape 5"/>
          <p:cNvSpPr/>
          <p:nvPr/>
        </p:nvSpPr>
        <p:spPr>
          <a:xfrm>
            <a:off x="457200" y="1005840"/>
            <a:ext cx="3931920" cy="3566160"/>
          </a:xfrm>
          <a:prstGeom prst="roundRect">
            <a:avLst>
              <a:gd name="adj" fmla="val 2564"/>
            </a:avLst>
          </a:prstGeom>
          <a:solidFill>
            <a:srgbClr val="FFFFFF"/>
          </a:solidFill>
          <a:ln w="25400">
            <a:solidFill>
              <a:srgbClr val="EF5350"/>
            </a:solidFill>
            <a:prstDash val="solid"/>
          </a:ln>
        </p:spPr>
      </p:sp>
      <p:sp>
        <p:nvSpPr>
          <p:cNvPr id="8" name="Shape 6"/>
          <p:cNvSpPr/>
          <p:nvPr/>
        </p:nvSpPr>
        <p:spPr>
          <a:xfrm>
            <a:off x="457200" y="1005840"/>
            <a:ext cx="3931920" cy="411480"/>
          </a:xfrm>
          <a:prstGeom prst="rect">
            <a:avLst/>
          </a:prstGeom>
          <a:solidFill>
            <a:srgbClr val="EF5350"/>
          </a:solidFill>
          <a:ln w="12700">
            <a:solidFill>
              <a:srgbClr val="EF5350"/>
            </a:solidFill>
            <a:prstDash val="solid"/>
          </a:ln>
        </p:spPr>
      </p:sp>
      <p:sp>
        <p:nvSpPr>
          <p:cNvPr id="9" name="Text 7"/>
          <p:cNvSpPr/>
          <p:nvPr/>
        </p:nvSpPr>
        <p:spPr>
          <a:xfrm>
            <a:off x="457200" y="1005840"/>
            <a:ext cx="39319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BEFORE — 스키마 없이 (no schema)</a:t>
            </a:r>
            <a:endParaRPr lang="en-US" sz="1200" dirty="0"/>
          </a:p>
        </p:txBody>
      </p:sp>
      <p:sp>
        <p:nvSpPr>
          <p:cNvPr id="10" name="Text 8"/>
          <p:cNvSpPr/>
          <p:nvPr/>
        </p:nvSpPr>
        <p:spPr>
          <a:xfrm>
            <a:off x="640080" y="1554480"/>
            <a:ext cx="3566160" cy="2926080"/>
          </a:xfrm>
          <a:prstGeom prst="rect">
            <a:avLst/>
          </a:prstGeom>
          <a:noFill/>
          <a:ln/>
        </p:spPr>
        <p:txBody>
          <a:bodyPr wrap="square" lIns="0" tIns="0" rIns="0" bIns="0" rtlCol="0" anchor="ctr"/>
          <a:lstStyle/>
          <a:p>
            <a:pPr indent="0" marL="0">
              <a:buNone/>
            </a:pPr>
            <a:r>
              <a:rPr lang="en-US" sz="1000" b="1" dirty="0">
                <a:solidFill>
                  <a:srgbClr val="0B1F3A"/>
                </a:solidFill>
                <a:latin typeface="Malgun Gothic" pitchFamily="34" charset="0"/>
                <a:ea typeface="Malgun Gothic" pitchFamily="34" charset="-122"/>
                <a:cs typeface="Malgun Gothic" pitchFamily="34" charset="-120"/>
              </a:rPr>
              <a:t>Producer 가 새 필드를 추가:
</a:t>
            </a:r>
            <a:pPr indent="0" marL="0">
              <a:buNone/>
            </a:pPr>
            <a:r>
              <a:rPr lang="en-US" sz="900" dirty="0">
                <a:solidFill>
                  <a:srgbClr val="37474F"/>
                </a:solidFill>
                <a:latin typeface="Consolas" pitchFamily="34" charset="0"/>
                <a:ea typeface="Consolas" pitchFamily="34" charset="-122"/>
                <a:cs typeface="Consolas" pitchFamily="34" charset="-120"/>
              </a:rPr>
              <a:t>{
  "icao24": ...,
  "speed_kt": 245,  ← 새 필드
}
</a:t>
            </a:r>
            <a:pPr indent="0" marL="0">
              <a:buNone/>
            </a:pPr>
            <a:r>
              <a:rPr lang="en-US" sz="1000" b="1" dirty="0">
                <a:solidFill>
                  <a:srgbClr val="0B1F3A"/>
                </a:solidFill>
                <a:latin typeface="Malgun Gothic" pitchFamily="34" charset="0"/>
                <a:ea typeface="Malgun Gothic" pitchFamily="34" charset="-122"/>
                <a:cs typeface="Malgun Gothic" pitchFamily="34" charset="-120"/>
              </a:rPr>
              <a:t>Consumer 가 기존 코드로 읽음:
</a:t>
            </a:r>
            <a:pPr indent="0" marL="0">
              <a:buNone/>
            </a:pPr>
            <a:r>
              <a:rPr lang="en-US" sz="900" dirty="0">
                <a:solidFill>
                  <a:srgbClr val="EF5350"/>
                </a:solidFill>
                <a:latin typeface="Consolas" pitchFamily="34" charset="0"/>
                <a:ea typeface="Consolas" pitchFamily="34" charset="-122"/>
                <a:cs typeface="Consolas" pitchFamily="34" charset="-120"/>
              </a:rPr>
              <a:t>msg.velocity_ms   ← KeyError!
💥 서비스 다운
</a:t>
            </a:r>
            <a:pPr indent="0" marL="0">
              <a:buNone/>
            </a:pPr>
            <a:endParaRPr lang="en-US" sz="1000" dirty="0"/>
          </a:p>
          <a:p>
            <a:pPr indent="0" marL="0">
              <a:buNone/>
            </a:pPr>
            <a:r>
              <a:rPr lang="en-US" sz="900" i="1" dirty="0">
                <a:solidFill>
                  <a:srgbClr val="78909C"/>
                </a:solidFill>
                <a:latin typeface="Malgun Gothic" pitchFamily="34" charset="0"/>
                <a:ea typeface="Malgun Gothic" pitchFamily="34" charset="-122"/>
                <a:cs typeface="Malgun Gothic" pitchFamily="34" charset="-120"/>
              </a:rPr>
              <a:t>디버깅: 어느 producer 가 언제 바꿨나?</a:t>
            </a:r>
            <a:endParaRPr lang="en-US" sz="1000" dirty="0"/>
          </a:p>
          <a:p>
            <a:pPr indent="0" marL="0">
              <a:buNone/>
            </a:pPr>
            <a:r>
              <a:rPr lang="en-US" sz="900" i="1" dirty="0">
                <a:solidFill>
                  <a:srgbClr val="78909C"/>
                </a:solidFill>
                <a:latin typeface="Malgun Gothic" pitchFamily="34" charset="0"/>
                <a:ea typeface="Malgun Gothic" pitchFamily="34" charset="-122"/>
                <a:cs typeface="Malgun Gothic" pitchFamily="34" charset="-120"/>
              </a:rPr>
              <a:t>(Debug: who changed what when?)</a:t>
            </a:r>
            <a:endParaRPr lang="en-US" sz="1000" dirty="0"/>
          </a:p>
        </p:txBody>
      </p:sp>
      <p:sp>
        <p:nvSpPr>
          <p:cNvPr id="11" name="Shape 9"/>
          <p:cNvSpPr/>
          <p:nvPr/>
        </p:nvSpPr>
        <p:spPr>
          <a:xfrm>
            <a:off x="4754880" y="1005840"/>
            <a:ext cx="3931920" cy="3566160"/>
          </a:xfrm>
          <a:prstGeom prst="roundRect">
            <a:avLst>
              <a:gd name="adj" fmla="val 2564"/>
            </a:avLst>
          </a:prstGeom>
          <a:solidFill>
            <a:srgbClr val="FFFFFF"/>
          </a:solidFill>
          <a:ln w="25400">
            <a:solidFill>
              <a:srgbClr val="43A047"/>
            </a:solidFill>
            <a:prstDash val="solid"/>
          </a:ln>
        </p:spPr>
      </p:sp>
      <p:sp>
        <p:nvSpPr>
          <p:cNvPr id="12" name="Shape 10"/>
          <p:cNvSpPr/>
          <p:nvPr/>
        </p:nvSpPr>
        <p:spPr>
          <a:xfrm>
            <a:off x="4754880" y="1005840"/>
            <a:ext cx="3931920" cy="411480"/>
          </a:xfrm>
          <a:prstGeom prst="rect">
            <a:avLst/>
          </a:prstGeom>
          <a:solidFill>
            <a:srgbClr val="43A047"/>
          </a:solidFill>
          <a:ln w="12700">
            <a:solidFill>
              <a:srgbClr val="43A047"/>
            </a:solidFill>
            <a:prstDash val="solid"/>
          </a:ln>
        </p:spPr>
      </p:sp>
      <p:sp>
        <p:nvSpPr>
          <p:cNvPr id="13" name="Text 11"/>
          <p:cNvSpPr/>
          <p:nvPr/>
        </p:nvSpPr>
        <p:spPr>
          <a:xfrm>
            <a:off x="4754880" y="1005840"/>
            <a:ext cx="39319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AFTER — Schema Registry (BACKWARD)</a:t>
            </a:r>
            <a:endParaRPr lang="en-US" sz="1200" dirty="0"/>
          </a:p>
        </p:txBody>
      </p:sp>
      <p:sp>
        <p:nvSpPr>
          <p:cNvPr id="14" name="Text 12"/>
          <p:cNvSpPr/>
          <p:nvPr/>
        </p:nvSpPr>
        <p:spPr>
          <a:xfrm>
            <a:off x="4937760" y="1554480"/>
            <a:ext cx="3566160" cy="2926080"/>
          </a:xfrm>
          <a:prstGeom prst="rect">
            <a:avLst/>
          </a:prstGeom>
          <a:noFill/>
          <a:ln/>
        </p:spPr>
        <p:txBody>
          <a:bodyPr wrap="square" lIns="0" tIns="0" rIns="0" bIns="0" rtlCol="0" anchor="ctr"/>
          <a:lstStyle/>
          <a:p>
            <a:pPr indent="0" marL="0">
              <a:buNone/>
            </a:pPr>
            <a:r>
              <a:rPr lang="en-US" sz="1000" b="1" dirty="0">
                <a:solidFill>
                  <a:srgbClr val="0B1F3A"/>
                </a:solidFill>
                <a:latin typeface="Malgun Gothic" pitchFamily="34" charset="0"/>
                <a:ea typeface="Malgun Gothic" pitchFamily="34" charset="-122"/>
                <a:cs typeface="Malgun Gothic" pitchFamily="34" charset="-120"/>
              </a:rPr>
              <a:t>Producer 가 호환 안되는 변경 시도:
</a:t>
            </a:r>
            <a:pPr indent="0" marL="0">
              <a:buNone/>
            </a:pPr>
            <a:r>
              <a:rPr lang="en-US" sz="900" dirty="0">
                <a:solidFill>
                  <a:srgbClr val="37474F"/>
                </a:solidFill>
                <a:latin typeface="Consolas" pitchFamily="34" charset="0"/>
                <a:ea typeface="Consolas" pitchFamily="34" charset="-122"/>
                <a:cs typeface="Consolas" pitchFamily="34" charset="-120"/>
              </a:rPr>
              <a:t>POST /subjects/flight-position
  + rename field
</a:t>
            </a:r>
            <a:pPr indent="0" marL="0">
              <a:buNone/>
            </a:pPr>
            <a:r>
              <a:rPr lang="en-US" sz="1000" b="1" dirty="0">
                <a:solidFill>
                  <a:srgbClr val="0B1F3A"/>
                </a:solidFill>
                <a:latin typeface="Malgun Gothic" pitchFamily="34" charset="0"/>
                <a:ea typeface="Malgun Gothic" pitchFamily="34" charset="-122"/>
                <a:cs typeface="Malgun Gothic" pitchFamily="34" charset="-120"/>
              </a:rPr>
              <a:t>Schema Registry 가 즉시 거부:
</a:t>
            </a:r>
            <a:pPr indent="0" marL="0">
              <a:buNone/>
            </a:pPr>
            <a:r>
              <a:rPr lang="en-US" sz="900" dirty="0">
                <a:solidFill>
                  <a:srgbClr val="43A047"/>
                </a:solidFill>
                <a:latin typeface="Consolas" pitchFamily="34" charset="0"/>
                <a:ea typeface="Consolas" pitchFamily="34" charset="-122"/>
                <a:cs typeface="Consolas" pitchFamily="34" charset="-120"/>
              </a:rPr>
              <a:t>409 Conflict: BACKWARD incompat.
✅ 배포 전에 막힘
</a:t>
            </a:r>
            <a:pPr indent="0" marL="0">
              <a:buNone/>
            </a:pPr>
            <a:r>
              <a:rPr lang="en-US" sz="900" dirty="0">
                <a:solidFill>
                  <a:srgbClr val="37474F"/>
                </a:solidFill>
                <a:latin typeface="Malgun Gothic" pitchFamily="34" charset="0"/>
                <a:ea typeface="Malgun Gothic" pitchFamily="34" charset="-122"/>
                <a:cs typeface="Malgun Gothic" pitchFamily="34" charset="-120"/>
              </a:rPr>
              <a:t>호환되는 변경 (default 있는 필드 추가) 은 통과.
</a:t>
            </a:r>
            <a:pPr indent="0" marL="0">
              <a:buNone/>
            </a:pPr>
            <a:r>
              <a:rPr lang="en-US" sz="900" i="1" dirty="0">
                <a:solidFill>
                  <a:srgbClr val="78909C"/>
                </a:solidFill>
                <a:latin typeface="Malgun Gothic" pitchFamily="34" charset="0"/>
                <a:ea typeface="Malgun Gothic" pitchFamily="34" charset="-122"/>
                <a:cs typeface="Malgun Gothic" pitchFamily="34" charset="-120"/>
              </a:rPr>
              <a:t>기존 consumer 는 default 값으로 안전하게 동작.</a:t>
            </a:r>
            <a:endParaRPr lang="en-US" sz="1000" dirty="0"/>
          </a:p>
        </p:txBody>
      </p:sp>
      <p:sp>
        <p:nvSpPr>
          <p:cNvPr id="15" name="Shape 13"/>
          <p:cNvSpPr/>
          <p:nvPr/>
        </p:nvSpPr>
        <p:spPr>
          <a:xfrm>
            <a:off x="0" y="4892040"/>
            <a:ext cx="9144000" cy="256032"/>
          </a:xfrm>
          <a:prstGeom prst="rect">
            <a:avLst/>
          </a:prstGeom>
          <a:solidFill>
            <a:srgbClr val="0B1F3A"/>
          </a:solidFill>
          <a:ln w="12700">
            <a:solidFill>
              <a:srgbClr val="0B1F3A"/>
            </a:solidFill>
            <a:prstDash val="solid"/>
          </a:ln>
        </p:spPr>
      </p:sp>
      <p:sp>
        <p:nvSpPr>
          <p:cNvPr id="16" name="Text 14"/>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17" name="Text 15"/>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11 /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05 · PREPROCESSING</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전처리 6단계 파이프라인</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The 6-Step Preprocessing Pipeline</a:t>
            </a:r>
            <a:endParaRPr lang="en-US" sz="1050" dirty="0"/>
          </a:p>
        </p:txBody>
      </p:sp>
      <p:sp>
        <p:nvSpPr>
          <p:cNvPr id="7" name="Shape 5"/>
          <p:cNvSpPr/>
          <p:nvPr/>
        </p:nvSpPr>
        <p:spPr>
          <a:xfrm>
            <a:off x="594360" y="1188720"/>
            <a:ext cx="1097280" cy="1097280"/>
          </a:xfrm>
          <a:prstGeom prst="ellipse">
            <a:avLst/>
          </a:prstGeom>
          <a:solidFill>
            <a:srgbClr val="EF5350"/>
          </a:solidFill>
          <a:ln w="12700">
            <a:solidFill>
              <a:srgbClr val="EF5350"/>
            </a:solidFill>
            <a:prstDash val="solid"/>
          </a:ln>
        </p:spPr>
      </p:sp>
      <p:sp>
        <p:nvSpPr>
          <p:cNvPr id="8" name="Text 6"/>
          <p:cNvSpPr/>
          <p:nvPr/>
        </p:nvSpPr>
        <p:spPr>
          <a:xfrm>
            <a:off x="594360" y="1188720"/>
            <a:ext cx="1097280" cy="1097280"/>
          </a:xfrm>
          <a:prstGeom prst="rect">
            <a:avLst/>
          </a:prstGeom>
          <a:noFill/>
          <a:ln/>
        </p:spPr>
        <p:txBody>
          <a:bodyPr wrap="square" lIns="0" tIns="0" rIns="0" bIns="0" rtlCol="0" anchor="ctr"/>
          <a:lstStyle/>
          <a:p>
            <a:pPr algn="ctr" indent="0" marL="0">
              <a:buNone/>
            </a:pPr>
            <a:r>
              <a:rPr lang="en-US" sz="1900" b="1" spc="100" kern="0" dirty="0">
                <a:solidFill>
                  <a:srgbClr val="FFFFFF"/>
                </a:solidFill>
                <a:latin typeface="Malgun Gothic" pitchFamily="34" charset="0"/>
                <a:ea typeface="Malgun Gothic" pitchFamily="34" charset="-122"/>
                <a:cs typeface="Malgun Gothic" pitchFamily="34" charset="-120"/>
              </a:rPr>
              <a:t>CLN</a:t>
            </a:r>
            <a:endParaRPr lang="en-US" sz="1900" dirty="0"/>
          </a:p>
        </p:txBody>
      </p:sp>
      <p:sp>
        <p:nvSpPr>
          <p:cNvPr id="9" name="Shape 7"/>
          <p:cNvSpPr/>
          <p:nvPr/>
        </p:nvSpPr>
        <p:spPr>
          <a:xfrm>
            <a:off x="502920" y="1097280"/>
            <a:ext cx="384048" cy="384048"/>
          </a:xfrm>
          <a:prstGeom prst="ellipse">
            <a:avLst/>
          </a:prstGeom>
          <a:solidFill>
            <a:srgbClr val="0B1F3A"/>
          </a:solidFill>
          <a:ln w="25400">
            <a:solidFill>
              <a:srgbClr val="FFFFFF"/>
            </a:solidFill>
            <a:prstDash val="solid"/>
          </a:ln>
        </p:spPr>
      </p:sp>
      <p:sp>
        <p:nvSpPr>
          <p:cNvPr id="10" name="Text 8"/>
          <p:cNvSpPr/>
          <p:nvPr/>
        </p:nvSpPr>
        <p:spPr>
          <a:xfrm>
            <a:off x="50292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1" name="Text 9"/>
          <p:cNvSpPr/>
          <p:nvPr/>
        </p:nvSpPr>
        <p:spPr>
          <a:xfrm>
            <a:off x="365760" y="2377440"/>
            <a:ext cx="1554480" cy="320040"/>
          </a:xfrm>
          <a:prstGeom prst="rect">
            <a:avLst/>
          </a:prstGeom>
          <a:noFill/>
          <a:ln/>
        </p:spPr>
        <p:txBody>
          <a:bodyPr wrap="square" lIns="0" tIns="0" rIns="0" bIns="0" rtlCol="0" anchor="ctr"/>
          <a:lstStyle/>
          <a:p>
            <a:pPr algn="ctr" indent="0" marL="0">
              <a:buNone/>
            </a:pPr>
            <a:r>
              <a:rPr lang="en-US" sz="1100" b="1" dirty="0">
                <a:solidFill>
                  <a:srgbClr val="0B1F3A"/>
                </a:solidFill>
                <a:latin typeface="Malgun Gothic" pitchFamily="34" charset="0"/>
                <a:ea typeface="Malgun Gothic" pitchFamily="34" charset="-122"/>
                <a:cs typeface="Malgun Gothic" pitchFamily="34" charset="-120"/>
              </a:rPr>
              <a:t>정제 Clean</a:t>
            </a:r>
            <a:endParaRPr lang="en-US" sz="1100" dirty="0"/>
          </a:p>
        </p:txBody>
      </p:sp>
      <p:sp>
        <p:nvSpPr>
          <p:cNvPr id="12" name="Text 10"/>
          <p:cNvSpPr/>
          <p:nvPr/>
        </p:nvSpPr>
        <p:spPr>
          <a:xfrm>
            <a:off x="365760" y="2697480"/>
            <a:ext cx="1554480" cy="274320"/>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결측·이상·중복</a:t>
            </a:r>
            <a:endParaRPr lang="en-US" sz="900" dirty="0"/>
          </a:p>
        </p:txBody>
      </p:sp>
      <p:sp>
        <p:nvSpPr>
          <p:cNvPr id="13" name="Shape 11"/>
          <p:cNvSpPr/>
          <p:nvPr/>
        </p:nvSpPr>
        <p:spPr>
          <a:xfrm>
            <a:off x="1719072" y="1737360"/>
            <a:ext cx="137160" cy="0"/>
          </a:xfrm>
          <a:prstGeom prst="line">
            <a:avLst/>
          </a:prstGeom>
          <a:noFill/>
          <a:ln w="38100">
            <a:solidFill>
              <a:srgbClr val="FFB300"/>
            </a:solidFill>
            <a:prstDash val="solid"/>
            <a:tailEnd type="triangle"/>
          </a:ln>
        </p:spPr>
      </p:sp>
      <p:sp>
        <p:nvSpPr>
          <p:cNvPr id="14" name="Shape 12"/>
          <p:cNvSpPr/>
          <p:nvPr/>
        </p:nvSpPr>
        <p:spPr>
          <a:xfrm>
            <a:off x="2011680" y="1188720"/>
            <a:ext cx="1097280" cy="1097280"/>
          </a:xfrm>
          <a:prstGeom prst="ellipse">
            <a:avLst/>
          </a:prstGeom>
          <a:solidFill>
            <a:srgbClr val="FFB300"/>
          </a:solidFill>
          <a:ln w="12700">
            <a:solidFill>
              <a:srgbClr val="FFB300"/>
            </a:solidFill>
            <a:prstDash val="solid"/>
          </a:ln>
        </p:spPr>
      </p:sp>
      <p:sp>
        <p:nvSpPr>
          <p:cNvPr id="15" name="Text 13"/>
          <p:cNvSpPr/>
          <p:nvPr/>
        </p:nvSpPr>
        <p:spPr>
          <a:xfrm>
            <a:off x="2011680" y="1188720"/>
            <a:ext cx="1097280" cy="1097280"/>
          </a:xfrm>
          <a:prstGeom prst="rect">
            <a:avLst/>
          </a:prstGeom>
          <a:noFill/>
          <a:ln/>
        </p:spPr>
        <p:txBody>
          <a:bodyPr wrap="square" lIns="0" tIns="0" rIns="0" bIns="0" rtlCol="0" anchor="ctr"/>
          <a:lstStyle/>
          <a:p>
            <a:pPr algn="ctr" indent="0" marL="0">
              <a:buNone/>
            </a:pPr>
            <a:r>
              <a:rPr lang="en-US" sz="1900" b="1" spc="100" kern="0" dirty="0">
                <a:solidFill>
                  <a:srgbClr val="FFFFFF"/>
                </a:solidFill>
                <a:latin typeface="Malgun Gothic" pitchFamily="34" charset="0"/>
                <a:ea typeface="Malgun Gothic" pitchFamily="34" charset="-122"/>
                <a:cs typeface="Malgun Gothic" pitchFamily="34" charset="-120"/>
              </a:rPr>
              <a:t>NA</a:t>
            </a:r>
            <a:endParaRPr lang="en-US" sz="1900" dirty="0"/>
          </a:p>
        </p:txBody>
      </p:sp>
      <p:sp>
        <p:nvSpPr>
          <p:cNvPr id="16" name="Shape 14"/>
          <p:cNvSpPr/>
          <p:nvPr/>
        </p:nvSpPr>
        <p:spPr>
          <a:xfrm>
            <a:off x="1920240" y="1097280"/>
            <a:ext cx="384048" cy="384048"/>
          </a:xfrm>
          <a:prstGeom prst="ellipse">
            <a:avLst/>
          </a:prstGeom>
          <a:solidFill>
            <a:srgbClr val="0B1F3A"/>
          </a:solidFill>
          <a:ln w="25400">
            <a:solidFill>
              <a:srgbClr val="FFFFFF"/>
            </a:solidFill>
            <a:prstDash val="solid"/>
          </a:ln>
        </p:spPr>
      </p:sp>
      <p:sp>
        <p:nvSpPr>
          <p:cNvPr id="17" name="Text 15"/>
          <p:cNvSpPr/>
          <p:nvPr/>
        </p:nvSpPr>
        <p:spPr>
          <a:xfrm>
            <a:off x="192024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8" name="Text 16"/>
          <p:cNvSpPr/>
          <p:nvPr/>
        </p:nvSpPr>
        <p:spPr>
          <a:xfrm>
            <a:off x="1783080" y="2377440"/>
            <a:ext cx="1554480" cy="320040"/>
          </a:xfrm>
          <a:prstGeom prst="rect">
            <a:avLst/>
          </a:prstGeom>
          <a:noFill/>
          <a:ln/>
        </p:spPr>
        <p:txBody>
          <a:bodyPr wrap="square" lIns="0" tIns="0" rIns="0" bIns="0" rtlCol="0" anchor="ctr"/>
          <a:lstStyle/>
          <a:p>
            <a:pPr algn="ctr" indent="0" marL="0">
              <a:buNone/>
            </a:pPr>
            <a:r>
              <a:rPr lang="en-US" sz="1100" b="1" dirty="0">
                <a:solidFill>
                  <a:srgbClr val="0B1F3A"/>
                </a:solidFill>
                <a:latin typeface="Malgun Gothic" pitchFamily="34" charset="0"/>
                <a:ea typeface="Malgun Gothic" pitchFamily="34" charset="-122"/>
                <a:cs typeface="Malgun Gothic" pitchFamily="34" charset="-120"/>
              </a:rPr>
              <a:t>결측값 Missing</a:t>
            </a:r>
            <a:endParaRPr lang="en-US" sz="1100" dirty="0"/>
          </a:p>
        </p:txBody>
      </p:sp>
      <p:sp>
        <p:nvSpPr>
          <p:cNvPr id="19" name="Text 17"/>
          <p:cNvSpPr/>
          <p:nvPr/>
        </p:nvSpPr>
        <p:spPr>
          <a:xfrm>
            <a:off x="1783080" y="2697480"/>
            <a:ext cx="1554480" cy="274320"/>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drop / impute / xgb</a:t>
            </a:r>
            <a:endParaRPr lang="en-US" sz="900" dirty="0"/>
          </a:p>
        </p:txBody>
      </p:sp>
      <p:sp>
        <p:nvSpPr>
          <p:cNvPr id="20" name="Shape 18"/>
          <p:cNvSpPr/>
          <p:nvPr/>
        </p:nvSpPr>
        <p:spPr>
          <a:xfrm>
            <a:off x="3136392" y="1737360"/>
            <a:ext cx="137160" cy="0"/>
          </a:xfrm>
          <a:prstGeom prst="line">
            <a:avLst/>
          </a:prstGeom>
          <a:noFill/>
          <a:ln w="38100">
            <a:solidFill>
              <a:srgbClr val="FFB300"/>
            </a:solidFill>
            <a:prstDash val="solid"/>
            <a:tailEnd type="triangle"/>
          </a:ln>
        </p:spPr>
      </p:sp>
      <p:sp>
        <p:nvSpPr>
          <p:cNvPr id="21" name="Shape 19"/>
          <p:cNvSpPr/>
          <p:nvPr/>
        </p:nvSpPr>
        <p:spPr>
          <a:xfrm>
            <a:off x="3429000" y="1188720"/>
            <a:ext cx="1097280" cy="1097280"/>
          </a:xfrm>
          <a:prstGeom prst="ellipse">
            <a:avLst/>
          </a:prstGeom>
          <a:solidFill>
            <a:srgbClr val="00897B"/>
          </a:solidFill>
          <a:ln w="12700">
            <a:solidFill>
              <a:srgbClr val="00897B"/>
            </a:solidFill>
            <a:prstDash val="solid"/>
          </a:ln>
        </p:spPr>
      </p:sp>
      <p:sp>
        <p:nvSpPr>
          <p:cNvPr id="22" name="Text 20"/>
          <p:cNvSpPr/>
          <p:nvPr/>
        </p:nvSpPr>
        <p:spPr>
          <a:xfrm>
            <a:off x="3429000" y="1188720"/>
            <a:ext cx="1097280" cy="1097280"/>
          </a:xfrm>
          <a:prstGeom prst="rect">
            <a:avLst/>
          </a:prstGeom>
          <a:noFill/>
          <a:ln/>
        </p:spPr>
        <p:txBody>
          <a:bodyPr wrap="square" lIns="0" tIns="0" rIns="0" bIns="0" rtlCol="0" anchor="ctr"/>
          <a:lstStyle/>
          <a:p>
            <a:pPr algn="ctr" indent="0" marL="0">
              <a:buNone/>
            </a:pPr>
            <a:r>
              <a:rPr lang="en-US" sz="1900" b="1" spc="100" kern="0" dirty="0">
                <a:solidFill>
                  <a:srgbClr val="FFFFFF"/>
                </a:solidFill>
                <a:latin typeface="Malgun Gothic" pitchFamily="34" charset="0"/>
                <a:ea typeface="Malgun Gothic" pitchFamily="34" charset="-122"/>
                <a:cs typeface="Malgun Gothic" pitchFamily="34" charset="-120"/>
              </a:rPr>
              <a:t>FE</a:t>
            </a:r>
            <a:endParaRPr lang="en-US" sz="1900" dirty="0"/>
          </a:p>
        </p:txBody>
      </p:sp>
      <p:sp>
        <p:nvSpPr>
          <p:cNvPr id="23" name="Shape 21"/>
          <p:cNvSpPr/>
          <p:nvPr/>
        </p:nvSpPr>
        <p:spPr>
          <a:xfrm>
            <a:off x="3337560" y="1097280"/>
            <a:ext cx="384048" cy="384048"/>
          </a:xfrm>
          <a:prstGeom prst="ellipse">
            <a:avLst/>
          </a:prstGeom>
          <a:solidFill>
            <a:srgbClr val="0B1F3A"/>
          </a:solidFill>
          <a:ln w="25400">
            <a:solidFill>
              <a:srgbClr val="FFFFFF"/>
            </a:solidFill>
            <a:prstDash val="solid"/>
          </a:ln>
        </p:spPr>
      </p:sp>
      <p:sp>
        <p:nvSpPr>
          <p:cNvPr id="24" name="Text 22"/>
          <p:cNvSpPr/>
          <p:nvPr/>
        </p:nvSpPr>
        <p:spPr>
          <a:xfrm>
            <a:off x="333756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25" name="Text 23"/>
          <p:cNvSpPr/>
          <p:nvPr/>
        </p:nvSpPr>
        <p:spPr>
          <a:xfrm>
            <a:off x="3200400" y="2377440"/>
            <a:ext cx="1554480" cy="320040"/>
          </a:xfrm>
          <a:prstGeom prst="rect">
            <a:avLst/>
          </a:prstGeom>
          <a:noFill/>
          <a:ln/>
        </p:spPr>
        <p:txBody>
          <a:bodyPr wrap="square" lIns="0" tIns="0" rIns="0" bIns="0" rtlCol="0" anchor="ctr"/>
          <a:lstStyle/>
          <a:p>
            <a:pPr algn="ctr" indent="0" marL="0">
              <a:buNone/>
            </a:pPr>
            <a:r>
              <a:rPr lang="en-US" sz="1100" b="1" dirty="0">
                <a:solidFill>
                  <a:srgbClr val="0B1F3A"/>
                </a:solidFill>
                <a:latin typeface="Malgun Gothic" pitchFamily="34" charset="0"/>
                <a:ea typeface="Malgun Gothic" pitchFamily="34" charset="-122"/>
                <a:cs typeface="Malgun Gothic" pitchFamily="34" charset="-120"/>
              </a:rPr>
              <a:t>Feature Eng.</a:t>
            </a:r>
            <a:endParaRPr lang="en-US" sz="1100" dirty="0"/>
          </a:p>
        </p:txBody>
      </p:sp>
      <p:sp>
        <p:nvSpPr>
          <p:cNvPr id="26" name="Text 24"/>
          <p:cNvSpPr/>
          <p:nvPr/>
        </p:nvSpPr>
        <p:spPr>
          <a:xfrm>
            <a:off x="3200400" y="2697480"/>
            <a:ext cx="1554480" cy="274320"/>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시간·거리 분해</a:t>
            </a:r>
            <a:endParaRPr lang="en-US" sz="900" dirty="0"/>
          </a:p>
        </p:txBody>
      </p:sp>
      <p:sp>
        <p:nvSpPr>
          <p:cNvPr id="27" name="Shape 25"/>
          <p:cNvSpPr/>
          <p:nvPr/>
        </p:nvSpPr>
        <p:spPr>
          <a:xfrm>
            <a:off x="4553712" y="1737360"/>
            <a:ext cx="137160" cy="0"/>
          </a:xfrm>
          <a:prstGeom prst="line">
            <a:avLst/>
          </a:prstGeom>
          <a:noFill/>
          <a:ln w="38100">
            <a:solidFill>
              <a:srgbClr val="FFB300"/>
            </a:solidFill>
            <a:prstDash val="solid"/>
            <a:tailEnd type="triangle"/>
          </a:ln>
        </p:spPr>
      </p:sp>
      <p:sp>
        <p:nvSpPr>
          <p:cNvPr id="28" name="Shape 26"/>
          <p:cNvSpPr/>
          <p:nvPr/>
        </p:nvSpPr>
        <p:spPr>
          <a:xfrm>
            <a:off x="4846320" y="1188720"/>
            <a:ext cx="1097280" cy="1097280"/>
          </a:xfrm>
          <a:prstGeom prst="ellipse">
            <a:avLst/>
          </a:prstGeom>
          <a:solidFill>
            <a:srgbClr val="1E88E5"/>
          </a:solidFill>
          <a:ln w="12700">
            <a:solidFill>
              <a:srgbClr val="1E88E5"/>
            </a:solidFill>
            <a:prstDash val="solid"/>
          </a:ln>
        </p:spPr>
      </p:sp>
      <p:sp>
        <p:nvSpPr>
          <p:cNvPr id="29" name="Text 27"/>
          <p:cNvSpPr/>
          <p:nvPr/>
        </p:nvSpPr>
        <p:spPr>
          <a:xfrm>
            <a:off x="4846320" y="1188720"/>
            <a:ext cx="1097280" cy="1097280"/>
          </a:xfrm>
          <a:prstGeom prst="rect">
            <a:avLst/>
          </a:prstGeom>
          <a:noFill/>
          <a:ln/>
        </p:spPr>
        <p:txBody>
          <a:bodyPr wrap="square" lIns="0" tIns="0" rIns="0" bIns="0" rtlCol="0" anchor="ctr"/>
          <a:lstStyle/>
          <a:p>
            <a:pPr algn="ctr" indent="0" marL="0">
              <a:buNone/>
            </a:pPr>
            <a:r>
              <a:rPr lang="en-US" sz="1900" b="1" spc="100" kern="0" dirty="0">
                <a:solidFill>
                  <a:srgbClr val="FFFFFF"/>
                </a:solidFill>
                <a:latin typeface="Malgun Gothic" pitchFamily="34" charset="0"/>
                <a:ea typeface="Malgun Gothic" pitchFamily="34" charset="-122"/>
                <a:cs typeface="Malgun Gothic" pitchFamily="34" charset="-120"/>
              </a:rPr>
              <a:t>ROT</a:t>
            </a:r>
            <a:endParaRPr lang="en-US" sz="1900" dirty="0"/>
          </a:p>
        </p:txBody>
      </p:sp>
      <p:sp>
        <p:nvSpPr>
          <p:cNvPr id="30" name="Shape 28"/>
          <p:cNvSpPr/>
          <p:nvPr/>
        </p:nvSpPr>
        <p:spPr>
          <a:xfrm>
            <a:off x="4754880" y="1097280"/>
            <a:ext cx="384048" cy="384048"/>
          </a:xfrm>
          <a:prstGeom prst="ellipse">
            <a:avLst/>
          </a:prstGeom>
          <a:solidFill>
            <a:srgbClr val="0B1F3A"/>
          </a:solidFill>
          <a:ln w="25400">
            <a:solidFill>
              <a:srgbClr val="FFFFFF"/>
            </a:solidFill>
            <a:prstDash val="solid"/>
          </a:ln>
        </p:spPr>
      </p:sp>
      <p:sp>
        <p:nvSpPr>
          <p:cNvPr id="31" name="Text 29"/>
          <p:cNvSpPr/>
          <p:nvPr/>
        </p:nvSpPr>
        <p:spPr>
          <a:xfrm>
            <a:off x="475488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32" name="Text 30"/>
          <p:cNvSpPr/>
          <p:nvPr/>
        </p:nvSpPr>
        <p:spPr>
          <a:xfrm>
            <a:off x="4617720" y="2377440"/>
            <a:ext cx="1554480" cy="320040"/>
          </a:xfrm>
          <a:prstGeom prst="rect">
            <a:avLst/>
          </a:prstGeom>
          <a:noFill/>
          <a:ln/>
        </p:spPr>
        <p:txBody>
          <a:bodyPr wrap="square" lIns="0" tIns="0" rIns="0" bIns="0" rtlCol="0" anchor="ctr"/>
          <a:lstStyle/>
          <a:p>
            <a:pPr algn="ctr" indent="0" marL="0">
              <a:buNone/>
            </a:pPr>
            <a:r>
              <a:rPr lang="en-US" sz="1100" b="1" dirty="0">
                <a:solidFill>
                  <a:srgbClr val="0B1F3A"/>
                </a:solidFill>
                <a:latin typeface="Malgun Gothic" pitchFamily="34" charset="0"/>
                <a:ea typeface="Malgun Gothic" pitchFamily="34" charset="-122"/>
                <a:cs typeface="Malgun Gothic" pitchFamily="34" charset="-120"/>
              </a:rPr>
              <a:t>Rotation Feats</a:t>
            </a:r>
            <a:endParaRPr lang="en-US" sz="1100" dirty="0"/>
          </a:p>
        </p:txBody>
      </p:sp>
      <p:sp>
        <p:nvSpPr>
          <p:cNvPr id="33" name="Text 31"/>
          <p:cNvSpPr/>
          <p:nvPr/>
        </p:nvSpPr>
        <p:spPr>
          <a:xfrm>
            <a:off x="4617720" y="2697480"/>
            <a:ext cx="1554480" cy="274320"/>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P1 · +335% R²</a:t>
            </a:r>
            <a:endParaRPr lang="en-US" sz="900" dirty="0"/>
          </a:p>
        </p:txBody>
      </p:sp>
      <p:sp>
        <p:nvSpPr>
          <p:cNvPr id="34" name="Shape 32"/>
          <p:cNvSpPr/>
          <p:nvPr/>
        </p:nvSpPr>
        <p:spPr>
          <a:xfrm>
            <a:off x="5971032" y="1737360"/>
            <a:ext cx="137160" cy="0"/>
          </a:xfrm>
          <a:prstGeom prst="line">
            <a:avLst/>
          </a:prstGeom>
          <a:noFill/>
          <a:ln w="38100">
            <a:solidFill>
              <a:srgbClr val="FFB300"/>
            </a:solidFill>
            <a:prstDash val="solid"/>
            <a:tailEnd type="triangle"/>
          </a:ln>
        </p:spPr>
      </p:sp>
      <p:sp>
        <p:nvSpPr>
          <p:cNvPr id="35" name="Shape 33"/>
          <p:cNvSpPr/>
          <p:nvPr/>
        </p:nvSpPr>
        <p:spPr>
          <a:xfrm>
            <a:off x="6263640" y="1188720"/>
            <a:ext cx="1097280" cy="1097280"/>
          </a:xfrm>
          <a:prstGeom prst="ellipse">
            <a:avLst/>
          </a:prstGeom>
          <a:solidFill>
            <a:srgbClr val="8E24AA"/>
          </a:solidFill>
          <a:ln w="12700">
            <a:solidFill>
              <a:srgbClr val="8E24AA"/>
            </a:solidFill>
            <a:prstDash val="solid"/>
          </a:ln>
        </p:spPr>
      </p:sp>
      <p:sp>
        <p:nvSpPr>
          <p:cNvPr id="36" name="Text 34"/>
          <p:cNvSpPr/>
          <p:nvPr/>
        </p:nvSpPr>
        <p:spPr>
          <a:xfrm>
            <a:off x="6263640" y="1188720"/>
            <a:ext cx="1097280" cy="1097280"/>
          </a:xfrm>
          <a:prstGeom prst="rect">
            <a:avLst/>
          </a:prstGeom>
          <a:noFill/>
          <a:ln/>
        </p:spPr>
        <p:txBody>
          <a:bodyPr wrap="square" lIns="0" tIns="0" rIns="0" bIns="0" rtlCol="0" anchor="ctr"/>
          <a:lstStyle/>
          <a:p>
            <a:pPr algn="ctr" indent="0" marL="0">
              <a:buNone/>
            </a:pPr>
            <a:r>
              <a:rPr lang="en-US" sz="1900" b="1" spc="100" kern="0" dirty="0">
                <a:solidFill>
                  <a:srgbClr val="FFFFFF"/>
                </a:solidFill>
                <a:latin typeface="Malgun Gothic" pitchFamily="34" charset="0"/>
                <a:ea typeface="Malgun Gothic" pitchFamily="34" charset="-122"/>
                <a:cs typeface="Malgun Gothic" pitchFamily="34" charset="-120"/>
              </a:rPr>
              <a:t>SPL</a:t>
            </a:r>
            <a:endParaRPr lang="en-US" sz="1900" dirty="0"/>
          </a:p>
        </p:txBody>
      </p:sp>
      <p:sp>
        <p:nvSpPr>
          <p:cNvPr id="37" name="Shape 35"/>
          <p:cNvSpPr/>
          <p:nvPr/>
        </p:nvSpPr>
        <p:spPr>
          <a:xfrm>
            <a:off x="6172200" y="1097280"/>
            <a:ext cx="384048" cy="384048"/>
          </a:xfrm>
          <a:prstGeom prst="ellipse">
            <a:avLst/>
          </a:prstGeom>
          <a:solidFill>
            <a:srgbClr val="0B1F3A"/>
          </a:solidFill>
          <a:ln w="25400">
            <a:solidFill>
              <a:srgbClr val="FFFFFF"/>
            </a:solidFill>
            <a:prstDash val="solid"/>
          </a:ln>
        </p:spPr>
      </p:sp>
      <p:sp>
        <p:nvSpPr>
          <p:cNvPr id="38" name="Text 36"/>
          <p:cNvSpPr/>
          <p:nvPr/>
        </p:nvSpPr>
        <p:spPr>
          <a:xfrm>
            <a:off x="617220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39" name="Text 37"/>
          <p:cNvSpPr/>
          <p:nvPr/>
        </p:nvSpPr>
        <p:spPr>
          <a:xfrm>
            <a:off x="6035040" y="2377440"/>
            <a:ext cx="1554480" cy="320040"/>
          </a:xfrm>
          <a:prstGeom prst="rect">
            <a:avLst/>
          </a:prstGeom>
          <a:noFill/>
          <a:ln/>
        </p:spPr>
        <p:txBody>
          <a:bodyPr wrap="square" lIns="0" tIns="0" rIns="0" bIns="0" rtlCol="0" anchor="ctr"/>
          <a:lstStyle/>
          <a:p>
            <a:pPr algn="ctr" indent="0" marL="0">
              <a:buNone/>
            </a:pPr>
            <a:r>
              <a:rPr lang="en-US" sz="1100" b="1" dirty="0">
                <a:solidFill>
                  <a:srgbClr val="0B1F3A"/>
                </a:solidFill>
                <a:latin typeface="Malgun Gothic" pitchFamily="34" charset="0"/>
                <a:ea typeface="Malgun Gothic" pitchFamily="34" charset="-122"/>
                <a:cs typeface="Malgun Gothic" pitchFamily="34" charset="-120"/>
              </a:rPr>
              <a:t>Split 분할</a:t>
            </a:r>
            <a:endParaRPr lang="en-US" sz="1100" dirty="0"/>
          </a:p>
        </p:txBody>
      </p:sp>
      <p:sp>
        <p:nvSpPr>
          <p:cNvPr id="40" name="Text 38"/>
          <p:cNvSpPr/>
          <p:nvPr/>
        </p:nvSpPr>
        <p:spPr>
          <a:xfrm>
            <a:off x="6035040" y="2697480"/>
            <a:ext cx="1554480" cy="274320"/>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TimeSeriesSplit</a:t>
            </a:r>
            <a:endParaRPr lang="en-US" sz="900" dirty="0"/>
          </a:p>
        </p:txBody>
      </p:sp>
      <p:sp>
        <p:nvSpPr>
          <p:cNvPr id="41" name="Shape 39"/>
          <p:cNvSpPr/>
          <p:nvPr/>
        </p:nvSpPr>
        <p:spPr>
          <a:xfrm>
            <a:off x="7388352" y="1737360"/>
            <a:ext cx="137160" cy="0"/>
          </a:xfrm>
          <a:prstGeom prst="line">
            <a:avLst/>
          </a:prstGeom>
          <a:noFill/>
          <a:ln w="38100">
            <a:solidFill>
              <a:srgbClr val="FFB300"/>
            </a:solidFill>
            <a:prstDash val="solid"/>
            <a:tailEnd type="triangle"/>
          </a:ln>
        </p:spPr>
      </p:sp>
      <p:sp>
        <p:nvSpPr>
          <p:cNvPr id="42" name="Shape 40"/>
          <p:cNvSpPr/>
          <p:nvPr/>
        </p:nvSpPr>
        <p:spPr>
          <a:xfrm>
            <a:off x="7680960" y="1188720"/>
            <a:ext cx="1097280" cy="1097280"/>
          </a:xfrm>
          <a:prstGeom prst="ellipse">
            <a:avLst/>
          </a:prstGeom>
          <a:solidFill>
            <a:srgbClr val="43A047"/>
          </a:solidFill>
          <a:ln w="12700">
            <a:solidFill>
              <a:srgbClr val="43A047"/>
            </a:solidFill>
            <a:prstDash val="solid"/>
          </a:ln>
        </p:spPr>
      </p:sp>
      <p:sp>
        <p:nvSpPr>
          <p:cNvPr id="43" name="Text 41"/>
          <p:cNvSpPr/>
          <p:nvPr/>
        </p:nvSpPr>
        <p:spPr>
          <a:xfrm>
            <a:off x="7680960" y="1188720"/>
            <a:ext cx="1097280" cy="1097280"/>
          </a:xfrm>
          <a:prstGeom prst="rect">
            <a:avLst/>
          </a:prstGeom>
          <a:noFill/>
          <a:ln/>
        </p:spPr>
        <p:txBody>
          <a:bodyPr wrap="square" lIns="0" tIns="0" rIns="0" bIns="0" rtlCol="0" anchor="ctr"/>
          <a:lstStyle/>
          <a:p>
            <a:pPr algn="ctr" indent="0" marL="0">
              <a:buNone/>
            </a:pPr>
            <a:r>
              <a:rPr lang="en-US" sz="1900" b="1" spc="100" kern="0" dirty="0">
                <a:solidFill>
                  <a:srgbClr val="FFFFFF"/>
                </a:solidFill>
                <a:latin typeface="Malgun Gothic" pitchFamily="34" charset="0"/>
                <a:ea typeface="Malgun Gothic" pitchFamily="34" charset="-122"/>
                <a:cs typeface="Malgun Gothic" pitchFamily="34" charset="-120"/>
              </a:rPr>
              <a:t>ICE</a:t>
            </a:r>
            <a:endParaRPr lang="en-US" sz="1900" dirty="0"/>
          </a:p>
        </p:txBody>
      </p:sp>
      <p:sp>
        <p:nvSpPr>
          <p:cNvPr id="44" name="Shape 42"/>
          <p:cNvSpPr/>
          <p:nvPr/>
        </p:nvSpPr>
        <p:spPr>
          <a:xfrm>
            <a:off x="7589520" y="1097280"/>
            <a:ext cx="384048" cy="384048"/>
          </a:xfrm>
          <a:prstGeom prst="ellipse">
            <a:avLst/>
          </a:prstGeom>
          <a:solidFill>
            <a:srgbClr val="0B1F3A"/>
          </a:solidFill>
          <a:ln w="25400">
            <a:solidFill>
              <a:srgbClr val="FFFFFF"/>
            </a:solidFill>
            <a:prstDash val="solid"/>
          </a:ln>
        </p:spPr>
      </p:sp>
      <p:sp>
        <p:nvSpPr>
          <p:cNvPr id="45" name="Text 43"/>
          <p:cNvSpPr/>
          <p:nvPr/>
        </p:nvSpPr>
        <p:spPr>
          <a:xfrm>
            <a:off x="758952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6</a:t>
            </a:r>
            <a:endParaRPr lang="en-US" sz="1300" dirty="0"/>
          </a:p>
        </p:txBody>
      </p:sp>
      <p:sp>
        <p:nvSpPr>
          <p:cNvPr id="46" name="Text 44"/>
          <p:cNvSpPr/>
          <p:nvPr/>
        </p:nvSpPr>
        <p:spPr>
          <a:xfrm>
            <a:off x="7452360" y="2377440"/>
            <a:ext cx="1554480" cy="320040"/>
          </a:xfrm>
          <a:prstGeom prst="rect">
            <a:avLst/>
          </a:prstGeom>
          <a:noFill/>
          <a:ln/>
        </p:spPr>
        <p:txBody>
          <a:bodyPr wrap="square" lIns="0" tIns="0" rIns="0" bIns="0" rtlCol="0" anchor="ctr"/>
          <a:lstStyle/>
          <a:p>
            <a:pPr algn="ctr" indent="0" marL="0">
              <a:buNone/>
            </a:pPr>
            <a:r>
              <a:rPr lang="en-US" sz="1100" b="1" dirty="0">
                <a:solidFill>
                  <a:srgbClr val="0B1F3A"/>
                </a:solidFill>
                <a:latin typeface="Malgun Gothic" pitchFamily="34" charset="0"/>
                <a:ea typeface="Malgun Gothic" pitchFamily="34" charset="-122"/>
                <a:cs typeface="Malgun Gothic" pitchFamily="34" charset="-120"/>
              </a:rPr>
              <a:t>Iceberg 저장</a:t>
            </a:r>
            <a:endParaRPr lang="en-US" sz="1100" dirty="0"/>
          </a:p>
        </p:txBody>
      </p:sp>
      <p:sp>
        <p:nvSpPr>
          <p:cNvPr id="47" name="Text 45"/>
          <p:cNvSpPr/>
          <p:nvPr/>
        </p:nvSpPr>
        <p:spPr>
          <a:xfrm>
            <a:off x="7452360" y="2697480"/>
            <a:ext cx="1554480" cy="274320"/>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Bronze/Silver/Gold</a:t>
            </a:r>
            <a:endParaRPr lang="en-US" sz="900" dirty="0"/>
          </a:p>
        </p:txBody>
      </p:sp>
      <p:sp>
        <p:nvSpPr>
          <p:cNvPr id="48" name="Shape 46"/>
          <p:cNvSpPr/>
          <p:nvPr/>
        </p:nvSpPr>
        <p:spPr>
          <a:xfrm>
            <a:off x="457200" y="3383280"/>
            <a:ext cx="3840480" cy="1188720"/>
          </a:xfrm>
          <a:prstGeom prst="roundRect">
            <a:avLst>
              <a:gd name="adj" fmla="val 6154"/>
            </a:avLst>
          </a:prstGeom>
          <a:solidFill>
            <a:srgbClr val="E3F2FD"/>
          </a:solidFill>
          <a:ln w="19050">
            <a:solidFill>
              <a:srgbClr val="EF5350"/>
            </a:solidFill>
            <a:prstDash val="solid"/>
          </a:ln>
        </p:spPr>
      </p:sp>
      <p:sp>
        <p:nvSpPr>
          <p:cNvPr id="49" name="Text 47"/>
          <p:cNvSpPr/>
          <p:nvPr/>
        </p:nvSpPr>
        <p:spPr>
          <a:xfrm>
            <a:off x="640080" y="3429000"/>
            <a:ext cx="3657600" cy="274320"/>
          </a:xfrm>
          <a:prstGeom prst="rect">
            <a:avLst/>
          </a:prstGeom>
          <a:noFill/>
          <a:ln/>
        </p:spPr>
        <p:txBody>
          <a:bodyPr wrap="square" lIns="0" tIns="0" rIns="0" bIns="0" rtlCol="0" anchor="ctr"/>
          <a:lstStyle/>
          <a:p>
            <a:pPr indent="0" marL="0">
              <a:buNone/>
            </a:pPr>
            <a:r>
              <a:rPr lang="en-US" sz="1100" b="1" dirty="0">
                <a:solidFill>
                  <a:srgbClr val="EF5350"/>
                </a:solidFill>
                <a:latin typeface="Malgun Gothic" pitchFamily="34" charset="0"/>
                <a:ea typeface="Malgun Gothic" pitchFamily="34" charset="-122"/>
                <a:cs typeface="Malgun Gothic" pitchFamily="34" charset="-120"/>
              </a:rPr>
              <a:t>📥  INPUT</a:t>
            </a:r>
            <a:endParaRPr lang="en-US" sz="1100" dirty="0"/>
          </a:p>
        </p:txBody>
      </p:sp>
      <p:sp>
        <p:nvSpPr>
          <p:cNvPr id="50" name="Text 48"/>
          <p:cNvSpPr/>
          <p:nvPr/>
        </p:nvSpPr>
        <p:spPr>
          <a:xfrm>
            <a:off x="640080" y="3657600"/>
            <a:ext cx="3657600" cy="914400"/>
          </a:xfrm>
          <a:prstGeom prst="rect">
            <a:avLst/>
          </a:prstGeom>
          <a:noFill/>
          <a:ln/>
        </p:spPr>
        <p:txBody>
          <a:bodyPr wrap="square" lIns="0" tIns="0" rIns="0" bIns="0" rtlCol="0" anchor="ctr"/>
          <a:lstStyle/>
          <a:p>
            <a:pPr indent="0" marL="0">
              <a:buNone/>
            </a:pPr>
            <a:r>
              <a:rPr lang="en-US" sz="1000" dirty="0">
                <a:solidFill>
                  <a:srgbClr val="37474F"/>
                </a:solidFill>
                <a:latin typeface="Malgun Gothic" pitchFamily="34" charset="0"/>
                <a:ea typeface="Malgun Gothic" pitchFamily="34" charset="-122"/>
                <a:cs typeface="Malgun Gothic" pitchFamily="34" charset="-120"/>
              </a:rPr>
              <a:t>Raw flights.csv  (5.7M rows · 31 cols)</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 결측·이상치·중복 포함</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 타입 불일치</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 사용할 수 없음 that's why we preprocess</a:t>
            </a:r>
            <a:endParaRPr lang="en-US" sz="1000" dirty="0"/>
          </a:p>
        </p:txBody>
      </p:sp>
      <p:sp>
        <p:nvSpPr>
          <p:cNvPr id="51" name="Shape 49"/>
          <p:cNvSpPr/>
          <p:nvPr/>
        </p:nvSpPr>
        <p:spPr>
          <a:xfrm>
            <a:off x="4846320" y="3383280"/>
            <a:ext cx="3840480" cy="1188720"/>
          </a:xfrm>
          <a:prstGeom prst="roundRect">
            <a:avLst>
              <a:gd name="adj" fmla="val 6154"/>
            </a:avLst>
          </a:prstGeom>
          <a:solidFill>
            <a:srgbClr val="E3F2FD"/>
          </a:solidFill>
          <a:ln w="19050">
            <a:solidFill>
              <a:srgbClr val="43A047"/>
            </a:solidFill>
            <a:prstDash val="solid"/>
          </a:ln>
        </p:spPr>
      </p:sp>
      <p:sp>
        <p:nvSpPr>
          <p:cNvPr id="52" name="Text 50"/>
          <p:cNvSpPr/>
          <p:nvPr/>
        </p:nvSpPr>
        <p:spPr>
          <a:xfrm>
            <a:off x="5029200" y="3429000"/>
            <a:ext cx="3657600" cy="274320"/>
          </a:xfrm>
          <a:prstGeom prst="rect">
            <a:avLst/>
          </a:prstGeom>
          <a:noFill/>
          <a:ln/>
        </p:spPr>
        <p:txBody>
          <a:bodyPr wrap="square" lIns="0" tIns="0" rIns="0" bIns="0" rtlCol="0" anchor="ctr"/>
          <a:lstStyle/>
          <a:p>
            <a:pPr indent="0" marL="0">
              <a:buNone/>
            </a:pPr>
            <a:r>
              <a:rPr lang="en-US" sz="1100" b="1" dirty="0">
                <a:solidFill>
                  <a:srgbClr val="43A047"/>
                </a:solidFill>
                <a:latin typeface="Malgun Gothic" pitchFamily="34" charset="0"/>
                <a:ea typeface="Malgun Gothic" pitchFamily="34" charset="-122"/>
                <a:cs typeface="Malgun Gothic" pitchFamily="34" charset="-120"/>
              </a:rPr>
              <a:t>📤  OUTPUT</a:t>
            </a:r>
            <a:endParaRPr lang="en-US" sz="1100" dirty="0"/>
          </a:p>
        </p:txBody>
      </p:sp>
      <p:sp>
        <p:nvSpPr>
          <p:cNvPr id="53" name="Text 51"/>
          <p:cNvSpPr/>
          <p:nvPr/>
        </p:nvSpPr>
        <p:spPr>
          <a:xfrm>
            <a:off x="5029200" y="3657600"/>
            <a:ext cx="3657600" cy="914400"/>
          </a:xfrm>
          <a:prstGeom prst="rect">
            <a:avLst/>
          </a:prstGeom>
          <a:noFill/>
          <a:ln/>
        </p:spPr>
        <p:txBody>
          <a:bodyPr wrap="square" lIns="0" tIns="0" rIns="0" bIns="0" rtlCol="0" anchor="ctr"/>
          <a:lstStyle/>
          <a:p>
            <a:pPr indent="0" marL="0">
              <a:buNone/>
            </a:pPr>
            <a:r>
              <a:rPr lang="en-US" sz="1000" dirty="0">
                <a:solidFill>
                  <a:srgbClr val="37474F"/>
                </a:solidFill>
                <a:latin typeface="Malgun Gothic" pitchFamily="34" charset="0"/>
                <a:ea typeface="Malgun Gothic" pitchFamily="34" charset="-122"/>
                <a:cs typeface="Malgun Gothic" pitchFamily="34" charset="-120"/>
              </a:rPr>
              <a:t>train/val/test.parquet  (400k / 50k / 50k)</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 25 numeric + 3 categorical = 28 features</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 시간순 split (no leakage)</a:t>
            </a:r>
            <a:endParaRPr lang="en-US" sz="10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 Model-ready</a:t>
            </a:r>
            <a:endParaRPr lang="en-US" sz="1000" dirty="0"/>
          </a:p>
        </p:txBody>
      </p:sp>
      <p:sp>
        <p:nvSpPr>
          <p:cNvPr id="54" name="Shape 52"/>
          <p:cNvSpPr/>
          <p:nvPr/>
        </p:nvSpPr>
        <p:spPr>
          <a:xfrm>
            <a:off x="0" y="4892040"/>
            <a:ext cx="9144000" cy="256032"/>
          </a:xfrm>
          <a:prstGeom prst="rect">
            <a:avLst/>
          </a:prstGeom>
          <a:solidFill>
            <a:srgbClr val="0B1F3A"/>
          </a:solidFill>
          <a:ln w="12700">
            <a:solidFill>
              <a:srgbClr val="0B1F3A"/>
            </a:solidFill>
            <a:prstDash val="solid"/>
          </a:ln>
        </p:spPr>
      </p:sp>
      <p:sp>
        <p:nvSpPr>
          <p:cNvPr id="55" name="Text 53"/>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56" name="Text 54"/>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12 / 30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05 · STEP 1</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Raw → Clean · 실제 문제</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What does 'dirty data' look like?</a:t>
            </a:r>
            <a:endParaRPr lang="en-US" sz="1050" dirty="0"/>
          </a:p>
        </p:txBody>
      </p:sp>
      <p:sp>
        <p:nvSpPr>
          <p:cNvPr id="7" name="Shape 5"/>
          <p:cNvSpPr/>
          <p:nvPr/>
        </p:nvSpPr>
        <p:spPr>
          <a:xfrm>
            <a:off x="457200" y="960120"/>
            <a:ext cx="8138160" cy="1828800"/>
          </a:xfrm>
          <a:prstGeom prst="roundRect">
            <a:avLst>
              <a:gd name="adj" fmla="val 4000"/>
            </a:avLst>
          </a:prstGeom>
          <a:solidFill>
            <a:srgbClr val="FFFFFF"/>
          </a:solidFill>
          <a:ln w="19050">
            <a:solidFill>
              <a:srgbClr val="EF5350"/>
            </a:solidFill>
            <a:prstDash val="solid"/>
          </a:ln>
        </p:spPr>
      </p:sp>
      <p:sp>
        <p:nvSpPr>
          <p:cNvPr id="8" name="Text 6"/>
          <p:cNvSpPr/>
          <p:nvPr/>
        </p:nvSpPr>
        <p:spPr>
          <a:xfrm>
            <a:off x="640080" y="1005840"/>
            <a:ext cx="7863840" cy="274320"/>
          </a:xfrm>
          <a:prstGeom prst="rect">
            <a:avLst/>
          </a:prstGeom>
          <a:noFill/>
          <a:ln/>
        </p:spPr>
        <p:txBody>
          <a:bodyPr wrap="square" lIns="0" tIns="0" rIns="0" bIns="0" rtlCol="0" anchor="ctr"/>
          <a:lstStyle/>
          <a:p>
            <a:pPr indent="0" marL="0">
              <a:buNone/>
            </a:pPr>
            <a:r>
              <a:rPr lang="en-US" sz="1200" b="1" dirty="0">
                <a:solidFill>
                  <a:srgbClr val="EF5350"/>
                </a:solidFill>
                <a:latin typeface="Malgun Gothic" pitchFamily="34" charset="0"/>
                <a:ea typeface="Malgun Gothic" pitchFamily="34" charset="-122"/>
                <a:cs typeface="Malgun Gothic" pitchFamily="34" charset="-120"/>
              </a:rPr>
              <a:t>🔍  실제 원본 데이터에서 발견한 문제 (real issues in the raw data)</a:t>
            </a:r>
            <a:endParaRPr lang="en-US" sz="1200" dirty="0"/>
          </a:p>
        </p:txBody>
      </p:sp>
      <p:sp>
        <p:nvSpPr>
          <p:cNvPr id="9" name="Shape 7"/>
          <p:cNvSpPr/>
          <p:nvPr/>
        </p:nvSpPr>
        <p:spPr>
          <a:xfrm>
            <a:off x="640080" y="1371600"/>
            <a:ext cx="1188720" cy="274320"/>
          </a:xfrm>
          <a:prstGeom prst="rect">
            <a:avLst/>
          </a:prstGeom>
          <a:solidFill>
            <a:srgbClr val="0B1F3A"/>
          </a:solidFill>
          <a:ln w="12700">
            <a:solidFill>
              <a:srgbClr val="0B1F3A"/>
            </a:solidFill>
            <a:prstDash val="solid"/>
          </a:ln>
        </p:spPr>
      </p:sp>
      <p:sp>
        <p:nvSpPr>
          <p:cNvPr id="10" name="Text 8"/>
          <p:cNvSpPr/>
          <p:nvPr/>
        </p:nvSpPr>
        <p:spPr>
          <a:xfrm>
            <a:off x="640080" y="137160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FL_DATE</a:t>
            </a:r>
            <a:endParaRPr lang="en-US" sz="900" dirty="0"/>
          </a:p>
        </p:txBody>
      </p:sp>
      <p:sp>
        <p:nvSpPr>
          <p:cNvPr id="11" name="Shape 9"/>
          <p:cNvSpPr/>
          <p:nvPr/>
        </p:nvSpPr>
        <p:spPr>
          <a:xfrm>
            <a:off x="1828800" y="1371600"/>
            <a:ext cx="1005840" cy="274320"/>
          </a:xfrm>
          <a:prstGeom prst="rect">
            <a:avLst/>
          </a:prstGeom>
          <a:solidFill>
            <a:srgbClr val="0B1F3A"/>
          </a:solidFill>
          <a:ln w="12700">
            <a:solidFill>
              <a:srgbClr val="0B1F3A"/>
            </a:solidFill>
            <a:prstDash val="solid"/>
          </a:ln>
        </p:spPr>
      </p:sp>
      <p:sp>
        <p:nvSpPr>
          <p:cNvPr id="12" name="Text 10"/>
          <p:cNvSpPr/>
          <p:nvPr/>
        </p:nvSpPr>
        <p:spPr>
          <a:xfrm>
            <a:off x="1828800" y="1371600"/>
            <a:ext cx="10058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AIRLINE</a:t>
            </a:r>
            <a:endParaRPr lang="en-US" sz="900" dirty="0"/>
          </a:p>
        </p:txBody>
      </p:sp>
      <p:sp>
        <p:nvSpPr>
          <p:cNvPr id="13" name="Shape 11"/>
          <p:cNvSpPr/>
          <p:nvPr/>
        </p:nvSpPr>
        <p:spPr>
          <a:xfrm>
            <a:off x="2834640" y="1371600"/>
            <a:ext cx="914400" cy="274320"/>
          </a:xfrm>
          <a:prstGeom prst="rect">
            <a:avLst/>
          </a:prstGeom>
          <a:solidFill>
            <a:srgbClr val="0B1F3A"/>
          </a:solidFill>
          <a:ln w="12700">
            <a:solidFill>
              <a:srgbClr val="0B1F3A"/>
            </a:solidFill>
            <a:prstDash val="solid"/>
          </a:ln>
        </p:spPr>
      </p:sp>
      <p:sp>
        <p:nvSpPr>
          <p:cNvPr id="14" name="Text 12"/>
          <p:cNvSpPr/>
          <p:nvPr/>
        </p:nvSpPr>
        <p:spPr>
          <a:xfrm>
            <a:off x="2834640" y="1371600"/>
            <a:ext cx="9144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ORIGIN</a:t>
            </a:r>
            <a:endParaRPr lang="en-US" sz="900" dirty="0"/>
          </a:p>
        </p:txBody>
      </p:sp>
      <p:sp>
        <p:nvSpPr>
          <p:cNvPr id="15" name="Shape 13"/>
          <p:cNvSpPr/>
          <p:nvPr/>
        </p:nvSpPr>
        <p:spPr>
          <a:xfrm>
            <a:off x="3749040" y="1371600"/>
            <a:ext cx="914400" cy="274320"/>
          </a:xfrm>
          <a:prstGeom prst="rect">
            <a:avLst/>
          </a:prstGeom>
          <a:solidFill>
            <a:srgbClr val="0B1F3A"/>
          </a:solidFill>
          <a:ln w="12700">
            <a:solidFill>
              <a:srgbClr val="0B1F3A"/>
            </a:solidFill>
            <a:prstDash val="solid"/>
          </a:ln>
        </p:spPr>
      </p:sp>
      <p:sp>
        <p:nvSpPr>
          <p:cNvPr id="16" name="Text 14"/>
          <p:cNvSpPr/>
          <p:nvPr/>
        </p:nvSpPr>
        <p:spPr>
          <a:xfrm>
            <a:off x="3749040" y="1371600"/>
            <a:ext cx="9144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DEP_DELAY</a:t>
            </a:r>
            <a:endParaRPr lang="en-US" sz="900" dirty="0"/>
          </a:p>
        </p:txBody>
      </p:sp>
      <p:sp>
        <p:nvSpPr>
          <p:cNvPr id="17" name="Shape 15"/>
          <p:cNvSpPr/>
          <p:nvPr/>
        </p:nvSpPr>
        <p:spPr>
          <a:xfrm>
            <a:off x="4754880" y="1371600"/>
            <a:ext cx="914400" cy="274320"/>
          </a:xfrm>
          <a:prstGeom prst="rect">
            <a:avLst/>
          </a:prstGeom>
          <a:solidFill>
            <a:srgbClr val="0B1F3A"/>
          </a:solidFill>
          <a:ln w="12700">
            <a:solidFill>
              <a:srgbClr val="0B1F3A"/>
            </a:solidFill>
            <a:prstDash val="solid"/>
          </a:ln>
        </p:spPr>
      </p:sp>
      <p:sp>
        <p:nvSpPr>
          <p:cNvPr id="18" name="Text 16"/>
          <p:cNvSpPr/>
          <p:nvPr/>
        </p:nvSpPr>
        <p:spPr>
          <a:xfrm>
            <a:off x="4754880" y="1371600"/>
            <a:ext cx="9144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DISTANCE</a:t>
            </a:r>
            <a:endParaRPr lang="en-US" sz="900" dirty="0"/>
          </a:p>
        </p:txBody>
      </p:sp>
      <p:sp>
        <p:nvSpPr>
          <p:cNvPr id="19" name="Shape 17"/>
          <p:cNvSpPr/>
          <p:nvPr/>
        </p:nvSpPr>
        <p:spPr>
          <a:xfrm>
            <a:off x="5760720" y="1371600"/>
            <a:ext cx="2743200" cy="274320"/>
          </a:xfrm>
          <a:prstGeom prst="rect">
            <a:avLst/>
          </a:prstGeom>
          <a:solidFill>
            <a:srgbClr val="0B1F3A"/>
          </a:solidFill>
          <a:ln w="12700">
            <a:solidFill>
              <a:srgbClr val="0B1F3A"/>
            </a:solidFill>
            <a:prstDash val="solid"/>
          </a:ln>
        </p:spPr>
      </p:sp>
      <p:sp>
        <p:nvSpPr>
          <p:cNvPr id="20" name="Text 18"/>
          <p:cNvSpPr/>
          <p:nvPr/>
        </p:nvSpPr>
        <p:spPr>
          <a:xfrm>
            <a:off x="5760720" y="1371600"/>
            <a:ext cx="27432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문제 유형 / Issue</a:t>
            </a:r>
            <a:endParaRPr lang="en-US" sz="900" dirty="0"/>
          </a:p>
        </p:txBody>
      </p:sp>
      <p:sp>
        <p:nvSpPr>
          <p:cNvPr id="21" name="Shape 19"/>
          <p:cNvSpPr/>
          <p:nvPr/>
        </p:nvSpPr>
        <p:spPr>
          <a:xfrm>
            <a:off x="640080" y="1664208"/>
            <a:ext cx="1188720" cy="201168"/>
          </a:xfrm>
          <a:prstGeom prst="rect">
            <a:avLst/>
          </a:prstGeom>
          <a:solidFill>
            <a:srgbClr val="FFFFFF"/>
          </a:solidFill>
          <a:ln w="6350">
            <a:solidFill>
              <a:srgbClr val="DDDDDD"/>
            </a:solidFill>
            <a:prstDash val="solid"/>
          </a:ln>
        </p:spPr>
      </p:sp>
      <p:sp>
        <p:nvSpPr>
          <p:cNvPr id="22" name="Text 20"/>
          <p:cNvSpPr/>
          <p:nvPr/>
        </p:nvSpPr>
        <p:spPr>
          <a:xfrm>
            <a:off x="640080" y="1664208"/>
            <a:ext cx="118872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2015-01-05</a:t>
            </a:r>
            <a:endParaRPr lang="en-US" sz="850" dirty="0"/>
          </a:p>
        </p:txBody>
      </p:sp>
      <p:sp>
        <p:nvSpPr>
          <p:cNvPr id="23" name="Shape 21"/>
          <p:cNvSpPr/>
          <p:nvPr/>
        </p:nvSpPr>
        <p:spPr>
          <a:xfrm>
            <a:off x="1828800" y="1664208"/>
            <a:ext cx="1005840" cy="201168"/>
          </a:xfrm>
          <a:prstGeom prst="rect">
            <a:avLst/>
          </a:prstGeom>
          <a:solidFill>
            <a:srgbClr val="FFFFFF"/>
          </a:solidFill>
          <a:ln w="6350">
            <a:solidFill>
              <a:srgbClr val="DDDDDD"/>
            </a:solidFill>
            <a:prstDash val="solid"/>
          </a:ln>
        </p:spPr>
      </p:sp>
      <p:sp>
        <p:nvSpPr>
          <p:cNvPr id="24" name="Text 22"/>
          <p:cNvSpPr/>
          <p:nvPr/>
        </p:nvSpPr>
        <p:spPr>
          <a:xfrm>
            <a:off x="1828800" y="1664208"/>
            <a:ext cx="100584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UA</a:t>
            </a:r>
            <a:endParaRPr lang="en-US" sz="850" dirty="0"/>
          </a:p>
        </p:txBody>
      </p:sp>
      <p:sp>
        <p:nvSpPr>
          <p:cNvPr id="25" name="Shape 23"/>
          <p:cNvSpPr/>
          <p:nvPr/>
        </p:nvSpPr>
        <p:spPr>
          <a:xfrm>
            <a:off x="2834640" y="1664208"/>
            <a:ext cx="914400" cy="201168"/>
          </a:xfrm>
          <a:prstGeom prst="rect">
            <a:avLst/>
          </a:prstGeom>
          <a:solidFill>
            <a:srgbClr val="FFFFFF"/>
          </a:solidFill>
          <a:ln w="6350">
            <a:solidFill>
              <a:srgbClr val="DDDDDD"/>
            </a:solidFill>
            <a:prstDash val="solid"/>
          </a:ln>
        </p:spPr>
      </p:sp>
      <p:sp>
        <p:nvSpPr>
          <p:cNvPr id="26" name="Text 24"/>
          <p:cNvSpPr/>
          <p:nvPr/>
        </p:nvSpPr>
        <p:spPr>
          <a:xfrm>
            <a:off x="2834640" y="1664208"/>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SFO</a:t>
            </a:r>
            <a:endParaRPr lang="en-US" sz="850" dirty="0"/>
          </a:p>
        </p:txBody>
      </p:sp>
      <p:sp>
        <p:nvSpPr>
          <p:cNvPr id="27" name="Shape 25"/>
          <p:cNvSpPr/>
          <p:nvPr/>
        </p:nvSpPr>
        <p:spPr>
          <a:xfrm>
            <a:off x="3749040" y="1664208"/>
            <a:ext cx="914400" cy="201168"/>
          </a:xfrm>
          <a:prstGeom prst="rect">
            <a:avLst/>
          </a:prstGeom>
          <a:solidFill>
            <a:srgbClr val="FFFFFF"/>
          </a:solidFill>
          <a:ln w="6350">
            <a:solidFill>
              <a:srgbClr val="DDDDDD"/>
            </a:solidFill>
            <a:prstDash val="solid"/>
          </a:ln>
        </p:spPr>
      </p:sp>
      <p:sp>
        <p:nvSpPr>
          <p:cNvPr id="28" name="Text 26"/>
          <p:cNvSpPr/>
          <p:nvPr/>
        </p:nvSpPr>
        <p:spPr>
          <a:xfrm>
            <a:off x="3749040" y="1664208"/>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15</a:t>
            </a:r>
            <a:endParaRPr lang="en-US" sz="850" dirty="0"/>
          </a:p>
        </p:txBody>
      </p:sp>
      <p:sp>
        <p:nvSpPr>
          <p:cNvPr id="29" name="Shape 27"/>
          <p:cNvSpPr/>
          <p:nvPr/>
        </p:nvSpPr>
        <p:spPr>
          <a:xfrm>
            <a:off x="4754880" y="1664208"/>
            <a:ext cx="914400" cy="201168"/>
          </a:xfrm>
          <a:prstGeom prst="rect">
            <a:avLst/>
          </a:prstGeom>
          <a:solidFill>
            <a:srgbClr val="FFFFFF"/>
          </a:solidFill>
          <a:ln w="6350">
            <a:solidFill>
              <a:srgbClr val="DDDDDD"/>
            </a:solidFill>
            <a:prstDash val="solid"/>
          </a:ln>
        </p:spPr>
      </p:sp>
      <p:sp>
        <p:nvSpPr>
          <p:cNvPr id="30" name="Text 28"/>
          <p:cNvSpPr/>
          <p:nvPr/>
        </p:nvSpPr>
        <p:spPr>
          <a:xfrm>
            <a:off x="4754880" y="1664208"/>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2586</a:t>
            </a:r>
            <a:endParaRPr lang="en-US" sz="850" dirty="0"/>
          </a:p>
        </p:txBody>
      </p:sp>
      <p:sp>
        <p:nvSpPr>
          <p:cNvPr id="31" name="Shape 29"/>
          <p:cNvSpPr/>
          <p:nvPr/>
        </p:nvSpPr>
        <p:spPr>
          <a:xfrm>
            <a:off x="5760720" y="1664208"/>
            <a:ext cx="2743200" cy="201168"/>
          </a:xfrm>
          <a:prstGeom prst="rect">
            <a:avLst/>
          </a:prstGeom>
          <a:solidFill>
            <a:srgbClr val="FFFFFF"/>
          </a:solidFill>
          <a:ln w="6350">
            <a:solidFill>
              <a:srgbClr val="DDDDDD"/>
            </a:solidFill>
            <a:prstDash val="solid"/>
          </a:ln>
        </p:spPr>
      </p:sp>
      <p:sp>
        <p:nvSpPr>
          <p:cNvPr id="32" name="Text 30"/>
          <p:cNvSpPr/>
          <p:nvPr/>
        </p:nvSpPr>
        <p:spPr>
          <a:xfrm>
            <a:off x="5852160" y="1664208"/>
            <a:ext cx="2651760" cy="201168"/>
          </a:xfrm>
          <a:prstGeom prst="rect">
            <a:avLst/>
          </a:prstGeom>
          <a:noFill/>
          <a:ln/>
        </p:spPr>
        <p:txBody>
          <a:bodyPr wrap="square" lIns="0" tIns="0" rIns="0" bIns="0" rtlCol="0" anchor="ctr"/>
          <a:lstStyle/>
          <a:p>
            <a:pPr algn="l" indent="0" marL="0">
              <a:buNone/>
            </a:pPr>
            <a:r>
              <a:rPr lang="en-US" sz="850" b="1" dirty="0">
                <a:solidFill>
                  <a:srgbClr val="43A047"/>
                </a:solidFill>
                <a:latin typeface="Malgun Gothic" pitchFamily="34" charset="0"/>
                <a:ea typeface="Malgun Gothic" pitchFamily="34" charset="-122"/>
                <a:cs typeface="Malgun Gothic" pitchFamily="34" charset="-120"/>
              </a:rPr>
              <a:t>OK</a:t>
            </a:r>
            <a:endParaRPr lang="en-US" sz="850" dirty="0"/>
          </a:p>
        </p:txBody>
      </p:sp>
      <p:sp>
        <p:nvSpPr>
          <p:cNvPr id="33" name="Shape 31"/>
          <p:cNvSpPr/>
          <p:nvPr/>
        </p:nvSpPr>
        <p:spPr>
          <a:xfrm>
            <a:off x="640080" y="1865376"/>
            <a:ext cx="1188720" cy="201168"/>
          </a:xfrm>
          <a:prstGeom prst="rect">
            <a:avLst/>
          </a:prstGeom>
          <a:solidFill>
            <a:srgbClr val="FFF0F0"/>
          </a:solidFill>
          <a:ln w="6350">
            <a:solidFill>
              <a:srgbClr val="DDDDDD"/>
            </a:solidFill>
            <a:prstDash val="solid"/>
          </a:ln>
        </p:spPr>
      </p:sp>
      <p:sp>
        <p:nvSpPr>
          <p:cNvPr id="34" name="Text 32"/>
          <p:cNvSpPr/>
          <p:nvPr/>
        </p:nvSpPr>
        <p:spPr>
          <a:xfrm>
            <a:off x="640080" y="1865376"/>
            <a:ext cx="118872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2015-01-05</a:t>
            </a:r>
            <a:endParaRPr lang="en-US" sz="850" dirty="0"/>
          </a:p>
        </p:txBody>
      </p:sp>
      <p:sp>
        <p:nvSpPr>
          <p:cNvPr id="35" name="Shape 33"/>
          <p:cNvSpPr/>
          <p:nvPr/>
        </p:nvSpPr>
        <p:spPr>
          <a:xfrm>
            <a:off x="1828800" y="1865376"/>
            <a:ext cx="1005840" cy="201168"/>
          </a:xfrm>
          <a:prstGeom prst="rect">
            <a:avLst/>
          </a:prstGeom>
          <a:solidFill>
            <a:srgbClr val="FFF0F0"/>
          </a:solidFill>
          <a:ln w="6350">
            <a:solidFill>
              <a:srgbClr val="DDDDDD"/>
            </a:solidFill>
            <a:prstDash val="solid"/>
          </a:ln>
        </p:spPr>
      </p:sp>
      <p:sp>
        <p:nvSpPr>
          <p:cNvPr id="36" name="Text 34"/>
          <p:cNvSpPr/>
          <p:nvPr/>
        </p:nvSpPr>
        <p:spPr>
          <a:xfrm>
            <a:off x="1828800" y="1865376"/>
            <a:ext cx="100584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UA</a:t>
            </a:r>
            <a:endParaRPr lang="en-US" sz="850" dirty="0"/>
          </a:p>
        </p:txBody>
      </p:sp>
      <p:sp>
        <p:nvSpPr>
          <p:cNvPr id="37" name="Shape 35"/>
          <p:cNvSpPr/>
          <p:nvPr/>
        </p:nvSpPr>
        <p:spPr>
          <a:xfrm>
            <a:off x="2834640" y="1865376"/>
            <a:ext cx="914400" cy="201168"/>
          </a:xfrm>
          <a:prstGeom prst="rect">
            <a:avLst/>
          </a:prstGeom>
          <a:solidFill>
            <a:srgbClr val="FFF0F0"/>
          </a:solidFill>
          <a:ln w="6350">
            <a:solidFill>
              <a:srgbClr val="DDDDDD"/>
            </a:solidFill>
            <a:prstDash val="solid"/>
          </a:ln>
        </p:spPr>
      </p:sp>
      <p:sp>
        <p:nvSpPr>
          <p:cNvPr id="38" name="Text 36"/>
          <p:cNvSpPr/>
          <p:nvPr/>
        </p:nvSpPr>
        <p:spPr>
          <a:xfrm>
            <a:off x="2834640" y="1865376"/>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SFO</a:t>
            </a:r>
            <a:endParaRPr lang="en-US" sz="850" dirty="0"/>
          </a:p>
        </p:txBody>
      </p:sp>
      <p:sp>
        <p:nvSpPr>
          <p:cNvPr id="39" name="Shape 37"/>
          <p:cNvSpPr/>
          <p:nvPr/>
        </p:nvSpPr>
        <p:spPr>
          <a:xfrm>
            <a:off x="3749040" y="1865376"/>
            <a:ext cx="914400" cy="201168"/>
          </a:xfrm>
          <a:prstGeom prst="rect">
            <a:avLst/>
          </a:prstGeom>
          <a:solidFill>
            <a:srgbClr val="FFF0F0"/>
          </a:solidFill>
          <a:ln w="6350">
            <a:solidFill>
              <a:srgbClr val="DDDDDD"/>
            </a:solidFill>
            <a:prstDash val="solid"/>
          </a:ln>
        </p:spPr>
      </p:sp>
      <p:sp>
        <p:nvSpPr>
          <p:cNvPr id="40" name="Text 38"/>
          <p:cNvSpPr/>
          <p:nvPr/>
        </p:nvSpPr>
        <p:spPr>
          <a:xfrm>
            <a:off x="3749040" y="1865376"/>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15</a:t>
            </a:r>
            <a:endParaRPr lang="en-US" sz="850" dirty="0"/>
          </a:p>
        </p:txBody>
      </p:sp>
      <p:sp>
        <p:nvSpPr>
          <p:cNvPr id="41" name="Shape 39"/>
          <p:cNvSpPr/>
          <p:nvPr/>
        </p:nvSpPr>
        <p:spPr>
          <a:xfrm>
            <a:off x="4754880" y="1865376"/>
            <a:ext cx="914400" cy="201168"/>
          </a:xfrm>
          <a:prstGeom prst="rect">
            <a:avLst/>
          </a:prstGeom>
          <a:solidFill>
            <a:srgbClr val="FFF0F0"/>
          </a:solidFill>
          <a:ln w="6350">
            <a:solidFill>
              <a:srgbClr val="DDDDDD"/>
            </a:solidFill>
            <a:prstDash val="solid"/>
          </a:ln>
        </p:spPr>
      </p:sp>
      <p:sp>
        <p:nvSpPr>
          <p:cNvPr id="42" name="Text 40"/>
          <p:cNvSpPr/>
          <p:nvPr/>
        </p:nvSpPr>
        <p:spPr>
          <a:xfrm>
            <a:off x="4754880" y="1865376"/>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2586</a:t>
            </a:r>
            <a:endParaRPr lang="en-US" sz="850" dirty="0"/>
          </a:p>
        </p:txBody>
      </p:sp>
      <p:sp>
        <p:nvSpPr>
          <p:cNvPr id="43" name="Shape 41"/>
          <p:cNvSpPr/>
          <p:nvPr/>
        </p:nvSpPr>
        <p:spPr>
          <a:xfrm>
            <a:off x="5760720" y="1865376"/>
            <a:ext cx="2743200" cy="201168"/>
          </a:xfrm>
          <a:prstGeom prst="rect">
            <a:avLst/>
          </a:prstGeom>
          <a:solidFill>
            <a:srgbClr val="FFF0F0"/>
          </a:solidFill>
          <a:ln w="6350">
            <a:solidFill>
              <a:srgbClr val="DDDDDD"/>
            </a:solidFill>
            <a:prstDash val="solid"/>
          </a:ln>
        </p:spPr>
      </p:sp>
      <p:sp>
        <p:nvSpPr>
          <p:cNvPr id="44" name="Text 42"/>
          <p:cNvSpPr/>
          <p:nvPr/>
        </p:nvSpPr>
        <p:spPr>
          <a:xfrm>
            <a:off x="5852160" y="1865376"/>
            <a:ext cx="2651760" cy="201168"/>
          </a:xfrm>
          <a:prstGeom prst="rect">
            <a:avLst/>
          </a:prstGeom>
          <a:noFill/>
          <a:ln/>
        </p:spPr>
        <p:txBody>
          <a:bodyPr wrap="square" lIns="0" tIns="0" rIns="0" bIns="0" rtlCol="0" anchor="ctr"/>
          <a:lstStyle/>
          <a:p>
            <a:pPr algn="l" indent="0" marL="0">
              <a:buNone/>
            </a:pPr>
            <a:r>
              <a:rPr lang="en-US" sz="850" b="1" dirty="0">
                <a:solidFill>
                  <a:srgbClr val="EF5350"/>
                </a:solidFill>
                <a:latin typeface="Malgun Gothic" pitchFamily="34" charset="0"/>
                <a:ea typeface="Malgun Gothic" pitchFamily="34" charset="-122"/>
                <a:cs typeface="Malgun Gothic" pitchFamily="34" charset="-120"/>
              </a:rPr>
              <a:t>⚠ 중복 duplicate</a:t>
            </a:r>
            <a:endParaRPr lang="en-US" sz="850" dirty="0"/>
          </a:p>
        </p:txBody>
      </p:sp>
      <p:sp>
        <p:nvSpPr>
          <p:cNvPr id="45" name="Shape 43"/>
          <p:cNvSpPr/>
          <p:nvPr/>
        </p:nvSpPr>
        <p:spPr>
          <a:xfrm>
            <a:off x="640080" y="2066544"/>
            <a:ext cx="1188720" cy="201168"/>
          </a:xfrm>
          <a:prstGeom prst="rect">
            <a:avLst/>
          </a:prstGeom>
          <a:solidFill>
            <a:srgbClr val="FFF0F0"/>
          </a:solidFill>
          <a:ln w="6350">
            <a:solidFill>
              <a:srgbClr val="DDDDDD"/>
            </a:solidFill>
            <a:prstDash val="solid"/>
          </a:ln>
        </p:spPr>
      </p:sp>
      <p:sp>
        <p:nvSpPr>
          <p:cNvPr id="46" name="Text 44"/>
          <p:cNvSpPr/>
          <p:nvPr/>
        </p:nvSpPr>
        <p:spPr>
          <a:xfrm>
            <a:off x="640080" y="2066544"/>
            <a:ext cx="118872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2015-01-06</a:t>
            </a:r>
            <a:endParaRPr lang="en-US" sz="850" dirty="0"/>
          </a:p>
        </p:txBody>
      </p:sp>
      <p:sp>
        <p:nvSpPr>
          <p:cNvPr id="47" name="Shape 45"/>
          <p:cNvSpPr/>
          <p:nvPr/>
        </p:nvSpPr>
        <p:spPr>
          <a:xfrm>
            <a:off x="1828800" y="2066544"/>
            <a:ext cx="1005840" cy="201168"/>
          </a:xfrm>
          <a:prstGeom prst="rect">
            <a:avLst/>
          </a:prstGeom>
          <a:solidFill>
            <a:srgbClr val="FFF0F0"/>
          </a:solidFill>
          <a:ln w="6350">
            <a:solidFill>
              <a:srgbClr val="DDDDDD"/>
            </a:solidFill>
            <a:prstDash val="solid"/>
          </a:ln>
        </p:spPr>
      </p:sp>
      <p:sp>
        <p:nvSpPr>
          <p:cNvPr id="48" name="Text 46"/>
          <p:cNvSpPr/>
          <p:nvPr/>
        </p:nvSpPr>
        <p:spPr>
          <a:xfrm>
            <a:off x="1828800" y="2066544"/>
            <a:ext cx="1005840" cy="201168"/>
          </a:xfrm>
          <a:prstGeom prst="rect">
            <a:avLst/>
          </a:prstGeom>
          <a:noFill/>
          <a:ln/>
        </p:spPr>
        <p:txBody>
          <a:bodyPr wrap="square" lIns="0" tIns="0" rIns="0" bIns="0" rtlCol="0" anchor="ctr"/>
          <a:lstStyle/>
          <a:p>
            <a:pPr algn="ctr" indent="0" marL="0">
              <a:buNone/>
            </a:pPr>
            <a:r>
              <a:rPr lang="en-US" sz="850" b="1" dirty="0">
                <a:solidFill>
                  <a:srgbClr val="EF5350"/>
                </a:solidFill>
                <a:latin typeface="Consolas" pitchFamily="34" charset="0"/>
                <a:ea typeface="Consolas" pitchFamily="34" charset="-122"/>
                <a:cs typeface="Consolas" pitchFamily="34" charset="-120"/>
              </a:rPr>
              <a:t>—</a:t>
            </a:r>
            <a:endParaRPr lang="en-US" sz="850" dirty="0"/>
          </a:p>
        </p:txBody>
      </p:sp>
      <p:sp>
        <p:nvSpPr>
          <p:cNvPr id="49" name="Shape 47"/>
          <p:cNvSpPr/>
          <p:nvPr/>
        </p:nvSpPr>
        <p:spPr>
          <a:xfrm>
            <a:off x="2834640" y="2066544"/>
            <a:ext cx="914400" cy="201168"/>
          </a:xfrm>
          <a:prstGeom prst="rect">
            <a:avLst/>
          </a:prstGeom>
          <a:solidFill>
            <a:srgbClr val="FFF0F0"/>
          </a:solidFill>
          <a:ln w="6350">
            <a:solidFill>
              <a:srgbClr val="DDDDDD"/>
            </a:solidFill>
            <a:prstDash val="solid"/>
          </a:ln>
        </p:spPr>
      </p:sp>
      <p:sp>
        <p:nvSpPr>
          <p:cNvPr id="50" name="Text 48"/>
          <p:cNvSpPr/>
          <p:nvPr/>
        </p:nvSpPr>
        <p:spPr>
          <a:xfrm>
            <a:off x="2834640" y="2066544"/>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LAX</a:t>
            </a:r>
            <a:endParaRPr lang="en-US" sz="850" dirty="0"/>
          </a:p>
        </p:txBody>
      </p:sp>
      <p:sp>
        <p:nvSpPr>
          <p:cNvPr id="51" name="Shape 49"/>
          <p:cNvSpPr/>
          <p:nvPr/>
        </p:nvSpPr>
        <p:spPr>
          <a:xfrm>
            <a:off x="3749040" y="2066544"/>
            <a:ext cx="914400" cy="201168"/>
          </a:xfrm>
          <a:prstGeom prst="rect">
            <a:avLst/>
          </a:prstGeom>
          <a:solidFill>
            <a:srgbClr val="FFF0F0"/>
          </a:solidFill>
          <a:ln w="6350">
            <a:solidFill>
              <a:srgbClr val="DDDDDD"/>
            </a:solidFill>
            <a:prstDash val="solid"/>
          </a:ln>
        </p:spPr>
      </p:sp>
      <p:sp>
        <p:nvSpPr>
          <p:cNvPr id="52" name="Text 50"/>
          <p:cNvSpPr/>
          <p:nvPr/>
        </p:nvSpPr>
        <p:spPr>
          <a:xfrm>
            <a:off x="3749040" y="2066544"/>
            <a:ext cx="914400" cy="201168"/>
          </a:xfrm>
          <a:prstGeom prst="rect">
            <a:avLst/>
          </a:prstGeom>
          <a:noFill/>
          <a:ln/>
        </p:spPr>
        <p:txBody>
          <a:bodyPr wrap="square" lIns="0" tIns="0" rIns="0" bIns="0" rtlCol="0" anchor="ctr"/>
          <a:lstStyle/>
          <a:p>
            <a:pPr algn="ctr" indent="0" marL="0">
              <a:buNone/>
            </a:pPr>
            <a:r>
              <a:rPr lang="en-US" sz="850" b="1" dirty="0">
                <a:solidFill>
                  <a:srgbClr val="EF5350"/>
                </a:solidFill>
                <a:latin typeface="Consolas" pitchFamily="34" charset="0"/>
                <a:ea typeface="Consolas" pitchFamily="34" charset="-122"/>
                <a:cs typeface="Consolas" pitchFamily="34" charset="-120"/>
              </a:rPr>
              <a:t>null</a:t>
            </a:r>
            <a:endParaRPr lang="en-US" sz="850" dirty="0"/>
          </a:p>
        </p:txBody>
      </p:sp>
      <p:sp>
        <p:nvSpPr>
          <p:cNvPr id="53" name="Shape 51"/>
          <p:cNvSpPr/>
          <p:nvPr/>
        </p:nvSpPr>
        <p:spPr>
          <a:xfrm>
            <a:off x="4754880" y="2066544"/>
            <a:ext cx="914400" cy="201168"/>
          </a:xfrm>
          <a:prstGeom prst="rect">
            <a:avLst/>
          </a:prstGeom>
          <a:solidFill>
            <a:srgbClr val="FFF0F0"/>
          </a:solidFill>
          <a:ln w="6350">
            <a:solidFill>
              <a:srgbClr val="DDDDDD"/>
            </a:solidFill>
            <a:prstDash val="solid"/>
          </a:ln>
        </p:spPr>
      </p:sp>
      <p:sp>
        <p:nvSpPr>
          <p:cNvPr id="54" name="Text 52"/>
          <p:cNvSpPr/>
          <p:nvPr/>
        </p:nvSpPr>
        <p:spPr>
          <a:xfrm>
            <a:off x="4754880" y="2066544"/>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325</a:t>
            </a:r>
            <a:endParaRPr lang="en-US" sz="850" dirty="0"/>
          </a:p>
        </p:txBody>
      </p:sp>
      <p:sp>
        <p:nvSpPr>
          <p:cNvPr id="55" name="Shape 53"/>
          <p:cNvSpPr/>
          <p:nvPr/>
        </p:nvSpPr>
        <p:spPr>
          <a:xfrm>
            <a:off x="5760720" y="2066544"/>
            <a:ext cx="2743200" cy="201168"/>
          </a:xfrm>
          <a:prstGeom prst="rect">
            <a:avLst/>
          </a:prstGeom>
          <a:solidFill>
            <a:srgbClr val="FFF0F0"/>
          </a:solidFill>
          <a:ln w="6350">
            <a:solidFill>
              <a:srgbClr val="DDDDDD"/>
            </a:solidFill>
            <a:prstDash val="solid"/>
          </a:ln>
        </p:spPr>
      </p:sp>
      <p:sp>
        <p:nvSpPr>
          <p:cNvPr id="56" name="Text 54"/>
          <p:cNvSpPr/>
          <p:nvPr/>
        </p:nvSpPr>
        <p:spPr>
          <a:xfrm>
            <a:off x="5852160" y="2066544"/>
            <a:ext cx="2651760" cy="201168"/>
          </a:xfrm>
          <a:prstGeom prst="rect">
            <a:avLst/>
          </a:prstGeom>
          <a:noFill/>
          <a:ln/>
        </p:spPr>
        <p:txBody>
          <a:bodyPr wrap="square" lIns="0" tIns="0" rIns="0" bIns="0" rtlCol="0" anchor="ctr"/>
          <a:lstStyle/>
          <a:p>
            <a:pPr algn="l" indent="0" marL="0">
              <a:buNone/>
            </a:pPr>
            <a:r>
              <a:rPr lang="en-US" sz="850" b="1" dirty="0">
                <a:solidFill>
                  <a:srgbClr val="EF5350"/>
                </a:solidFill>
                <a:latin typeface="Malgun Gothic" pitchFamily="34" charset="0"/>
                <a:ea typeface="Malgun Gothic" pitchFamily="34" charset="-122"/>
                <a:cs typeface="Malgun Gothic" pitchFamily="34" charset="-120"/>
              </a:rPr>
              <a:t>⚠ 결측 missing</a:t>
            </a:r>
            <a:endParaRPr lang="en-US" sz="850" dirty="0"/>
          </a:p>
        </p:txBody>
      </p:sp>
      <p:sp>
        <p:nvSpPr>
          <p:cNvPr id="57" name="Shape 55"/>
          <p:cNvSpPr/>
          <p:nvPr/>
        </p:nvSpPr>
        <p:spPr>
          <a:xfrm>
            <a:off x="640080" y="2267712"/>
            <a:ext cx="1188720" cy="201168"/>
          </a:xfrm>
          <a:prstGeom prst="rect">
            <a:avLst/>
          </a:prstGeom>
          <a:solidFill>
            <a:srgbClr val="FFF0F0"/>
          </a:solidFill>
          <a:ln w="6350">
            <a:solidFill>
              <a:srgbClr val="DDDDDD"/>
            </a:solidFill>
            <a:prstDash val="solid"/>
          </a:ln>
        </p:spPr>
      </p:sp>
      <p:sp>
        <p:nvSpPr>
          <p:cNvPr id="58" name="Text 56"/>
          <p:cNvSpPr/>
          <p:nvPr/>
        </p:nvSpPr>
        <p:spPr>
          <a:xfrm>
            <a:off x="640080" y="2267712"/>
            <a:ext cx="118872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2015-01-07</a:t>
            </a:r>
            <a:endParaRPr lang="en-US" sz="850" dirty="0"/>
          </a:p>
        </p:txBody>
      </p:sp>
      <p:sp>
        <p:nvSpPr>
          <p:cNvPr id="59" name="Shape 57"/>
          <p:cNvSpPr/>
          <p:nvPr/>
        </p:nvSpPr>
        <p:spPr>
          <a:xfrm>
            <a:off x="1828800" y="2267712"/>
            <a:ext cx="1005840" cy="201168"/>
          </a:xfrm>
          <a:prstGeom prst="rect">
            <a:avLst/>
          </a:prstGeom>
          <a:solidFill>
            <a:srgbClr val="FFF0F0"/>
          </a:solidFill>
          <a:ln w="6350">
            <a:solidFill>
              <a:srgbClr val="DDDDDD"/>
            </a:solidFill>
            <a:prstDash val="solid"/>
          </a:ln>
        </p:spPr>
      </p:sp>
      <p:sp>
        <p:nvSpPr>
          <p:cNvPr id="60" name="Text 58"/>
          <p:cNvSpPr/>
          <p:nvPr/>
        </p:nvSpPr>
        <p:spPr>
          <a:xfrm>
            <a:off x="1828800" y="2267712"/>
            <a:ext cx="100584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DL</a:t>
            </a:r>
            <a:endParaRPr lang="en-US" sz="850" dirty="0"/>
          </a:p>
        </p:txBody>
      </p:sp>
      <p:sp>
        <p:nvSpPr>
          <p:cNvPr id="61" name="Shape 59"/>
          <p:cNvSpPr/>
          <p:nvPr/>
        </p:nvSpPr>
        <p:spPr>
          <a:xfrm>
            <a:off x="2834640" y="2267712"/>
            <a:ext cx="914400" cy="201168"/>
          </a:xfrm>
          <a:prstGeom prst="rect">
            <a:avLst/>
          </a:prstGeom>
          <a:solidFill>
            <a:srgbClr val="FFF0F0"/>
          </a:solidFill>
          <a:ln w="6350">
            <a:solidFill>
              <a:srgbClr val="DDDDDD"/>
            </a:solidFill>
            <a:prstDash val="solid"/>
          </a:ln>
        </p:spPr>
      </p:sp>
      <p:sp>
        <p:nvSpPr>
          <p:cNvPr id="62" name="Text 60"/>
          <p:cNvSpPr/>
          <p:nvPr/>
        </p:nvSpPr>
        <p:spPr>
          <a:xfrm>
            <a:off x="2834640" y="2267712"/>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JFK</a:t>
            </a:r>
            <a:endParaRPr lang="en-US" sz="850" dirty="0"/>
          </a:p>
        </p:txBody>
      </p:sp>
      <p:sp>
        <p:nvSpPr>
          <p:cNvPr id="63" name="Shape 61"/>
          <p:cNvSpPr/>
          <p:nvPr/>
        </p:nvSpPr>
        <p:spPr>
          <a:xfrm>
            <a:off x="3749040" y="2267712"/>
            <a:ext cx="914400" cy="201168"/>
          </a:xfrm>
          <a:prstGeom prst="rect">
            <a:avLst/>
          </a:prstGeom>
          <a:solidFill>
            <a:srgbClr val="FFF0F0"/>
          </a:solidFill>
          <a:ln w="6350">
            <a:solidFill>
              <a:srgbClr val="DDDDDD"/>
            </a:solidFill>
            <a:prstDash val="solid"/>
          </a:ln>
        </p:spPr>
      </p:sp>
      <p:sp>
        <p:nvSpPr>
          <p:cNvPr id="64" name="Text 62"/>
          <p:cNvSpPr/>
          <p:nvPr/>
        </p:nvSpPr>
        <p:spPr>
          <a:xfrm>
            <a:off x="3749040" y="2267712"/>
            <a:ext cx="914400" cy="201168"/>
          </a:xfrm>
          <a:prstGeom prst="rect">
            <a:avLst/>
          </a:prstGeom>
          <a:noFill/>
          <a:ln/>
        </p:spPr>
        <p:txBody>
          <a:bodyPr wrap="square" lIns="0" tIns="0" rIns="0" bIns="0" rtlCol="0" anchor="ctr"/>
          <a:lstStyle/>
          <a:p>
            <a:pPr algn="ctr" indent="0" marL="0">
              <a:buNone/>
            </a:pPr>
            <a:r>
              <a:rPr lang="en-US" sz="850" b="1" dirty="0">
                <a:solidFill>
                  <a:srgbClr val="EF5350"/>
                </a:solidFill>
                <a:latin typeface="Consolas" pitchFamily="34" charset="0"/>
                <a:ea typeface="Consolas" pitchFamily="34" charset="-122"/>
                <a:cs typeface="Consolas" pitchFamily="34" charset="-120"/>
              </a:rPr>
              <a:t>-9999</a:t>
            </a:r>
            <a:endParaRPr lang="en-US" sz="850" dirty="0"/>
          </a:p>
        </p:txBody>
      </p:sp>
      <p:sp>
        <p:nvSpPr>
          <p:cNvPr id="65" name="Shape 63"/>
          <p:cNvSpPr/>
          <p:nvPr/>
        </p:nvSpPr>
        <p:spPr>
          <a:xfrm>
            <a:off x="4754880" y="2267712"/>
            <a:ext cx="914400" cy="201168"/>
          </a:xfrm>
          <a:prstGeom prst="rect">
            <a:avLst/>
          </a:prstGeom>
          <a:solidFill>
            <a:srgbClr val="FFF0F0"/>
          </a:solidFill>
          <a:ln w="6350">
            <a:solidFill>
              <a:srgbClr val="DDDDDD"/>
            </a:solidFill>
            <a:prstDash val="solid"/>
          </a:ln>
        </p:spPr>
      </p:sp>
      <p:sp>
        <p:nvSpPr>
          <p:cNvPr id="66" name="Text 64"/>
          <p:cNvSpPr/>
          <p:nvPr/>
        </p:nvSpPr>
        <p:spPr>
          <a:xfrm>
            <a:off x="4754880" y="2267712"/>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2475</a:t>
            </a:r>
            <a:endParaRPr lang="en-US" sz="850" dirty="0"/>
          </a:p>
        </p:txBody>
      </p:sp>
      <p:sp>
        <p:nvSpPr>
          <p:cNvPr id="67" name="Shape 65"/>
          <p:cNvSpPr/>
          <p:nvPr/>
        </p:nvSpPr>
        <p:spPr>
          <a:xfrm>
            <a:off x="5760720" y="2267712"/>
            <a:ext cx="2743200" cy="201168"/>
          </a:xfrm>
          <a:prstGeom prst="rect">
            <a:avLst/>
          </a:prstGeom>
          <a:solidFill>
            <a:srgbClr val="FFF0F0"/>
          </a:solidFill>
          <a:ln w="6350">
            <a:solidFill>
              <a:srgbClr val="DDDDDD"/>
            </a:solidFill>
            <a:prstDash val="solid"/>
          </a:ln>
        </p:spPr>
      </p:sp>
      <p:sp>
        <p:nvSpPr>
          <p:cNvPr id="68" name="Text 66"/>
          <p:cNvSpPr/>
          <p:nvPr/>
        </p:nvSpPr>
        <p:spPr>
          <a:xfrm>
            <a:off x="5852160" y="2267712"/>
            <a:ext cx="2651760" cy="201168"/>
          </a:xfrm>
          <a:prstGeom prst="rect">
            <a:avLst/>
          </a:prstGeom>
          <a:noFill/>
          <a:ln/>
        </p:spPr>
        <p:txBody>
          <a:bodyPr wrap="square" lIns="0" tIns="0" rIns="0" bIns="0" rtlCol="0" anchor="ctr"/>
          <a:lstStyle/>
          <a:p>
            <a:pPr algn="l" indent="0" marL="0">
              <a:buNone/>
            </a:pPr>
            <a:r>
              <a:rPr lang="en-US" sz="850" b="1" dirty="0">
                <a:solidFill>
                  <a:srgbClr val="EF5350"/>
                </a:solidFill>
                <a:latin typeface="Malgun Gothic" pitchFamily="34" charset="0"/>
                <a:ea typeface="Malgun Gothic" pitchFamily="34" charset="-122"/>
                <a:cs typeface="Malgun Gothic" pitchFamily="34" charset="-120"/>
              </a:rPr>
              <a:t>⚠ 센서오류 sentinel</a:t>
            </a:r>
            <a:endParaRPr lang="en-US" sz="850" dirty="0"/>
          </a:p>
        </p:txBody>
      </p:sp>
      <p:sp>
        <p:nvSpPr>
          <p:cNvPr id="69" name="Shape 67"/>
          <p:cNvSpPr/>
          <p:nvPr/>
        </p:nvSpPr>
        <p:spPr>
          <a:xfrm>
            <a:off x="640080" y="2468880"/>
            <a:ext cx="1188720" cy="201168"/>
          </a:xfrm>
          <a:prstGeom prst="rect">
            <a:avLst/>
          </a:prstGeom>
          <a:solidFill>
            <a:srgbClr val="FFF0F0"/>
          </a:solidFill>
          <a:ln w="6350">
            <a:solidFill>
              <a:srgbClr val="DDDDDD"/>
            </a:solidFill>
            <a:prstDash val="solid"/>
          </a:ln>
        </p:spPr>
      </p:sp>
      <p:sp>
        <p:nvSpPr>
          <p:cNvPr id="70" name="Text 68"/>
          <p:cNvSpPr/>
          <p:nvPr/>
        </p:nvSpPr>
        <p:spPr>
          <a:xfrm>
            <a:off x="640080" y="2468880"/>
            <a:ext cx="118872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2015-01-08</a:t>
            </a:r>
            <a:endParaRPr lang="en-US" sz="850" dirty="0"/>
          </a:p>
        </p:txBody>
      </p:sp>
      <p:sp>
        <p:nvSpPr>
          <p:cNvPr id="71" name="Shape 69"/>
          <p:cNvSpPr/>
          <p:nvPr/>
        </p:nvSpPr>
        <p:spPr>
          <a:xfrm>
            <a:off x="1828800" y="2468880"/>
            <a:ext cx="1005840" cy="201168"/>
          </a:xfrm>
          <a:prstGeom prst="rect">
            <a:avLst/>
          </a:prstGeom>
          <a:solidFill>
            <a:srgbClr val="FFF0F0"/>
          </a:solidFill>
          <a:ln w="6350">
            <a:solidFill>
              <a:srgbClr val="DDDDDD"/>
            </a:solidFill>
            <a:prstDash val="solid"/>
          </a:ln>
        </p:spPr>
      </p:sp>
      <p:sp>
        <p:nvSpPr>
          <p:cNvPr id="72" name="Text 70"/>
          <p:cNvSpPr/>
          <p:nvPr/>
        </p:nvSpPr>
        <p:spPr>
          <a:xfrm>
            <a:off x="1828800" y="2468880"/>
            <a:ext cx="100584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AA</a:t>
            </a:r>
            <a:endParaRPr lang="en-US" sz="850" dirty="0"/>
          </a:p>
        </p:txBody>
      </p:sp>
      <p:sp>
        <p:nvSpPr>
          <p:cNvPr id="73" name="Shape 71"/>
          <p:cNvSpPr/>
          <p:nvPr/>
        </p:nvSpPr>
        <p:spPr>
          <a:xfrm>
            <a:off x="2834640" y="2468880"/>
            <a:ext cx="914400" cy="201168"/>
          </a:xfrm>
          <a:prstGeom prst="rect">
            <a:avLst/>
          </a:prstGeom>
          <a:solidFill>
            <a:srgbClr val="FFF0F0"/>
          </a:solidFill>
          <a:ln w="6350">
            <a:solidFill>
              <a:srgbClr val="DDDDDD"/>
            </a:solidFill>
            <a:prstDash val="solid"/>
          </a:ln>
        </p:spPr>
      </p:sp>
      <p:sp>
        <p:nvSpPr>
          <p:cNvPr id="74" name="Text 72"/>
          <p:cNvSpPr/>
          <p:nvPr/>
        </p:nvSpPr>
        <p:spPr>
          <a:xfrm>
            <a:off x="2834640" y="2468880"/>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ORD</a:t>
            </a:r>
            <a:endParaRPr lang="en-US" sz="850" dirty="0"/>
          </a:p>
        </p:txBody>
      </p:sp>
      <p:sp>
        <p:nvSpPr>
          <p:cNvPr id="75" name="Shape 73"/>
          <p:cNvSpPr/>
          <p:nvPr/>
        </p:nvSpPr>
        <p:spPr>
          <a:xfrm>
            <a:off x="3749040" y="2468880"/>
            <a:ext cx="914400" cy="201168"/>
          </a:xfrm>
          <a:prstGeom prst="rect">
            <a:avLst/>
          </a:prstGeom>
          <a:solidFill>
            <a:srgbClr val="FFF0F0"/>
          </a:solidFill>
          <a:ln w="6350">
            <a:solidFill>
              <a:srgbClr val="DDDDDD"/>
            </a:solidFill>
            <a:prstDash val="solid"/>
          </a:ln>
        </p:spPr>
      </p:sp>
      <p:sp>
        <p:nvSpPr>
          <p:cNvPr id="76" name="Text 74"/>
          <p:cNvSpPr/>
          <p:nvPr/>
        </p:nvSpPr>
        <p:spPr>
          <a:xfrm>
            <a:off x="3749040" y="2468880"/>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48</a:t>
            </a:r>
            <a:endParaRPr lang="en-US" sz="850" dirty="0"/>
          </a:p>
        </p:txBody>
      </p:sp>
      <p:sp>
        <p:nvSpPr>
          <p:cNvPr id="77" name="Shape 75"/>
          <p:cNvSpPr/>
          <p:nvPr/>
        </p:nvSpPr>
        <p:spPr>
          <a:xfrm>
            <a:off x="4754880" y="2468880"/>
            <a:ext cx="914400" cy="201168"/>
          </a:xfrm>
          <a:prstGeom prst="rect">
            <a:avLst/>
          </a:prstGeom>
          <a:solidFill>
            <a:srgbClr val="FFF0F0"/>
          </a:solidFill>
          <a:ln w="6350">
            <a:solidFill>
              <a:srgbClr val="DDDDDD"/>
            </a:solidFill>
            <a:prstDash val="solid"/>
          </a:ln>
        </p:spPr>
      </p:sp>
      <p:sp>
        <p:nvSpPr>
          <p:cNvPr id="78" name="Text 76"/>
          <p:cNvSpPr/>
          <p:nvPr/>
        </p:nvSpPr>
        <p:spPr>
          <a:xfrm>
            <a:off x="4754880" y="2468880"/>
            <a:ext cx="914400" cy="201168"/>
          </a:xfrm>
          <a:prstGeom prst="rect">
            <a:avLst/>
          </a:prstGeom>
          <a:noFill/>
          <a:ln/>
        </p:spPr>
        <p:txBody>
          <a:bodyPr wrap="square" lIns="0" tIns="0" rIns="0" bIns="0" rtlCol="0" anchor="ctr"/>
          <a:lstStyle/>
          <a:p>
            <a:pPr algn="ctr" indent="0" marL="0">
              <a:buNone/>
            </a:pPr>
            <a:r>
              <a:rPr lang="en-US" sz="850" b="1" dirty="0">
                <a:solidFill>
                  <a:srgbClr val="EF5350"/>
                </a:solidFill>
                <a:latin typeface="Consolas" pitchFamily="34" charset="0"/>
                <a:ea typeface="Consolas" pitchFamily="34" charset="-122"/>
                <a:cs typeface="Consolas" pitchFamily="34" charset="-120"/>
              </a:rPr>
              <a:t>-1</a:t>
            </a:r>
            <a:endParaRPr lang="en-US" sz="850" dirty="0"/>
          </a:p>
        </p:txBody>
      </p:sp>
      <p:sp>
        <p:nvSpPr>
          <p:cNvPr id="79" name="Shape 77"/>
          <p:cNvSpPr/>
          <p:nvPr/>
        </p:nvSpPr>
        <p:spPr>
          <a:xfrm>
            <a:off x="5760720" y="2468880"/>
            <a:ext cx="2743200" cy="201168"/>
          </a:xfrm>
          <a:prstGeom prst="rect">
            <a:avLst/>
          </a:prstGeom>
          <a:solidFill>
            <a:srgbClr val="FFF0F0"/>
          </a:solidFill>
          <a:ln w="6350">
            <a:solidFill>
              <a:srgbClr val="DDDDDD"/>
            </a:solidFill>
            <a:prstDash val="solid"/>
          </a:ln>
        </p:spPr>
      </p:sp>
      <p:sp>
        <p:nvSpPr>
          <p:cNvPr id="80" name="Text 78"/>
          <p:cNvSpPr/>
          <p:nvPr/>
        </p:nvSpPr>
        <p:spPr>
          <a:xfrm>
            <a:off x="5852160" y="2468880"/>
            <a:ext cx="2651760" cy="201168"/>
          </a:xfrm>
          <a:prstGeom prst="rect">
            <a:avLst/>
          </a:prstGeom>
          <a:noFill/>
          <a:ln/>
        </p:spPr>
        <p:txBody>
          <a:bodyPr wrap="square" lIns="0" tIns="0" rIns="0" bIns="0" rtlCol="0" anchor="ctr"/>
          <a:lstStyle/>
          <a:p>
            <a:pPr algn="l" indent="0" marL="0">
              <a:buNone/>
            </a:pPr>
            <a:r>
              <a:rPr lang="en-US" sz="850" b="1" dirty="0">
                <a:solidFill>
                  <a:srgbClr val="EF5350"/>
                </a:solidFill>
                <a:latin typeface="Malgun Gothic" pitchFamily="34" charset="0"/>
                <a:ea typeface="Malgun Gothic" pitchFamily="34" charset="-122"/>
                <a:cs typeface="Malgun Gothic" pitchFamily="34" charset="-120"/>
              </a:rPr>
              <a:t>⚠ 거리 음수 invalid</a:t>
            </a:r>
            <a:endParaRPr lang="en-US" sz="850" dirty="0"/>
          </a:p>
        </p:txBody>
      </p:sp>
      <p:sp>
        <p:nvSpPr>
          <p:cNvPr id="81" name="Shape 79"/>
          <p:cNvSpPr/>
          <p:nvPr/>
        </p:nvSpPr>
        <p:spPr>
          <a:xfrm>
            <a:off x="640080" y="2670048"/>
            <a:ext cx="1188720" cy="201168"/>
          </a:xfrm>
          <a:prstGeom prst="rect">
            <a:avLst/>
          </a:prstGeom>
          <a:solidFill>
            <a:srgbClr val="FFFFFF"/>
          </a:solidFill>
          <a:ln w="6350">
            <a:solidFill>
              <a:srgbClr val="DDDDDD"/>
            </a:solidFill>
            <a:prstDash val="solid"/>
          </a:ln>
        </p:spPr>
      </p:sp>
      <p:sp>
        <p:nvSpPr>
          <p:cNvPr id="82" name="Text 80"/>
          <p:cNvSpPr/>
          <p:nvPr/>
        </p:nvSpPr>
        <p:spPr>
          <a:xfrm>
            <a:off x="640080" y="2670048"/>
            <a:ext cx="118872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2015-01-09</a:t>
            </a:r>
            <a:endParaRPr lang="en-US" sz="850" dirty="0"/>
          </a:p>
        </p:txBody>
      </p:sp>
      <p:sp>
        <p:nvSpPr>
          <p:cNvPr id="83" name="Shape 81"/>
          <p:cNvSpPr/>
          <p:nvPr/>
        </p:nvSpPr>
        <p:spPr>
          <a:xfrm>
            <a:off x="1828800" y="2670048"/>
            <a:ext cx="1005840" cy="201168"/>
          </a:xfrm>
          <a:prstGeom prst="rect">
            <a:avLst/>
          </a:prstGeom>
          <a:solidFill>
            <a:srgbClr val="FFFFFF"/>
          </a:solidFill>
          <a:ln w="6350">
            <a:solidFill>
              <a:srgbClr val="DDDDDD"/>
            </a:solidFill>
            <a:prstDash val="solid"/>
          </a:ln>
        </p:spPr>
      </p:sp>
      <p:sp>
        <p:nvSpPr>
          <p:cNvPr id="84" name="Text 82"/>
          <p:cNvSpPr/>
          <p:nvPr/>
        </p:nvSpPr>
        <p:spPr>
          <a:xfrm>
            <a:off x="1828800" y="2670048"/>
            <a:ext cx="100584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WN</a:t>
            </a:r>
            <a:endParaRPr lang="en-US" sz="850" dirty="0"/>
          </a:p>
        </p:txBody>
      </p:sp>
      <p:sp>
        <p:nvSpPr>
          <p:cNvPr id="85" name="Shape 83"/>
          <p:cNvSpPr/>
          <p:nvPr/>
        </p:nvSpPr>
        <p:spPr>
          <a:xfrm>
            <a:off x="2834640" y="2670048"/>
            <a:ext cx="914400" cy="201168"/>
          </a:xfrm>
          <a:prstGeom prst="rect">
            <a:avLst/>
          </a:prstGeom>
          <a:solidFill>
            <a:srgbClr val="FFFFFF"/>
          </a:solidFill>
          <a:ln w="6350">
            <a:solidFill>
              <a:srgbClr val="DDDDDD"/>
            </a:solidFill>
            <a:prstDash val="solid"/>
          </a:ln>
        </p:spPr>
      </p:sp>
      <p:sp>
        <p:nvSpPr>
          <p:cNvPr id="86" name="Text 84"/>
          <p:cNvSpPr/>
          <p:nvPr/>
        </p:nvSpPr>
        <p:spPr>
          <a:xfrm>
            <a:off x="2834640" y="2670048"/>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BWI</a:t>
            </a:r>
            <a:endParaRPr lang="en-US" sz="850" dirty="0"/>
          </a:p>
        </p:txBody>
      </p:sp>
      <p:sp>
        <p:nvSpPr>
          <p:cNvPr id="87" name="Shape 85"/>
          <p:cNvSpPr/>
          <p:nvPr/>
        </p:nvSpPr>
        <p:spPr>
          <a:xfrm>
            <a:off x="3749040" y="2670048"/>
            <a:ext cx="914400" cy="201168"/>
          </a:xfrm>
          <a:prstGeom prst="rect">
            <a:avLst/>
          </a:prstGeom>
          <a:solidFill>
            <a:srgbClr val="FFFFFF"/>
          </a:solidFill>
          <a:ln w="6350">
            <a:solidFill>
              <a:srgbClr val="DDDDDD"/>
            </a:solidFill>
            <a:prstDash val="solid"/>
          </a:ln>
        </p:spPr>
      </p:sp>
      <p:sp>
        <p:nvSpPr>
          <p:cNvPr id="88" name="Text 86"/>
          <p:cNvSpPr/>
          <p:nvPr/>
        </p:nvSpPr>
        <p:spPr>
          <a:xfrm>
            <a:off x="3749040" y="2670048"/>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8</a:t>
            </a:r>
            <a:endParaRPr lang="en-US" sz="850" dirty="0"/>
          </a:p>
        </p:txBody>
      </p:sp>
      <p:sp>
        <p:nvSpPr>
          <p:cNvPr id="89" name="Shape 87"/>
          <p:cNvSpPr/>
          <p:nvPr/>
        </p:nvSpPr>
        <p:spPr>
          <a:xfrm>
            <a:off x="4754880" y="2670048"/>
            <a:ext cx="914400" cy="201168"/>
          </a:xfrm>
          <a:prstGeom prst="rect">
            <a:avLst/>
          </a:prstGeom>
          <a:solidFill>
            <a:srgbClr val="FFFFFF"/>
          </a:solidFill>
          <a:ln w="6350">
            <a:solidFill>
              <a:srgbClr val="DDDDDD"/>
            </a:solidFill>
            <a:prstDash val="solid"/>
          </a:ln>
        </p:spPr>
      </p:sp>
      <p:sp>
        <p:nvSpPr>
          <p:cNvPr id="90" name="Text 88"/>
          <p:cNvSpPr/>
          <p:nvPr/>
        </p:nvSpPr>
        <p:spPr>
          <a:xfrm>
            <a:off x="4754880" y="2670048"/>
            <a:ext cx="914400" cy="201168"/>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412</a:t>
            </a:r>
            <a:endParaRPr lang="en-US" sz="850" dirty="0"/>
          </a:p>
        </p:txBody>
      </p:sp>
      <p:sp>
        <p:nvSpPr>
          <p:cNvPr id="91" name="Shape 89"/>
          <p:cNvSpPr/>
          <p:nvPr/>
        </p:nvSpPr>
        <p:spPr>
          <a:xfrm>
            <a:off x="5760720" y="2670048"/>
            <a:ext cx="2743200" cy="201168"/>
          </a:xfrm>
          <a:prstGeom prst="rect">
            <a:avLst/>
          </a:prstGeom>
          <a:solidFill>
            <a:srgbClr val="FFFFFF"/>
          </a:solidFill>
          <a:ln w="6350">
            <a:solidFill>
              <a:srgbClr val="DDDDDD"/>
            </a:solidFill>
            <a:prstDash val="solid"/>
          </a:ln>
        </p:spPr>
      </p:sp>
      <p:sp>
        <p:nvSpPr>
          <p:cNvPr id="92" name="Text 90"/>
          <p:cNvSpPr/>
          <p:nvPr/>
        </p:nvSpPr>
        <p:spPr>
          <a:xfrm>
            <a:off x="5852160" y="2670048"/>
            <a:ext cx="2651760" cy="201168"/>
          </a:xfrm>
          <a:prstGeom prst="rect">
            <a:avLst/>
          </a:prstGeom>
          <a:noFill/>
          <a:ln/>
        </p:spPr>
        <p:txBody>
          <a:bodyPr wrap="square" lIns="0" tIns="0" rIns="0" bIns="0" rtlCol="0" anchor="ctr"/>
          <a:lstStyle/>
          <a:p>
            <a:pPr algn="l" indent="0" marL="0">
              <a:buNone/>
            </a:pPr>
            <a:r>
              <a:rPr lang="en-US" sz="850" b="1" dirty="0">
                <a:solidFill>
                  <a:srgbClr val="43A047"/>
                </a:solidFill>
                <a:latin typeface="Malgun Gothic" pitchFamily="34" charset="0"/>
                <a:ea typeface="Malgun Gothic" pitchFamily="34" charset="-122"/>
                <a:cs typeface="Malgun Gothic" pitchFamily="34" charset="-120"/>
              </a:rPr>
              <a:t>✓ OK</a:t>
            </a:r>
            <a:endParaRPr lang="en-US" sz="850" dirty="0"/>
          </a:p>
        </p:txBody>
      </p:sp>
      <p:sp>
        <p:nvSpPr>
          <p:cNvPr id="93" name="Text 91"/>
          <p:cNvSpPr/>
          <p:nvPr/>
        </p:nvSpPr>
        <p:spPr>
          <a:xfrm>
            <a:off x="457200" y="2971800"/>
            <a:ext cx="8229600" cy="274320"/>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해결 전략 (Cleaning strategies)</a:t>
            </a:r>
            <a:endParaRPr lang="en-US" sz="1300" dirty="0"/>
          </a:p>
        </p:txBody>
      </p:sp>
      <p:sp>
        <p:nvSpPr>
          <p:cNvPr id="94" name="Shape 92"/>
          <p:cNvSpPr/>
          <p:nvPr/>
        </p:nvSpPr>
        <p:spPr>
          <a:xfrm>
            <a:off x="457200" y="3291840"/>
            <a:ext cx="1965960" cy="1325880"/>
          </a:xfrm>
          <a:prstGeom prst="roundRect">
            <a:avLst>
              <a:gd name="adj" fmla="val 5517"/>
            </a:avLst>
          </a:prstGeom>
          <a:solidFill>
            <a:srgbClr val="FFFFFF"/>
          </a:solidFill>
          <a:ln w="19050">
            <a:solidFill>
              <a:srgbClr val="EF5350"/>
            </a:solidFill>
            <a:prstDash val="solid"/>
          </a:ln>
        </p:spPr>
      </p:sp>
      <p:sp>
        <p:nvSpPr>
          <p:cNvPr id="95" name="Text 93"/>
          <p:cNvSpPr/>
          <p:nvPr/>
        </p:nvSpPr>
        <p:spPr>
          <a:xfrm>
            <a:off x="457200" y="3383280"/>
            <a:ext cx="196596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Malgun Gothic" pitchFamily="34" charset="0"/>
                <a:ea typeface="Malgun Gothic" pitchFamily="34" charset="-122"/>
                <a:cs typeface="Malgun Gothic" pitchFamily="34" charset="-120"/>
              </a:rPr>
              <a:t>🗑</a:t>
            </a:r>
            <a:endParaRPr lang="en-US" sz="2800" dirty="0"/>
          </a:p>
        </p:txBody>
      </p:sp>
      <p:sp>
        <p:nvSpPr>
          <p:cNvPr id="96" name="Text 94"/>
          <p:cNvSpPr/>
          <p:nvPr/>
        </p:nvSpPr>
        <p:spPr>
          <a:xfrm>
            <a:off x="457200" y="3931920"/>
            <a:ext cx="196596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중복 제거</a:t>
            </a:r>
            <a:endParaRPr lang="en-US" sz="1200" dirty="0"/>
          </a:p>
        </p:txBody>
      </p:sp>
      <p:sp>
        <p:nvSpPr>
          <p:cNvPr id="97" name="Text 95"/>
          <p:cNvSpPr/>
          <p:nvPr/>
        </p:nvSpPr>
        <p:spPr>
          <a:xfrm>
            <a:off x="457200" y="4251960"/>
            <a:ext cx="1965960" cy="274320"/>
          </a:xfrm>
          <a:prstGeom prst="rect">
            <a:avLst/>
          </a:prstGeom>
          <a:noFill/>
          <a:ln/>
        </p:spPr>
        <p:txBody>
          <a:bodyPr wrap="square" lIns="0" tIns="0" rIns="0" bIns="0" rtlCol="0" anchor="ctr"/>
          <a:lstStyle/>
          <a:p>
            <a:pPr algn="ctr" indent="0" marL="0">
              <a:buNone/>
            </a:pPr>
            <a:r>
              <a:rPr lang="en-US" sz="900" i="1" dirty="0">
                <a:solidFill>
                  <a:srgbClr val="EF5350"/>
                </a:solidFill>
                <a:latin typeface="Consolas" pitchFamily="34" charset="0"/>
                <a:ea typeface="Consolas" pitchFamily="34" charset="-122"/>
                <a:cs typeface="Consolas" pitchFamily="34" charset="-120"/>
              </a:rPr>
              <a:t>drop_duplicates()</a:t>
            </a:r>
            <a:endParaRPr lang="en-US" sz="900" dirty="0"/>
          </a:p>
        </p:txBody>
      </p:sp>
      <p:sp>
        <p:nvSpPr>
          <p:cNvPr id="98" name="Shape 96"/>
          <p:cNvSpPr/>
          <p:nvPr/>
        </p:nvSpPr>
        <p:spPr>
          <a:xfrm>
            <a:off x="2542032" y="3291840"/>
            <a:ext cx="1965960" cy="1325880"/>
          </a:xfrm>
          <a:prstGeom prst="roundRect">
            <a:avLst>
              <a:gd name="adj" fmla="val 5517"/>
            </a:avLst>
          </a:prstGeom>
          <a:solidFill>
            <a:srgbClr val="FFFFFF"/>
          </a:solidFill>
          <a:ln w="19050">
            <a:solidFill>
              <a:srgbClr val="FFB300"/>
            </a:solidFill>
            <a:prstDash val="solid"/>
          </a:ln>
        </p:spPr>
      </p:sp>
      <p:sp>
        <p:nvSpPr>
          <p:cNvPr id="99" name="Text 97"/>
          <p:cNvSpPr/>
          <p:nvPr/>
        </p:nvSpPr>
        <p:spPr>
          <a:xfrm>
            <a:off x="2542032" y="3383280"/>
            <a:ext cx="196596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Malgun Gothic" pitchFamily="34" charset="0"/>
                <a:ea typeface="Malgun Gothic" pitchFamily="34" charset="-122"/>
                <a:cs typeface="Malgun Gothic" pitchFamily="34" charset="-120"/>
              </a:rPr>
              <a:t>🔢</a:t>
            </a:r>
            <a:endParaRPr lang="en-US" sz="2800" dirty="0"/>
          </a:p>
        </p:txBody>
      </p:sp>
      <p:sp>
        <p:nvSpPr>
          <p:cNvPr id="100" name="Text 98"/>
          <p:cNvSpPr/>
          <p:nvPr/>
        </p:nvSpPr>
        <p:spPr>
          <a:xfrm>
            <a:off x="2542032" y="3931920"/>
            <a:ext cx="196596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결측값 처리</a:t>
            </a:r>
            <a:endParaRPr lang="en-US" sz="1200" dirty="0"/>
          </a:p>
        </p:txBody>
      </p:sp>
      <p:sp>
        <p:nvSpPr>
          <p:cNvPr id="101" name="Text 99"/>
          <p:cNvSpPr/>
          <p:nvPr/>
        </p:nvSpPr>
        <p:spPr>
          <a:xfrm>
            <a:off x="2542032" y="4251960"/>
            <a:ext cx="1965960" cy="274320"/>
          </a:xfrm>
          <a:prstGeom prst="rect">
            <a:avLst/>
          </a:prstGeom>
          <a:noFill/>
          <a:ln/>
        </p:spPr>
        <p:txBody>
          <a:bodyPr wrap="square" lIns="0" tIns="0" rIns="0" bIns="0" rtlCol="0" anchor="ctr"/>
          <a:lstStyle/>
          <a:p>
            <a:pPr algn="ctr" indent="0" marL="0">
              <a:buNone/>
            </a:pPr>
            <a:r>
              <a:rPr lang="en-US" sz="900" i="1" dirty="0">
                <a:solidFill>
                  <a:srgbClr val="FFB300"/>
                </a:solidFill>
                <a:latin typeface="Consolas" pitchFamily="34" charset="0"/>
                <a:ea typeface="Consolas" pitchFamily="34" charset="-122"/>
                <a:cs typeface="Consolas" pitchFamily="34" charset="-120"/>
              </a:rPr>
              <a:t>fillna / imputer / xgb</a:t>
            </a:r>
            <a:endParaRPr lang="en-US" sz="900" dirty="0"/>
          </a:p>
        </p:txBody>
      </p:sp>
      <p:sp>
        <p:nvSpPr>
          <p:cNvPr id="102" name="Shape 100"/>
          <p:cNvSpPr/>
          <p:nvPr/>
        </p:nvSpPr>
        <p:spPr>
          <a:xfrm>
            <a:off x="4626864" y="3291840"/>
            <a:ext cx="1965960" cy="1325880"/>
          </a:xfrm>
          <a:prstGeom prst="roundRect">
            <a:avLst>
              <a:gd name="adj" fmla="val 5517"/>
            </a:avLst>
          </a:prstGeom>
          <a:solidFill>
            <a:srgbClr val="FFFFFF"/>
          </a:solidFill>
          <a:ln w="19050">
            <a:solidFill>
              <a:srgbClr val="00897B"/>
            </a:solidFill>
            <a:prstDash val="solid"/>
          </a:ln>
        </p:spPr>
      </p:sp>
      <p:sp>
        <p:nvSpPr>
          <p:cNvPr id="103" name="Text 101"/>
          <p:cNvSpPr/>
          <p:nvPr/>
        </p:nvSpPr>
        <p:spPr>
          <a:xfrm>
            <a:off x="4626864" y="3383280"/>
            <a:ext cx="196596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Malgun Gothic" pitchFamily="34" charset="0"/>
                <a:ea typeface="Malgun Gothic" pitchFamily="34" charset="-122"/>
                <a:cs typeface="Malgun Gothic" pitchFamily="34" charset="-120"/>
              </a:rPr>
              <a:t>🚫</a:t>
            </a:r>
            <a:endParaRPr lang="en-US" sz="2800" dirty="0"/>
          </a:p>
        </p:txBody>
      </p:sp>
      <p:sp>
        <p:nvSpPr>
          <p:cNvPr id="104" name="Text 102"/>
          <p:cNvSpPr/>
          <p:nvPr/>
        </p:nvSpPr>
        <p:spPr>
          <a:xfrm>
            <a:off x="4626864" y="3931920"/>
            <a:ext cx="196596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Sentinel 교체</a:t>
            </a:r>
            <a:endParaRPr lang="en-US" sz="1200" dirty="0"/>
          </a:p>
        </p:txBody>
      </p:sp>
      <p:sp>
        <p:nvSpPr>
          <p:cNvPr id="105" name="Text 103"/>
          <p:cNvSpPr/>
          <p:nvPr/>
        </p:nvSpPr>
        <p:spPr>
          <a:xfrm>
            <a:off x="4626864" y="4251960"/>
            <a:ext cx="1965960" cy="274320"/>
          </a:xfrm>
          <a:prstGeom prst="rect">
            <a:avLst/>
          </a:prstGeom>
          <a:noFill/>
          <a:ln/>
        </p:spPr>
        <p:txBody>
          <a:bodyPr wrap="square" lIns="0" tIns="0" rIns="0" bIns="0" rtlCol="0" anchor="ctr"/>
          <a:lstStyle/>
          <a:p>
            <a:pPr algn="ctr" indent="0" marL="0">
              <a:buNone/>
            </a:pPr>
            <a:r>
              <a:rPr lang="en-US" sz="900" i="1" dirty="0">
                <a:solidFill>
                  <a:srgbClr val="00897B"/>
                </a:solidFill>
                <a:latin typeface="Consolas" pitchFamily="34" charset="0"/>
                <a:ea typeface="Consolas" pitchFamily="34" charset="-122"/>
                <a:cs typeface="Consolas" pitchFamily="34" charset="-120"/>
              </a:rPr>
              <a:t>-9999 → NaN</a:t>
            </a:r>
            <a:endParaRPr lang="en-US" sz="900" dirty="0"/>
          </a:p>
        </p:txBody>
      </p:sp>
      <p:sp>
        <p:nvSpPr>
          <p:cNvPr id="106" name="Shape 104"/>
          <p:cNvSpPr/>
          <p:nvPr/>
        </p:nvSpPr>
        <p:spPr>
          <a:xfrm>
            <a:off x="6711696" y="3291840"/>
            <a:ext cx="1965960" cy="1325880"/>
          </a:xfrm>
          <a:prstGeom prst="roundRect">
            <a:avLst>
              <a:gd name="adj" fmla="val 5517"/>
            </a:avLst>
          </a:prstGeom>
          <a:solidFill>
            <a:srgbClr val="FFFFFF"/>
          </a:solidFill>
          <a:ln w="19050">
            <a:solidFill>
              <a:srgbClr val="1E88E5"/>
            </a:solidFill>
            <a:prstDash val="solid"/>
          </a:ln>
        </p:spPr>
      </p:sp>
      <p:sp>
        <p:nvSpPr>
          <p:cNvPr id="107" name="Text 105"/>
          <p:cNvSpPr/>
          <p:nvPr/>
        </p:nvSpPr>
        <p:spPr>
          <a:xfrm>
            <a:off x="6711696" y="3383280"/>
            <a:ext cx="1965960" cy="502920"/>
          </a:xfrm>
          <a:prstGeom prst="rect">
            <a:avLst/>
          </a:prstGeom>
          <a:noFill/>
          <a:ln/>
        </p:spPr>
        <p:txBody>
          <a:bodyPr wrap="square" lIns="0" tIns="0" rIns="0" bIns="0" rtlCol="0" anchor="ctr"/>
          <a:lstStyle/>
          <a:p>
            <a:pPr algn="ctr" indent="0" marL="0">
              <a:buNone/>
            </a:pPr>
            <a:r>
              <a:rPr lang="en-US" sz="2800" dirty="0">
                <a:solidFill>
                  <a:srgbClr val="000000"/>
                </a:solidFill>
                <a:latin typeface="Malgun Gothic" pitchFamily="34" charset="0"/>
                <a:ea typeface="Malgun Gothic" pitchFamily="34" charset="-122"/>
                <a:cs typeface="Malgun Gothic" pitchFamily="34" charset="-120"/>
              </a:rPr>
              <a:t>📏</a:t>
            </a:r>
            <a:endParaRPr lang="en-US" sz="2800" dirty="0"/>
          </a:p>
        </p:txBody>
      </p:sp>
      <p:sp>
        <p:nvSpPr>
          <p:cNvPr id="108" name="Text 106"/>
          <p:cNvSpPr/>
          <p:nvPr/>
        </p:nvSpPr>
        <p:spPr>
          <a:xfrm>
            <a:off x="6711696" y="3931920"/>
            <a:ext cx="196596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범위 검증</a:t>
            </a:r>
            <a:endParaRPr lang="en-US" sz="1200" dirty="0"/>
          </a:p>
        </p:txBody>
      </p:sp>
      <p:sp>
        <p:nvSpPr>
          <p:cNvPr id="109" name="Text 107"/>
          <p:cNvSpPr/>
          <p:nvPr/>
        </p:nvSpPr>
        <p:spPr>
          <a:xfrm>
            <a:off x="6711696" y="4251960"/>
            <a:ext cx="1965960" cy="274320"/>
          </a:xfrm>
          <a:prstGeom prst="rect">
            <a:avLst/>
          </a:prstGeom>
          <a:noFill/>
          <a:ln/>
        </p:spPr>
        <p:txBody>
          <a:bodyPr wrap="square" lIns="0" tIns="0" rIns="0" bIns="0" rtlCol="0" anchor="ctr"/>
          <a:lstStyle/>
          <a:p>
            <a:pPr algn="ctr" indent="0" marL="0">
              <a:buNone/>
            </a:pPr>
            <a:r>
              <a:rPr lang="en-US" sz="900" i="1" dirty="0">
                <a:solidFill>
                  <a:srgbClr val="1E88E5"/>
                </a:solidFill>
                <a:latin typeface="Consolas" pitchFamily="34" charset="0"/>
                <a:ea typeface="Consolas" pitchFamily="34" charset="-122"/>
                <a:cs typeface="Consolas" pitchFamily="34" charset="-120"/>
              </a:rPr>
              <a:t>distance &gt; 0 필터</a:t>
            </a:r>
            <a:endParaRPr lang="en-US" sz="900" dirty="0"/>
          </a:p>
        </p:txBody>
      </p:sp>
      <p:sp>
        <p:nvSpPr>
          <p:cNvPr id="110" name="Shape 108"/>
          <p:cNvSpPr/>
          <p:nvPr/>
        </p:nvSpPr>
        <p:spPr>
          <a:xfrm>
            <a:off x="0" y="4892040"/>
            <a:ext cx="9144000" cy="256032"/>
          </a:xfrm>
          <a:prstGeom prst="rect">
            <a:avLst/>
          </a:prstGeom>
          <a:solidFill>
            <a:srgbClr val="0B1F3A"/>
          </a:solidFill>
          <a:ln w="12700">
            <a:solidFill>
              <a:srgbClr val="0B1F3A"/>
            </a:solidFill>
            <a:prstDash val="solid"/>
          </a:ln>
        </p:spPr>
      </p:sp>
      <p:sp>
        <p:nvSpPr>
          <p:cNvPr id="111" name="Text 109"/>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112" name="Text 110"/>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13 / 30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05 · STEP 2</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결측값 (Missing Value) 3 전략</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Three Strategies for Missing Values</a:t>
            </a:r>
            <a:endParaRPr lang="en-US" sz="1050" dirty="0"/>
          </a:p>
        </p:txBody>
      </p:sp>
      <p:sp>
        <p:nvSpPr>
          <p:cNvPr id="7" name="Shape 5"/>
          <p:cNvSpPr/>
          <p:nvPr/>
        </p:nvSpPr>
        <p:spPr>
          <a:xfrm>
            <a:off x="457200" y="1005840"/>
            <a:ext cx="2651760" cy="3611880"/>
          </a:xfrm>
          <a:prstGeom prst="roundRect">
            <a:avLst>
              <a:gd name="adj" fmla="val 3448"/>
            </a:avLst>
          </a:prstGeom>
          <a:solidFill>
            <a:srgbClr val="FFFFFF"/>
          </a:solidFill>
          <a:ln w="25400">
            <a:solidFill>
              <a:srgbClr val="EF5350"/>
            </a:solidFill>
            <a:prstDash val="solid"/>
          </a:ln>
        </p:spPr>
      </p:sp>
      <p:sp>
        <p:nvSpPr>
          <p:cNvPr id="8" name="Shape 6"/>
          <p:cNvSpPr/>
          <p:nvPr/>
        </p:nvSpPr>
        <p:spPr>
          <a:xfrm>
            <a:off x="457200" y="1005840"/>
            <a:ext cx="2651760" cy="411480"/>
          </a:xfrm>
          <a:prstGeom prst="rect">
            <a:avLst/>
          </a:prstGeom>
          <a:solidFill>
            <a:srgbClr val="EF5350"/>
          </a:solidFill>
          <a:ln w="12700">
            <a:solidFill>
              <a:srgbClr val="EF5350"/>
            </a:solidFill>
            <a:prstDash val="solid"/>
          </a:ln>
        </p:spPr>
      </p:sp>
      <p:sp>
        <p:nvSpPr>
          <p:cNvPr id="9" name="Text 7"/>
          <p:cNvSpPr/>
          <p:nvPr/>
        </p:nvSpPr>
        <p:spPr>
          <a:xfrm>
            <a:off x="457200" y="1005840"/>
            <a:ext cx="26517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① Drop</a:t>
            </a:r>
            <a:endParaRPr lang="en-US" sz="1400" dirty="0"/>
          </a:p>
        </p:txBody>
      </p:sp>
      <p:sp>
        <p:nvSpPr>
          <p:cNvPr id="10" name="Text 8"/>
          <p:cNvSpPr/>
          <p:nvPr/>
        </p:nvSpPr>
        <p:spPr>
          <a:xfrm>
            <a:off x="594360" y="1508760"/>
            <a:ext cx="2377440" cy="320040"/>
          </a:xfrm>
          <a:prstGeom prst="rect">
            <a:avLst/>
          </a:prstGeom>
          <a:noFill/>
          <a:ln/>
        </p:spPr>
        <p:txBody>
          <a:bodyPr wrap="square" lIns="0" tIns="0" rIns="0" bIns="0" rtlCol="0" anchor="ctr"/>
          <a:lstStyle/>
          <a:p>
            <a:pPr algn="ctr" indent="0" marL="0">
              <a:buNone/>
            </a:pPr>
            <a:r>
              <a:rPr lang="en-US" sz="1400" b="1" dirty="0">
                <a:solidFill>
                  <a:srgbClr val="0B1F3A"/>
                </a:solidFill>
                <a:latin typeface="Malgun Gothic" pitchFamily="34" charset="0"/>
                <a:ea typeface="Malgun Gothic" pitchFamily="34" charset="-122"/>
                <a:cs typeface="Malgun Gothic" pitchFamily="34" charset="-120"/>
              </a:rPr>
              <a:t>그냥 삭제</a:t>
            </a:r>
            <a:endParaRPr lang="en-US" sz="1400" dirty="0"/>
          </a:p>
        </p:txBody>
      </p:sp>
      <p:sp>
        <p:nvSpPr>
          <p:cNvPr id="11" name="Text 9"/>
          <p:cNvSpPr/>
          <p:nvPr/>
        </p:nvSpPr>
        <p:spPr>
          <a:xfrm>
            <a:off x="594360" y="1828800"/>
            <a:ext cx="2377440" cy="274320"/>
          </a:xfrm>
          <a:prstGeom prst="rect">
            <a:avLst/>
          </a:prstGeom>
          <a:noFill/>
          <a:ln/>
        </p:spPr>
        <p:txBody>
          <a:bodyPr wrap="square" lIns="0" tIns="0" rIns="0" bIns="0" rtlCol="0" anchor="ctr"/>
          <a:lstStyle/>
          <a:p>
            <a:pPr algn="ctr" indent="0" marL="0">
              <a:buNone/>
            </a:pPr>
            <a:r>
              <a:rPr lang="en-US" sz="1000" i="1" dirty="0">
                <a:solidFill>
                  <a:srgbClr val="78909C"/>
                </a:solidFill>
                <a:latin typeface="Malgun Gothic" pitchFamily="34" charset="0"/>
                <a:ea typeface="Malgun Gothic" pitchFamily="34" charset="-122"/>
                <a:cs typeface="Malgun Gothic" pitchFamily="34" charset="-120"/>
              </a:rPr>
              <a:t>drop NaN rows</a:t>
            </a:r>
            <a:endParaRPr lang="en-US" sz="1000" dirty="0"/>
          </a:p>
        </p:txBody>
      </p:sp>
      <p:sp>
        <p:nvSpPr>
          <p:cNvPr id="12" name="Shape 10"/>
          <p:cNvSpPr/>
          <p:nvPr/>
        </p:nvSpPr>
        <p:spPr>
          <a:xfrm>
            <a:off x="594360" y="2194560"/>
            <a:ext cx="2377440" cy="548640"/>
          </a:xfrm>
          <a:prstGeom prst="rect">
            <a:avLst/>
          </a:prstGeom>
          <a:solidFill>
            <a:srgbClr val="0B1F3A"/>
          </a:solidFill>
          <a:ln w="12700">
            <a:solidFill>
              <a:srgbClr val="0B1F3A"/>
            </a:solidFill>
            <a:prstDash val="solid"/>
          </a:ln>
        </p:spPr>
      </p:sp>
      <p:sp>
        <p:nvSpPr>
          <p:cNvPr id="13" name="Text 11"/>
          <p:cNvSpPr/>
          <p:nvPr/>
        </p:nvSpPr>
        <p:spPr>
          <a:xfrm>
            <a:off x="640080" y="2240280"/>
            <a:ext cx="2286000" cy="457200"/>
          </a:xfrm>
          <a:prstGeom prst="rect">
            <a:avLst/>
          </a:prstGeom>
          <a:noFill/>
          <a:ln/>
        </p:spPr>
        <p:txBody>
          <a:bodyPr wrap="square" lIns="0" tIns="0" rIns="0" bIns="0" rtlCol="0" anchor="ctr"/>
          <a:lstStyle/>
          <a:p>
            <a:pPr algn="ctr" indent="0" marL="0">
              <a:buNone/>
            </a:pPr>
            <a:r>
              <a:rPr lang="en-US" sz="950" b="1" dirty="0">
                <a:solidFill>
                  <a:srgbClr val="FFB300"/>
                </a:solidFill>
                <a:latin typeface="Consolas" pitchFamily="34" charset="0"/>
                <a:ea typeface="Consolas" pitchFamily="34" charset="-122"/>
                <a:cs typeface="Consolas" pitchFamily="34" charset="-120"/>
              </a:rPr>
              <a:t>df.dropna()</a:t>
            </a:r>
            <a:endParaRPr lang="en-US" sz="950" dirty="0"/>
          </a:p>
        </p:txBody>
      </p:sp>
      <p:sp>
        <p:nvSpPr>
          <p:cNvPr id="14" name="Text 12"/>
          <p:cNvSpPr/>
          <p:nvPr/>
        </p:nvSpPr>
        <p:spPr>
          <a:xfrm>
            <a:off x="594360" y="2880360"/>
            <a:ext cx="2377440" cy="502920"/>
          </a:xfrm>
          <a:prstGeom prst="rect">
            <a:avLst/>
          </a:prstGeom>
          <a:noFill/>
          <a:ln/>
        </p:spPr>
        <p:txBody>
          <a:bodyPr wrap="square" lIns="0" tIns="0" rIns="0" bIns="0" rtlCol="0" anchor="ctr"/>
          <a:lstStyle/>
          <a:p>
            <a:pPr algn="ctr" indent="0" marL="0">
              <a:buNone/>
            </a:pPr>
            <a:r>
              <a:rPr lang="en-US" sz="1000" b="1" dirty="0">
                <a:solidFill>
                  <a:srgbClr val="43A047"/>
                </a:solidFill>
                <a:latin typeface="Malgun Gothic" pitchFamily="34" charset="0"/>
                <a:ea typeface="Malgun Gothic" pitchFamily="34" charset="-122"/>
                <a:cs typeface="Malgun Gothic" pitchFamily="34" charset="-120"/>
              </a:rPr>
              <a:t>✅ 가장 간단</a:t>
            </a:r>
            <a:endParaRPr lang="en-US" sz="1000" dirty="0"/>
          </a:p>
          <a:p>
            <a:pPr algn="ctr" indent="0" marL="0">
              <a:buNone/>
            </a:pPr>
            <a:r>
              <a:rPr lang="en-US" sz="1000" b="1" dirty="0">
                <a:solidFill>
                  <a:srgbClr val="43A047"/>
                </a:solidFill>
                <a:latin typeface="Malgun Gothic" pitchFamily="34" charset="0"/>
                <a:ea typeface="Malgun Gothic" pitchFamily="34" charset="-122"/>
                <a:cs typeface="Malgun Gothic" pitchFamily="34" charset="-120"/>
              </a:rPr>
              <a:t>simple</a:t>
            </a:r>
            <a:endParaRPr lang="en-US" sz="1000" dirty="0"/>
          </a:p>
        </p:txBody>
      </p:sp>
      <p:sp>
        <p:nvSpPr>
          <p:cNvPr id="15" name="Text 13"/>
          <p:cNvSpPr/>
          <p:nvPr/>
        </p:nvSpPr>
        <p:spPr>
          <a:xfrm>
            <a:off x="594360" y="3474720"/>
            <a:ext cx="2377440" cy="502920"/>
          </a:xfrm>
          <a:prstGeom prst="rect">
            <a:avLst/>
          </a:prstGeom>
          <a:noFill/>
          <a:ln/>
        </p:spPr>
        <p:txBody>
          <a:bodyPr wrap="square" lIns="0" tIns="0" rIns="0" bIns="0" rtlCol="0" anchor="ctr"/>
          <a:lstStyle/>
          <a:p>
            <a:pPr algn="ctr" indent="0" marL="0">
              <a:buNone/>
            </a:pPr>
            <a:r>
              <a:rPr lang="en-US" sz="1000" b="1" dirty="0">
                <a:solidFill>
                  <a:srgbClr val="EF5350"/>
                </a:solidFill>
                <a:latin typeface="Malgun Gothic" pitchFamily="34" charset="0"/>
                <a:ea typeface="Malgun Gothic" pitchFamily="34" charset="-122"/>
                <a:cs typeface="Malgun Gothic" pitchFamily="34" charset="-120"/>
              </a:rPr>
              <a:t>❌ 데이터 대량 손실</a:t>
            </a:r>
            <a:endParaRPr lang="en-US" sz="1000" dirty="0"/>
          </a:p>
          <a:p>
            <a:pPr algn="ctr" indent="0" marL="0">
              <a:buNone/>
            </a:pPr>
            <a:r>
              <a:rPr lang="en-US" sz="1000" b="1" dirty="0">
                <a:solidFill>
                  <a:srgbClr val="EF5350"/>
                </a:solidFill>
                <a:latin typeface="Malgun Gothic" pitchFamily="34" charset="0"/>
                <a:ea typeface="Malgun Gothic" pitchFamily="34" charset="-122"/>
                <a:cs typeface="Malgun Gothic" pitchFamily="34" charset="-120"/>
              </a:rPr>
              <a:t>data loss</a:t>
            </a:r>
            <a:endParaRPr lang="en-US" sz="1000" dirty="0"/>
          </a:p>
        </p:txBody>
      </p:sp>
      <p:sp>
        <p:nvSpPr>
          <p:cNvPr id="16" name="Shape 14"/>
          <p:cNvSpPr/>
          <p:nvPr/>
        </p:nvSpPr>
        <p:spPr>
          <a:xfrm>
            <a:off x="3200400" y="1005840"/>
            <a:ext cx="2651760" cy="3611880"/>
          </a:xfrm>
          <a:prstGeom prst="roundRect">
            <a:avLst>
              <a:gd name="adj" fmla="val 3448"/>
            </a:avLst>
          </a:prstGeom>
          <a:solidFill>
            <a:srgbClr val="FFFFFF"/>
          </a:solidFill>
          <a:ln w="25400">
            <a:solidFill>
              <a:srgbClr val="FFB300"/>
            </a:solidFill>
            <a:prstDash val="solid"/>
          </a:ln>
        </p:spPr>
      </p:sp>
      <p:sp>
        <p:nvSpPr>
          <p:cNvPr id="17" name="Shape 15"/>
          <p:cNvSpPr/>
          <p:nvPr/>
        </p:nvSpPr>
        <p:spPr>
          <a:xfrm>
            <a:off x="3200400" y="1005840"/>
            <a:ext cx="2651760" cy="411480"/>
          </a:xfrm>
          <a:prstGeom prst="rect">
            <a:avLst/>
          </a:prstGeom>
          <a:solidFill>
            <a:srgbClr val="FFB300"/>
          </a:solidFill>
          <a:ln w="12700">
            <a:solidFill>
              <a:srgbClr val="FFB300"/>
            </a:solidFill>
            <a:prstDash val="solid"/>
          </a:ln>
        </p:spPr>
      </p:sp>
      <p:sp>
        <p:nvSpPr>
          <p:cNvPr id="18" name="Text 16"/>
          <p:cNvSpPr/>
          <p:nvPr/>
        </p:nvSpPr>
        <p:spPr>
          <a:xfrm>
            <a:off x="3200400" y="1005840"/>
            <a:ext cx="26517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② Impute</a:t>
            </a:r>
            <a:endParaRPr lang="en-US" sz="1400" dirty="0"/>
          </a:p>
        </p:txBody>
      </p:sp>
      <p:sp>
        <p:nvSpPr>
          <p:cNvPr id="19" name="Text 17"/>
          <p:cNvSpPr/>
          <p:nvPr/>
        </p:nvSpPr>
        <p:spPr>
          <a:xfrm>
            <a:off x="3337560" y="1508760"/>
            <a:ext cx="2377440" cy="320040"/>
          </a:xfrm>
          <a:prstGeom prst="rect">
            <a:avLst/>
          </a:prstGeom>
          <a:noFill/>
          <a:ln/>
        </p:spPr>
        <p:txBody>
          <a:bodyPr wrap="square" lIns="0" tIns="0" rIns="0" bIns="0" rtlCol="0" anchor="ctr"/>
          <a:lstStyle/>
          <a:p>
            <a:pPr algn="ctr" indent="0" marL="0">
              <a:buNone/>
            </a:pPr>
            <a:r>
              <a:rPr lang="en-US" sz="1400" b="1" dirty="0">
                <a:solidFill>
                  <a:srgbClr val="0B1F3A"/>
                </a:solidFill>
                <a:latin typeface="Malgun Gothic" pitchFamily="34" charset="0"/>
                <a:ea typeface="Malgun Gothic" pitchFamily="34" charset="-122"/>
                <a:cs typeface="Malgun Gothic" pitchFamily="34" charset="-120"/>
              </a:rPr>
              <a:t>평균·중간값 대체</a:t>
            </a:r>
            <a:endParaRPr lang="en-US" sz="1400" dirty="0"/>
          </a:p>
        </p:txBody>
      </p:sp>
      <p:sp>
        <p:nvSpPr>
          <p:cNvPr id="20" name="Text 18"/>
          <p:cNvSpPr/>
          <p:nvPr/>
        </p:nvSpPr>
        <p:spPr>
          <a:xfrm>
            <a:off x="3337560" y="1828800"/>
            <a:ext cx="2377440" cy="274320"/>
          </a:xfrm>
          <a:prstGeom prst="rect">
            <a:avLst/>
          </a:prstGeom>
          <a:noFill/>
          <a:ln/>
        </p:spPr>
        <p:txBody>
          <a:bodyPr wrap="square" lIns="0" tIns="0" rIns="0" bIns="0" rtlCol="0" anchor="ctr"/>
          <a:lstStyle/>
          <a:p>
            <a:pPr algn="ctr" indent="0" marL="0">
              <a:buNone/>
            </a:pPr>
            <a:r>
              <a:rPr lang="en-US" sz="1000" i="1" dirty="0">
                <a:solidFill>
                  <a:srgbClr val="78909C"/>
                </a:solidFill>
                <a:latin typeface="Malgun Gothic" pitchFamily="34" charset="0"/>
                <a:ea typeface="Malgun Gothic" pitchFamily="34" charset="-122"/>
                <a:cs typeface="Malgun Gothic" pitchFamily="34" charset="-120"/>
              </a:rPr>
              <a:t>fill with mean/median</a:t>
            </a:r>
            <a:endParaRPr lang="en-US" sz="1000" dirty="0"/>
          </a:p>
        </p:txBody>
      </p:sp>
      <p:sp>
        <p:nvSpPr>
          <p:cNvPr id="21" name="Shape 19"/>
          <p:cNvSpPr/>
          <p:nvPr/>
        </p:nvSpPr>
        <p:spPr>
          <a:xfrm>
            <a:off x="3337560" y="2194560"/>
            <a:ext cx="2377440" cy="548640"/>
          </a:xfrm>
          <a:prstGeom prst="rect">
            <a:avLst/>
          </a:prstGeom>
          <a:solidFill>
            <a:srgbClr val="0B1F3A"/>
          </a:solidFill>
          <a:ln w="12700">
            <a:solidFill>
              <a:srgbClr val="0B1F3A"/>
            </a:solidFill>
            <a:prstDash val="solid"/>
          </a:ln>
        </p:spPr>
      </p:sp>
      <p:sp>
        <p:nvSpPr>
          <p:cNvPr id="22" name="Text 20"/>
          <p:cNvSpPr/>
          <p:nvPr/>
        </p:nvSpPr>
        <p:spPr>
          <a:xfrm>
            <a:off x="3383280" y="2240280"/>
            <a:ext cx="2286000" cy="457200"/>
          </a:xfrm>
          <a:prstGeom prst="rect">
            <a:avLst/>
          </a:prstGeom>
          <a:noFill/>
          <a:ln/>
        </p:spPr>
        <p:txBody>
          <a:bodyPr wrap="square" lIns="0" tIns="0" rIns="0" bIns="0" rtlCol="0" anchor="ctr"/>
          <a:lstStyle/>
          <a:p>
            <a:pPr algn="ctr" indent="0" marL="0">
              <a:buNone/>
            </a:pPr>
            <a:r>
              <a:rPr lang="en-US" sz="950" b="1" dirty="0">
                <a:solidFill>
                  <a:srgbClr val="FFB300"/>
                </a:solidFill>
                <a:latin typeface="Consolas" pitchFamily="34" charset="0"/>
                <a:ea typeface="Consolas" pitchFamily="34" charset="-122"/>
                <a:cs typeface="Consolas" pitchFamily="34" charset="-120"/>
              </a:rPr>
              <a:t>SimpleImputer(mean)</a:t>
            </a:r>
            <a:endParaRPr lang="en-US" sz="950" dirty="0"/>
          </a:p>
        </p:txBody>
      </p:sp>
      <p:sp>
        <p:nvSpPr>
          <p:cNvPr id="23" name="Text 21"/>
          <p:cNvSpPr/>
          <p:nvPr/>
        </p:nvSpPr>
        <p:spPr>
          <a:xfrm>
            <a:off x="3337560" y="2880360"/>
            <a:ext cx="2377440" cy="502920"/>
          </a:xfrm>
          <a:prstGeom prst="rect">
            <a:avLst/>
          </a:prstGeom>
          <a:noFill/>
          <a:ln/>
        </p:spPr>
        <p:txBody>
          <a:bodyPr wrap="square" lIns="0" tIns="0" rIns="0" bIns="0" rtlCol="0" anchor="ctr"/>
          <a:lstStyle/>
          <a:p>
            <a:pPr algn="ctr" indent="0" marL="0">
              <a:buNone/>
            </a:pPr>
            <a:r>
              <a:rPr lang="en-US" sz="1000" b="1" dirty="0">
                <a:solidFill>
                  <a:srgbClr val="43A047"/>
                </a:solidFill>
                <a:latin typeface="Malgun Gothic" pitchFamily="34" charset="0"/>
                <a:ea typeface="Malgun Gothic" pitchFamily="34" charset="-122"/>
                <a:cs typeface="Malgun Gothic" pitchFamily="34" charset="-120"/>
              </a:rPr>
              <a:t>✅ 데이터 유지</a:t>
            </a:r>
            <a:endParaRPr lang="en-US" sz="1000" dirty="0"/>
          </a:p>
          <a:p>
            <a:pPr algn="ctr" indent="0" marL="0">
              <a:buNone/>
            </a:pPr>
            <a:r>
              <a:rPr lang="en-US" sz="1000" b="1" dirty="0">
                <a:solidFill>
                  <a:srgbClr val="43A047"/>
                </a:solidFill>
                <a:latin typeface="Malgun Gothic" pitchFamily="34" charset="0"/>
                <a:ea typeface="Malgun Gothic" pitchFamily="34" charset="-122"/>
                <a:cs typeface="Malgun Gothic" pitchFamily="34" charset="-120"/>
              </a:rPr>
              <a:t>keep rows</a:t>
            </a:r>
            <a:endParaRPr lang="en-US" sz="1000" dirty="0"/>
          </a:p>
        </p:txBody>
      </p:sp>
      <p:sp>
        <p:nvSpPr>
          <p:cNvPr id="24" name="Text 22"/>
          <p:cNvSpPr/>
          <p:nvPr/>
        </p:nvSpPr>
        <p:spPr>
          <a:xfrm>
            <a:off x="3337560" y="3474720"/>
            <a:ext cx="2377440" cy="502920"/>
          </a:xfrm>
          <a:prstGeom prst="rect">
            <a:avLst/>
          </a:prstGeom>
          <a:noFill/>
          <a:ln/>
        </p:spPr>
        <p:txBody>
          <a:bodyPr wrap="square" lIns="0" tIns="0" rIns="0" bIns="0" rtlCol="0" anchor="ctr"/>
          <a:lstStyle/>
          <a:p>
            <a:pPr algn="ctr" indent="0" marL="0">
              <a:buNone/>
            </a:pPr>
            <a:r>
              <a:rPr lang="en-US" sz="1000" b="1" dirty="0">
                <a:solidFill>
                  <a:srgbClr val="EF5350"/>
                </a:solidFill>
                <a:latin typeface="Malgun Gothic" pitchFamily="34" charset="0"/>
                <a:ea typeface="Malgun Gothic" pitchFamily="34" charset="-122"/>
                <a:cs typeface="Malgun Gothic" pitchFamily="34" charset="-120"/>
              </a:rPr>
              <a:t>❌ 분산 왜곡</a:t>
            </a:r>
            <a:endParaRPr lang="en-US" sz="1000" dirty="0"/>
          </a:p>
          <a:p>
            <a:pPr algn="ctr" indent="0" marL="0">
              <a:buNone/>
            </a:pPr>
            <a:r>
              <a:rPr lang="en-US" sz="1000" b="1" dirty="0">
                <a:solidFill>
                  <a:srgbClr val="EF5350"/>
                </a:solidFill>
                <a:latin typeface="Malgun Gothic" pitchFamily="34" charset="0"/>
                <a:ea typeface="Malgun Gothic" pitchFamily="34" charset="-122"/>
                <a:cs typeface="Malgun Gothic" pitchFamily="34" charset="-120"/>
              </a:rPr>
              <a:t>bias variance</a:t>
            </a:r>
            <a:endParaRPr lang="en-US" sz="1000" dirty="0"/>
          </a:p>
        </p:txBody>
      </p:sp>
      <p:sp>
        <p:nvSpPr>
          <p:cNvPr id="25" name="Shape 23"/>
          <p:cNvSpPr/>
          <p:nvPr/>
        </p:nvSpPr>
        <p:spPr>
          <a:xfrm>
            <a:off x="5943600" y="1005840"/>
            <a:ext cx="2651760" cy="3611880"/>
          </a:xfrm>
          <a:prstGeom prst="roundRect">
            <a:avLst>
              <a:gd name="adj" fmla="val 3448"/>
            </a:avLst>
          </a:prstGeom>
          <a:solidFill>
            <a:srgbClr val="FFFFFF"/>
          </a:solidFill>
          <a:ln w="25400">
            <a:solidFill>
              <a:srgbClr val="43A047"/>
            </a:solidFill>
            <a:prstDash val="solid"/>
          </a:ln>
        </p:spPr>
      </p:sp>
      <p:sp>
        <p:nvSpPr>
          <p:cNvPr id="26" name="Shape 24"/>
          <p:cNvSpPr/>
          <p:nvPr/>
        </p:nvSpPr>
        <p:spPr>
          <a:xfrm>
            <a:off x="5943600" y="1005840"/>
            <a:ext cx="2651760" cy="411480"/>
          </a:xfrm>
          <a:prstGeom prst="rect">
            <a:avLst/>
          </a:prstGeom>
          <a:solidFill>
            <a:srgbClr val="43A047"/>
          </a:solidFill>
          <a:ln w="12700">
            <a:solidFill>
              <a:srgbClr val="43A047"/>
            </a:solidFill>
            <a:prstDash val="solid"/>
          </a:ln>
        </p:spPr>
      </p:sp>
      <p:sp>
        <p:nvSpPr>
          <p:cNvPr id="27" name="Text 25"/>
          <p:cNvSpPr/>
          <p:nvPr/>
        </p:nvSpPr>
        <p:spPr>
          <a:xfrm>
            <a:off x="5943600" y="1005840"/>
            <a:ext cx="26517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③ XGBoost ★</a:t>
            </a:r>
            <a:endParaRPr lang="en-US" sz="1400" dirty="0"/>
          </a:p>
        </p:txBody>
      </p:sp>
      <p:sp>
        <p:nvSpPr>
          <p:cNvPr id="28" name="Text 26"/>
          <p:cNvSpPr/>
          <p:nvPr/>
        </p:nvSpPr>
        <p:spPr>
          <a:xfrm>
            <a:off x="6080760" y="1508760"/>
            <a:ext cx="2377440" cy="320040"/>
          </a:xfrm>
          <a:prstGeom prst="rect">
            <a:avLst/>
          </a:prstGeom>
          <a:noFill/>
          <a:ln/>
        </p:spPr>
        <p:txBody>
          <a:bodyPr wrap="square" lIns="0" tIns="0" rIns="0" bIns="0" rtlCol="0" anchor="ctr"/>
          <a:lstStyle/>
          <a:p>
            <a:pPr algn="ctr" indent="0" marL="0">
              <a:buNone/>
            </a:pPr>
            <a:r>
              <a:rPr lang="en-US" sz="1400" b="1" dirty="0">
                <a:solidFill>
                  <a:srgbClr val="0B1F3A"/>
                </a:solidFill>
                <a:latin typeface="Malgun Gothic" pitchFamily="34" charset="0"/>
                <a:ea typeface="Malgun Gothic" pitchFamily="34" charset="-122"/>
                <a:cs typeface="Malgun Gothic" pitchFamily="34" charset="-120"/>
              </a:rPr>
              <a:t>자동 처리</a:t>
            </a:r>
            <a:endParaRPr lang="en-US" sz="1400" dirty="0"/>
          </a:p>
        </p:txBody>
      </p:sp>
      <p:sp>
        <p:nvSpPr>
          <p:cNvPr id="29" name="Text 27"/>
          <p:cNvSpPr/>
          <p:nvPr/>
        </p:nvSpPr>
        <p:spPr>
          <a:xfrm>
            <a:off x="6080760" y="1828800"/>
            <a:ext cx="2377440" cy="274320"/>
          </a:xfrm>
          <a:prstGeom prst="rect">
            <a:avLst/>
          </a:prstGeom>
          <a:noFill/>
          <a:ln/>
        </p:spPr>
        <p:txBody>
          <a:bodyPr wrap="square" lIns="0" tIns="0" rIns="0" bIns="0" rtlCol="0" anchor="ctr"/>
          <a:lstStyle/>
          <a:p>
            <a:pPr algn="ctr" indent="0" marL="0">
              <a:buNone/>
            </a:pPr>
            <a:r>
              <a:rPr lang="en-US" sz="1000" i="1" dirty="0">
                <a:solidFill>
                  <a:srgbClr val="78909C"/>
                </a:solidFill>
                <a:latin typeface="Malgun Gothic" pitchFamily="34" charset="0"/>
                <a:ea typeface="Malgun Gothic" pitchFamily="34" charset="-122"/>
                <a:cs typeface="Malgun Gothic" pitchFamily="34" charset="-120"/>
              </a:rPr>
              <a:t>native NaN handling</a:t>
            </a:r>
            <a:endParaRPr lang="en-US" sz="1000" dirty="0"/>
          </a:p>
        </p:txBody>
      </p:sp>
      <p:sp>
        <p:nvSpPr>
          <p:cNvPr id="30" name="Shape 28"/>
          <p:cNvSpPr/>
          <p:nvPr/>
        </p:nvSpPr>
        <p:spPr>
          <a:xfrm>
            <a:off x="6080760" y="2194560"/>
            <a:ext cx="2377440" cy="548640"/>
          </a:xfrm>
          <a:prstGeom prst="rect">
            <a:avLst/>
          </a:prstGeom>
          <a:solidFill>
            <a:srgbClr val="0B1F3A"/>
          </a:solidFill>
          <a:ln w="12700">
            <a:solidFill>
              <a:srgbClr val="0B1F3A"/>
            </a:solidFill>
            <a:prstDash val="solid"/>
          </a:ln>
        </p:spPr>
      </p:sp>
      <p:sp>
        <p:nvSpPr>
          <p:cNvPr id="31" name="Text 29"/>
          <p:cNvSpPr/>
          <p:nvPr/>
        </p:nvSpPr>
        <p:spPr>
          <a:xfrm>
            <a:off x="6126480" y="2240280"/>
            <a:ext cx="2286000" cy="457200"/>
          </a:xfrm>
          <a:prstGeom prst="rect">
            <a:avLst/>
          </a:prstGeom>
          <a:noFill/>
          <a:ln/>
        </p:spPr>
        <p:txBody>
          <a:bodyPr wrap="square" lIns="0" tIns="0" rIns="0" bIns="0" rtlCol="0" anchor="ctr"/>
          <a:lstStyle/>
          <a:p>
            <a:pPr algn="ctr" indent="0" marL="0">
              <a:buNone/>
            </a:pPr>
            <a:r>
              <a:rPr lang="en-US" sz="950" b="1" dirty="0">
                <a:solidFill>
                  <a:srgbClr val="FFB300"/>
                </a:solidFill>
                <a:latin typeface="Consolas" pitchFamily="34" charset="0"/>
                <a:ea typeface="Consolas" pitchFamily="34" charset="-122"/>
                <a:cs typeface="Consolas" pitchFamily="34" charset="-120"/>
              </a:rPr>
              <a:t>XGBoost uses NaN as a split direction</a:t>
            </a:r>
            <a:endParaRPr lang="en-US" sz="950" dirty="0"/>
          </a:p>
        </p:txBody>
      </p:sp>
      <p:sp>
        <p:nvSpPr>
          <p:cNvPr id="32" name="Text 30"/>
          <p:cNvSpPr/>
          <p:nvPr/>
        </p:nvSpPr>
        <p:spPr>
          <a:xfrm>
            <a:off x="6080760" y="2880360"/>
            <a:ext cx="2377440" cy="502920"/>
          </a:xfrm>
          <a:prstGeom prst="rect">
            <a:avLst/>
          </a:prstGeom>
          <a:noFill/>
          <a:ln/>
        </p:spPr>
        <p:txBody>
          <a:bodyPr wrap="square" lIns="0" tIns="0" rIns="0" bIns="0" rtlCol="0" anchor="ctr"/>
          <a:lstStyle/>
          <a:p>
            <a:pPr algn="ctr" indent="0" marL="0">
              <a:buNone/>
            </a:pPr>
            <a:r>
              <a:rPr lang="en-US" sz="1000" b="1" dirty="0">
                <a:solidFill>
                  <a:srgbClr val="43A047"/>
                </a:solidFill>
                <a:latin typeface="Malgun Gothic" pitchFamily="34" charset="0"/>
                <a:ea typeface="Malgun Gothic" pitchFamily="34" charset="-122"/>
                <a:cs typeface="Malgun Gothic" pitchFamily="34" charset="-120"/>
              </a:rPr>
              <a:t>✅ 최적 분할 자동</a:t>
            </a:r>
            <a:endParaRPr lang="en-US" sz="1000" dirty="0"/>
          </a:p>
          <a:p>
            <a:pPr algn="ctr" indent="0" marL="0">
              <a:buNone/>
            </a:pPr>
            <a:r>
              <a:rPr lang="en-US" sz="1000" b="1" dirty="0">
                <a:solidFill>
                  <a:srgbClr val="43A047"/>
                </a:solidFill>
                <a:latin typeface="Malgun Gothic" pitchFamily="34" charset="0"/>
                <a:ea typeface="Malgun Gothic" pitchFamily="34" charset="-122"/>
                <a:cs typeface="Malgun Gothic" pitchFamily="34" charset="-120"/>
              </a:rPr>
              <a:t>optimal branch</a:t>
            </a:r>
            <a:endParaRPr lang="en-US" sz="1000" dirty="0"/>
          </a:p>
        </p:txBody>
      </p:sp>
      <p:sp>
        <p:nvSpPr>
          <p:cNvPr id="33" name="Text 31"/>
          <p:cNvSpPr/>
          <p:nvPr/>
        </p:nvSpPr>
        <p:spPr>
          <a:xfrm>
            <a:off x="6080760" y="3474720"/>
            <a:ext cx="2377440" cy="502920"/>
          </a:xfrm>
          <a:prstGeom prst="rect">
            <a:avLst/>
          </a:prstGeom>
          <a:noFill/>
          <a:ln/>
        </p:spPr>
        <p:txBody>
          <a:bodyPr wrap="square" lIns="0" tIns="0" rIns="0" bIns="0" rtlCol="0" anchor="ctr"/>
          <a:lstStyle/>
          <a:p>
            <a:pPr algn="ctr" indent="0" marL="0">
              <a:buNone/>
            </a:pPr>
            <a:r>
              <a:rPr lang="en-US" sz="1000" b="1" dirty="0">
                <a:solidFill>
                  <a:srgbClr val="EF5350"/>
                </a:solidFill>
                <a:latin typeface="Malgun Gothic" pitchFamily="34" charset="0"/>
                <a:ea typeface="Malgun Gothic" pitchFamily="34" charset="-122"/>
                <a:cs typeface="Malgun Gothic" pitchFamily="34" charset="-120"/>
              </a:rPr>
              <a:t>❌ 다른 모델 X</a:t>
            </a:r>
            <a:endParaRPr lang="en-US" sz="1000" dirty="0"/>
          </a:p>
          <a:p>
            <a:pPr algn="ctr" indent="0" marL="0">
              <a:buNone/>
            </a:pPr>
            <a:r>
              <a:rPr lang="en-US" sz="1000" b="1" dirty="0">
                <a:solidFill>
                  <a:srgbClr val="EF5350"/>
                </a:solidFill>
                <a:latin typeface="Malgun Gothic" pitchFamily="34" charset="0"/>
                <a:ea typeface="Malgun Gothic" pitchFamily="34" charset="-122"/>
                <a:cs typeface="Malgun Gothic" pitchFamily="34" charset="-120"/>
              </a:rPr>
              <a:t>model-specific</a:t>
            </a:r>
            <a:endParaRPr lang="en-US" sz="1000" dirty="0"/>
          </a:p>
        </p:txBody>
      </p:sp>
      <p:sp>
        <p:nvSpPr>
          <p:cNvPr id="34" name="Shape 32"/>
          <p:cNvSpPr/>
          <p:nvPr/>
        </p:nvSpPr>
        <p:spPr>
          <a:xfrm>
            <a:off x="457200" y="4663440"/>
            <a:ext cx="8138160" cy="0"/>
          </a:xfrm>
          <a:prstGeom prst="roundRect">
            <a:avLst/>
          </a:prstGeom>
          <a:solidFill>
            <a:srgbClr val="0B1F3A"/>
          </a:solidFill>
          <a:ln w="12700">
            <a:solidFill>
              <a:srgbClr val="0B1F3A"/>
            </a:solidFill>
            <a:prstDash val="solid"/>
          </a:ln>
        </p:spPr>
      </p:sp>
      <p:sp>
        <p:nvSpPr>
          <p:cNvPr id="35" name="Text 33"/>
          <p:cNvSpPr/>
          <p:nvPr/>
        </p:nvSpPr>
        <p:spPr>
          <a:xfrm>
            <a:off x="457200" y="4279392"/>
            <a:ext cx="8138160" cy="320040"/>
          </a:xfrm>
          <a:prstGeom prst="rect">
            <a:avLst/>
          </a:prstGeom>
          <a:solidFill>
            <a:srgbClr val="0B1F3A"/>
          </a:solidFill>
          <a:ln/>
        </p:spPr>
        <p:txBody>
          <a:bodyPr wrap="square" lIns="0" tIns="0" rIns="0" bIns="0" rtlCol="0" anchor="ctr"/>
          <a:lstStyle/>
          <a:p>
            <a:pPr indent="0" marL="0">
              <a:buNone/>
            </a:pPr>
            <a:r>
              <a:rPr lang="en-US" sz="1100" b="1" dirty="0">
                <a:solidFill>
                  <a:srgbClr val="FFB300"/>
                </a:solidFill>
                <a:latin typeface="Malgun Gothic" pitchFamily="34" charset="0"/>
                <a:ea typeface="Malgun Gothic" pitchFamily="34" charset="-122"/>
                <a:cs typeface="Malgun Gothic" pitchFamily="34" charset="-120"/>
              </a:rPr>
              <a:t>💡 제 프로젝트: </a:t>
            </a:r>
            <a:pPr indent="0" marL="0">
              <a:buNone/>
            </a:pPr>
            <a:r>
              <a:rPr lang="en-US" sz="1000" dirty="0">
                <a:solidFill>
                  <a:srgbClr val="FFFFFF"/>
                </a:solidFill>
                <a:latin typeface="Malgun Gothic" pitchFamily="34" charset="0"/>
                <a:ea typeface="Malgun Gothic" pitchFamily="34" charset="-122"/>
                <a:cs typeface="Malgun Gothic" pitchFamily="34" charset="-120"/>
              </a:rPr>
              <a:t>전처리 파이프라인에 SimpleImputer 를 넣고, 최종 모델은 XGBoost 라 native handling 도 동시에 작동</a:t>
            </a:r>
            <a:endParaRPr lang="en-US" sz="1100" dirty="0"/>
          </a:p>
        </p:txBody>
      </p:sp>
      <p:sp>
        <p:nvSpPr>
          <p:cNvPr id="36" name="Shape 34"/>
          <p:cNvSpPr/>
          <p:nvPr/>
        </p:nvSpPr>
        <p:spPr>
          <a:xfrm>
            <a:off x="0" y="4892040"/>
            <a:ext cx="9144000" cy="256032"/>
          </a:xfrm>
          <a:prstGeom prst="rect">
            <a:avLst/>
          </a:prstGeom>
          <a:solidFill>
            <a:srgbClr val="0B1F3A"/>
          </a:solidFill>
          <a:ln w="12700">
            <a:solidFill>
              <a:srgbClr val="0B1F3A"/>
            </a:solidFill>
            <a:prstDash val="solid"/>
          </a:ln>
        </p:spPr>
      </p:sp>
      <p:sp>
        <p:nvSpPr>
          <p:cNvPr id="37" name="Text 35"/>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8" name="Text 36"/>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14 / 30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05 · STEP 3</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Feature Engineering 기초</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Why strings can't be features</a:t>
            </a:r>
            <a:endParaRPr lang="en-US" sz="1050" dirty="0"/>
          </a:p>
        </p:txBody>
      </p:sp>
      <p:sp>
        <p:nvSpPr>
          <p:cNvPr id="7" name="Shape 5"/>
          <p:cNvSpPr/>
          <p:nvPr/>
        </p:nvSpPr>
        <p:spPr>
          <a:xfrm>
            <a:off x="457200" y="960120"/>
            <a:ext cx="3840480" cy="1691640"/>
          </a:xfrm>
          <a:prstGeom prst="roundRect">
            <a:avLst>
              <a:gd name="adj" fmla="val 4324"/>
            </a:avLst>
          </a:prstGeom>
          <a:solidFill>
            <a:srgbClr val="FFFFFF"/>
          </a:solidFill>
          <a:ln w="25400">
            <a:solidFill>
              <a:srgbClr val="EF5350"/>
            </a:solidFill>
            <a:prstDash val="solid"/>
          </a:ln>
        </p:spPr>
      </p:sp>
      <p:sp>
        <p:nvSpPr>
          <p:cNvPr id="8" name="Shape 6"/>
          <p:cNvSpPr/>
          <p:nvPr/>
        </p:nvSpPr>
        <p:spPr>
          <a:xfrm>
            <a:off x="457200" y="960120"/>
            <a:ext cx="3840480" cy="365760"/>
          </a:xfrm>
          <a:prstGeom prst="rect">
            <a:avLst/>
          </a:prstGeom>
          <a:solidFill>
            <a:srgbClr val="EF5350"/>
          </a:solidFill>
          <a:ln w="12700">
            <a:solidFill>
              <a:srgbClr val="EF5350"/>
            </a:solidFill>
            <a:prstDash val="solid"/>
          </a:ln>
        </p:spPr>
      </p:sp>
      <p:sp>
        <p:nvSpPr>
          <p:cNvPr id="9" name="Text 7"/>
          <p:cNvSpPr/>
          <p:nvPr/>
        </p:nvSpPr>
        <p:spPr>
          <a:xfrm>
            <a:off x="457200" y="960120"/>
            <a:ext cx="38404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Before — 모델이 못 읽음</a:t>
            </a:r>
            <a:endParaRPr lang="en-US" sz="1200" dirty="0"/>
          </a:p>
        </p:txBody>
      </p:sp>
      <p:sp>
        <p:nvSpPr>
          <p:cNvPr id="10" name="Shape 8"/>
          <p:cNvSpPr/>
          <p:nvPr/>
        </p:nvSpPr>
        <p:spPr>
          <a:xfrm>
            <a:off x="640080" y="1463040"/>
            <a:ext cx="3474720" cy="1005840"/>
          </a:xfrm>
          <a:prstGeom prst="rect">
            <a:avLst/>
          </a:prstGeom>
          <a:solidFill>
            <a:srgbClr val="E3F2FD"/>
          </a:solidFill>
          <a:ln w="12700">
            <a:solidFill>
              <a:srgbClr val="E3F2FD"/>
            </a:solidFill>
            <a:prstDash val="solid"/>
          </a:ln>
        </p:spPr>
      </p:sp>
      <p:sp>
        <p:nvSpPr>
          <p:cNvPr id="11" name="Text 9"/>
          <p:cNvSpPr/>
          <p:nvPr/>
        </p:nvSpPr>
        <p:spPr>
          <a:xfrm>
            <a:off x="640080" y="1691640"/>
            <a:ext cx="3474720" cy="411480"/>
          </a:xfrm>
          <a:prstGeom prst="rect">
            <a:avLst/>
          </a:prstGeom>
          <a:noFill/>
          <a:ln/>
        </p:spPr>
        <p:txBody>
          <a:bodyPr wrap="square" lIns="0" tIns="0" rIns="0" bIns="0" rtlCol="0" anchor="ctr"/>
          <a:lstStyle/>
          <a:p>
            <a:pPr algn="ctr" indent="0" marL="0">
              <a:buNone/>
            </a:pPr>
            <a:r>
              <a:rPr lang="en-US" sz="1800" b="1" dirty="0">
                <a:solidFill>
                  <a:srgbClr val="0B1F3A"/>
                </a:solidFill>
                <a:latin typeface="Consolas" pitchFamily="34" charset="0"/>
                <a:ea typeface="Consolas" pitchFamily="34" charset="-122"/>
                <a:cs typeface="Consolas" pitchFamily="34" charset="-120"/>
              </a:rPr>
              <a:t>"2026-04-19 14:30:00"</a:t>
            </a:r>
            <a:endParaRPr lang="en-US" sz="1800" dirty="0"/>
          </a:p>
        </p:txBody>
      </p:sp>
      <p:sp>
        <p:nvSpPr>
          <p:cNvPr id="12" name="Text 10"/>
          <p:cNvSpPr/>
          <p:nvPr/>
        </p:nvSpPr>
        <p:spPr>
          <a:xfrm>
            <a:off x="640080" y="2103120"/>
            <a:ext cx="3474720" cy="320040"/>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datetime string</a:t>
            </a:r>
            <a:endParaRPr lang="en-US" sz="900" dirty="0"/>
          </a:p>
          <a:p>
            <a:pPr algn="ctr" indent="0" marL="0">
              <a:buNone/>
            </a:pPr>
            <a:r>
              <a:rPr lang="en-US" sz="900" i="1" dirty="0">
                <a:solidFill>
                  <a:srgbClr val="78909C"/>
                </a:solidFill>
                <a:latin typeface="Malgun Gothic" pitchFamily="34" charset="0"/>
                <a:ea typeface="Malgun Gothic" pitchFamily="34" charset="-122"/>
                <a:cs typeface="Malgun Gothic" pitchFamily="34" charset="-120"/>
              </a:rPr>
              <a:t>모델은 문자열을 이해하지 못함</a:t>
            </a:r>
            <a:endParaRPr lang="en-US" sz="900" dirty="0"/>
          </a:p>
        </p:txBody>
      </p:sp>
      <p:sp>
        <p:nvSpPr>
          <p:cNvPr id="13" name="Shape 11"/>
          <p:cNvSpPr/>
          <p:nvPr/>
        </p:nvSpPr>
        <p:spPr>
          <a:xfrm>
            <a:off x="4315968" y="1783080"/>
            <a:ext cx="512064" cy="0"/>
          </a:xfrm>
          <a:prstGeom prst="line">
            <a:avLst/>
          </a:prstGeom>
          <a:noFill/>
          <a:ln w="50800">
            <a:solidFill>
              <a:srgbClr val="FFB300"/>
            </a:solidFill>
            <a:prstDash val="solid"/>
            <a:tailEnd type="triangle"/>
          </a:ln>
        </p:spPr>
      </p:sp>
      <p:sp>
        <p:nvSpPr>
          <p:cNvPr id="14" name="Text 12"/>
          <p:cNvSpPr/>
          <p:nvPr/>
        </p:nvSpPr>
        <p:spPr>
          <a:xfrm>
            <a:off x="4114800" y="1965960"/>
            <a:ext cx="914400" cy="274320"/>
          </a:xfrm>
          <a:prstGeom prst="rect">
            <a:avLst/>
          </a:prstGeom>
          <a:noFill/>
          <a:ln/>
        </p:spPr>
        <p:txBody>
          <a:bodyPr wrap="square" lIns="0" tIns="0" rIns="0" bIns="0" rtlCol="0" anchor="ctr"/>
          <a:lstStyle/>
          <a:p>
            <a:pPr algn="ctr" indent="0" marL="0">
              <a:buNone/>
            </a:pPr>
            <a:r>
              <a:rPr lang="en-US" sz="1000" b="1" dirty="0">
                <a:solidFill>
                  <a:srgbClr val="FFB300"/>
                </a:solidFill>
                <a:latin typeface="Malgun Gothic" pitchFamily="34" charset="0"/>
                <a:ea typeface="Malgun Gothic" pitchFamily="34" charset="-122"/>
                <a:cs typeface="Malgun Gothic" pitchFamily="34" charset="-120"/>
              </a:rPr>
              <a:t>분해 decompose</a:t>
            </a:r>
            <a:endParaRPr lang="en-US" sz="1000" dirty="0"/>
          </a:p>
        </p:txBody>
      </p:sp>
      <p:sp>
        <p:nvSpPr>
          <p:cNvPr id="15" name="Shape 13"/>
          <p:cNvSpPr/>
          <p:nvPr/>
        </p:nvSpPr>
        <p:spPr>
          <a:xfrm>
            <a:off x="4846320" y="960120"/>
            <a:ext cx="3840480" cy="1691640"/>
          </a:xfrm>
          <a:prstGeom prst="roundRect">
            <a:avLst>
              <a:gd name="adj" fmla="val 4324"/>
            </a:avLst>
          </a:prstGeom>
          <a:solidFill>
            <a:srgbClr val="FFFFFF"/>
          </a:solidFill>
          <a:ln w="25400">
            <a:solidFill>
              <a:srgbClr val="43A047"/>
            </a:solidFill>
            <a:prstDash val="solid"/>
          </a:ln>
        </p:spPr>
      </p:sp>
      <p:sp>
        <p:nvSpPr>
          <p:cNvPr id="16" name="Shape 14"/>
          <p:cNvSpPr/>
          <p:nvPr/>
        </p:nvSpPr>
        <p:spPr>
          <a:xfrm>
            <a:off x="4846320" y="960120"/>
            <a:ext cx="3840480" cy="365760"/>
          </a:xfrm>
          <a:prstGeom prst="rect">
            <a:avLst/>
          </a:prstGeom>
          <a:solidFill>
            <a:srgbClr val="43A047"/>
          </a:solidFill>
          <a:ln w="12700">
            <a:solidFill>
              <a:srgbClr val="43A047"/>
            </a:solidFill>
            <a:prstDash val="solid"/>
          </a:ln>
        </p:spPr>
      </p:sp>
      <p:sp>
        <p:nvSpPr>
          <p:cNvPr id="17" name="Text 15"/>
          <p:cNvSpPr/>
          <p:nvPr/>
        </p:nvSpPr>
        <p:spPr>
          <a:xfrm>
            <a:off x="4846320" y="960120"/>
            <a:ext cx="38404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After — 6개 숫자 Feature</a:t>
            </a:r>
            <a:endParaRPr lang="en-US" sz="1200" dirty="0"/>
          </a:p>
        </p:txBody>
      </p:sp>
      <p:sp>
        <p:nvSpPr>
          <p:cNvPr id="18" name="Shape 16"/>
          <p:cNvSpPr/>
          <p:nvPr/>
        </p:nvSpPr>
        <p:spPr>
          <a:xfrm>
            <a:off x="4983480" y="1463040"/>
            <a:ext cx="1143000" cy="429768"/>
          </a:xfrm>
          <a:prstGeom prst="roundRect">
            <a:avLst>
              <a:gd name="adj" fmla="val 12766"/>
            </a:avLst>
          </a:prstGeom>
          <a:solidFill>
            <a:srgbClr val="E3F2FD"/>
          </a:solidFill>
          <a:ln w="10160">
            <a:solidFill>
              <a:srgbClr val="43A047"/>
            </a:solidFill>
            <a:prstDash val="solid"/>
          </a:ln>
        </p:spPr>
      </p:sp>
      <p:sp>
        <p:nvSpPr>
          <p:cNvPr id="19" name="Text 17"/>
          <p:cNvSpPr/>
          <p:nvPr/>
        </p:nvSpPr>
        <p:spPr>
          <a:xfrm>
            <a:off x="4983480" y="1481328"/>
            <a:ext cx="1143000" cy="201168"/>
          </a:xfrm>
          <a:prstGeom prst="rect">
            <a:avLst/>
          </a:prstGeom>
          <a:noFill/>
          <a:ln/>
        </p:spPr>
        <p:txBody>
          <a:bodyPr wrap="square" lIns="0" tIns="0" rIns="0" bIns="0" rtlCol="0" anchor="ctr"/>
          <a:lstStyle/>
          <a:p>
            <a:pPr algn="ctr" indent="0" marL="0">
              <a:buNone/>
            </a:pPr>
            <a:r>
              <a:rPr lang="en-US" sz="900" b="1" dirty="0">
                <a:solidFill>
                  <a:srgbClr val="43A047"/>
                </a:solidFill>
                <a:latin typeface="Consolas" pitchFamily="34" charset="0"/>
                <a:ea typeface="Consolas" pitchFamily="34" charset="-122"/>
                <a:cs typeface="Consolas" pitchFamily="34" charset="-120"/>
              </a:rPr>
              <a:t>hour</a:t>
            </a:r>
            <a:endParaRPr lang="en-US" sz="900" dirty="0"/>
          </a:p>
        </p:txBody>
      </p:sp>
      <p:sp>
        <p:nvSpPr>
          <p:cNvPr id="20" name="Text 18"/>
          <p:cNvSpPr/>
          <p:nvPr/>
        </p:nvSpPr>
        <p:spPr>
          <a:xfrm>
            <a:off x="4983480" y="1655064"/>
            <a:ext cx="1143000" cy="219456"/>
          </a:xfrm>
          <a:prstGeom prst="rect">
            <a:avLst/>
          </a:prstGeom>
          <a:noFill/>
          <a:ln/>
        </p:spPr>
        <p:txBody>
          <a:bodyPr wrap="square" lIns="0" tIns="0" rIns="0" bIns="0" rtlCol="0" anchor="ctr"/>
          <a:lstStyle/>
          <a:p>
            <a:pPr algn="ctr" indent="0" marL="0">
              <a:buNone/>
            </a:pPr>
            <a:r>
              <a:rPr lang="en-US" sz="1400" b="1" dirty="0">
                <a:solidFill>
                  <a:srgbClr val="0B1F3A"/>
                </a:solidFill>
                <a:latin typeface="Consolas" pitchFamily="34" charset="0"/>
                <a:ea typeface="Consolas" pitchFamily="34" charset="-122"/>
                <a:cs typeface="Consolas" pitchFamily="34" charset="-120"/>
              </a:rPr>
              <a:t>14</a:t>
            </a:r>
            <a:endParaRPr lang="en-US" sz="1400" dirty="0"/>
          </a:p>
        </p:txBody>
      </p:sp>
      <p:sp>
        <p:nvSpPr>
          <p:cNvPr id="21" name="Shape 19"/>
          <p:cNvSpPr/>
          <p:nvPr/>
        </p:nvSpPr>
        <p:spPr>
          <a:xfrm>
            <a:off x="6217920" y="1463040"/>
            <a:ext cx="1143000" cy="429768"/>
          </a:xfrm>
          <a:prstGeom prst="roundRect">
            <a:avLst>
              <a:gd name="adj" fmla="val 12766"/>
            </a:avLst>
          </a:prstGeom>
          <a:solidFill>
            <a:srgbClr val="E3F2FD"/>
          </a:solidFill>
          <a:ln w="10160">
            <a:solidFill>
              <a:srgbClr val="43A047"/>
            </a:solidFill>
            <a:prstDash val="solid"/>
          </a:ln>
        </p:spPr>
      </p:sp>
      <p:sp>
        <p:nvSpPr>
          <p:cNvPr id="22" name="Text 20"/>
          <p:cNvSpPr/>
          <p:nvPr/>
        </p:nvSpPr>
        <p:spPr>
          <a:xfrm>
            <a:off x="6217920" y="1481328"/>
            <a:ext cx="1143000" cy="201168"/>
          </a:xfrm>
          <a:prstGeom prst="rect">
            <a:avLst/>
          </a:prstGeom>
          <a:noFill/>
          <a:ln/>
        </p:spPr>
        <p:txBody>
          <a:bodyPr wrap="square" lIns="0" tIns="0" rIns="0" bIns="0" rtlCol="0" anchor="ctr"/>
          <a:lstStyle/>
          <a:p>
            <a:pPr algn="ctr" indent="0" marL="0">
              <a:buNone/>
            </a:pPr>
            <a:r>
              <a:rPr lang="en-US" sz="900" b="1" dirty="0">
                <a:solidFill>
                  <a:srgbClr val="43A047"/>
                </a:solidFill>
                <a:latin typeface="Consolas" pitchFamily="34" charset="0"/>
                <a:ea typeface="Consolas" pitchFamily="34" charset="-122"/>
                <a:cs typeface="Consolas" pitchFamily="34" charset="-120"/>
              </a:rPr>
              <a:t>minute</a:t>
            </a:r>
            <a:endParaRPr lang="en-US" sz="900" dirty="0"/>
          </a:p>
        </p:txBody>
      </p:sp>
      <p:sp>
        <p:nvSpPr>
          <p:cNvPr id="23" name="Text 21"/>
          <p:cNvSpPr/>
          <p:nvPr/>
        </p:nvSpPr>
        <p:spPr>
          <a:xfrm>
            <a:off x="6217920" y="1655064"/>
            <a:ext cx="1143000" cy="219456"/>
          </a:xfrm>
          <a:prstGeom prst="rect">
            <a:avLst/>
          </a:prstGeom>
          <a:noFill/>
          <a:ln/>
        </p:spPr>
        <p:txBody>
          <a:bodyPr wrap="square" lIns="0" tIns="0" rIns="0" bIns="0" rtlCol="0" anchor="ctr"/>
          <a:lstStyle/>
          <a:p>
            <a:pPr algn="ctr" indent="0" marL="0">
              <a:buNone/>
            </a:pPr>
            <a:r>
              <a:rPr lang="en-US" sz="1400" b="1" dirty="0">
                <a:solidFill>
                  <a:srgbClr val="0B1F3A"/>
                </a:solidFill>
                <a:latin typeface="Consolas" pitchFamily="34" charset="0"/>
                <a:ea typeface="Consolas" pitchFamily="34" charset="-122"/>
                <a:cs typeface="Consolas" pitchFamily="34" charset="-120"/>
              </a:rPr>
              <a:t>30</a:t>
            </a:r>
            <a:endParaRPr lang="en-US" sz="1400" dirty="0"/>
          </a:p>
        </p:txBody>
      </p:sp>
      <p:sp>
        <p:nvSpPr>
          <p:cNvPr id="24" name="Shape 22"/>
          <p:cNvSpPr/>
          <p:nvPr/>
        </p:nvSpPr>
        <p:spPr>
          <a:xfrm>
            <a:off x="7452360" y="1463040"/>
            <a:ext cx="1143000" cy="429768"/>
          </a:xfrm>
          <a:prstGeom prst="roundRect">
            <a:avLst>
              <a:gd name="adj" fmla="val 12766"/>
            </a:avLst>
          </a:prstGeom>
          <a:solidFill>
            <a:srgbClr val="E3F2FD"/>
          </a:solidFill>
          <a:ln w="10160">
            <a:solidFill>
              <a:srgbClr val="43A047"/>
            </a:solidFill>
            <a:prstDash val="solid"/>
          </a:ln>
        </p:spPr>
      </p:sp>
      <p:sp>
        <p:nvSpPr>
          <p:cNvPr id="25" name="Text 23"/>
          <p:cNvSpPr/>
          <p:nvPr/>
        </p:nvSpPr>
        <p:spPr>
          <a:xfrm>
            <a:off x="7452360" y="1481328"/>
            <a:ext cx="1143000" cy="201168"/>
          </a:xfrm>
          <a:prstGeom prst="rect">
            <a:avLst/>
          </a:prstGeom>
          <a:noFill/>
          <a:ln/>
        </p:spPr>
        <p:txBody>
          <a:bodyPr wrap="square" lIns="0" tIns="0" rIns="0" bIns="0" rtlCol="0" anchor="ctr"/>
          <a:lstStyle/>
          <a:p>
            <a:pPr algn="ctr" indent="0" marL="0">
              <a:buNone/>
            </a:pPr>
            <a:r>
              <a:rPr lang="en-US" sz="900" b="1" dirty="0">
                <a:solidFill>
                  <a:srgbClr val="43A047"/>
                </a:solidFill>
                <a:latin typeface="Consolas" pitchFamily="34" charset="0"/>
                <a:ea typeface="Consolas" pitchFamily="34" charset="-122"/>
                <a:cs typeface="Consolas" pitchFamily="34" charset="-120"/>
              </a:rPr>
              <a:t>dayofweek</a:t>
            </a:r>
            <a:endParaRPr lang="en-US" sz="900" dirty="0"/>
          </a:p>
        </p:txBody>
      </p:sp>
      <p:sp>
        <p:nvSpPr>
          <p:cNvPr id="26" name="Text 24"/>
          <p:cNvSpPr/>
          <p:nvPr/>
        </p:nvSpPr>
        <p:spPr>
          <a:xfrm>
            <a:off x="7452360" y="1655064"/>
            <a:ext cx="1143000" cy="219456"/>
          </a:xfrm>
          <a:prstGeom prst="rect">
            <a:avLst/>
          </a:prstGeom>
          <a:noFill/>
          <a:ln/>
        </p:spPr>
        <p:txBody>
          <a:bodyPr wrap="square" lIns="0" tIns="0" rIns="0" bIns="0" rtlCol="0" anchor="ctr"/>
          <a:lstStyle/>
          <a:p>
            <a:pPr algn="ctr" indent="0" marL="0">
              <a:buNone/>
            </a:pPr>
            <a:r>
              <a:rPr lang="en-US" sz="1400" b="1" dirty="0">
                <a:solidFill>
                  <a:srgbClr val="0B1F3A"/>
                </a:solidFill>
                <a:latin typeface="Consolas" pitchFamily="34" charset="0"/>
                <a:ea typeface="Consolas" pitchFamily="34" charset="-122"/>
                <a:cs typeface="Consolas" pitchFamily="34" charset="-120"/>
              </a:rPr>
              <a:t>6</a:t>
            </a:r>
            <a:endParaRPr lang="en-US" sz="1400" dirty="0"/>
          </a:p>
        </p:txBody>
      </p:sp>
      <p:sp>
        <p:nvSpPr>
          <p:cNvPr id="27" name="Shape 25"/>
          <p:cNvSpPr/>
          <p:nvPr/>
        </p:nvSpPr>
        <p:spPr>
          <a:xfrm>
            <a:off x="4983480" y="1965960"/>
            <a:ext cx="1143000" cy="429768"/>
          </a:xfrm>
          <a:prstGeom prst="roundRect">
            <a:avLst>
              <a:gd name="adj" fmla="val 12766"/>
            </a:avLst>
          </a:prstGeom>
          <a:solidFill>
            <a:srgbClr val="E3F2FD"/>
          </a:solidFill>
          <a:ln w="10160">
            <a:solidFill>
              <a:srgbClr val="43A047"/>
            </a:solidFill>
            <a:prstDash val="solid"/>
          </a:ln>
        </p:spPr>
      </p:sp>
      <p:sp>
        <p:nvSpPr>
          <p:cNvPr id="28" name="Text 26"/>
          <p:cNvSpPr/>
          <p:nvPr/>
        </p:nvSpPr>
        <p:spPr>
          <a:xfrm>
            <a:off x="4983480" y="1984248"/>
            <a:ext cx="1143000" cy="201168"/>
          </a:xfrm>
          <a:prstGeom prst="rect">
            <a:avLst/>
          </a:prstGeom>
          <a:noFill/>
          <a:ln/>
        </p:spPr>
        <p:txBody>
          <a:bodyPr wrap="square" lIns="0" tIns="0" rIns="0" bIns="0" rtlCol="0" anchor="ctr"/>
          <a:lstStyle/>
          <a:p>
            <a:pPr algn="ctr" indent="0" marL="0">
              <a:buNone/>
            </a:pPr>
            <a:r>
              <a:rPr lang="en-US" sz="900" b="1" dirty="0">
                <a:solidFill>
                  <a:srgbClr val="43A047"/>
                </a:solidFill>
                <a:latin typeface="Consolas" pitchFamily="34" charset="0"/>
                <a:ea typeface="Consolas" pitchFamily="34" charset="-122"/>
                <a:cs typeface="Consolas" pitchFamily="34" charset="-120"/>
              </a:rPr>
              <a:t>month</a:t>
            </a:r>
            <a:endParaRPr lang="en-US" sz="900" dirty="0"/>
          </a:p>
        </p:txBody>
      </p:sp>
      <p:sp>
        <p:nvSpPr>
          <p:cNvPr id="29" name="Text 27"/>
          <p:cNvSpPr/>
          <p:nvPr/>
        </p:nvSpPr>
        <p:spPr>
          <a:xfrm>
            <a:off x="4983480" y="2157984"/>
            <a:ext cx="1143000" cy="219456"/>
          </a:xfrm>
          <a:prstGeom prst="rect">
            <a:avLst/>
          </a:prstGeom>
          <a:noFill/>
          <a:ln/>
        </p:spPr>
        <p:txBody>
          <a:bodyPr wrap="square" lIns="0" tIns="0" rIns="0" bIns="0" rtlCol="0" anchor="ctr"/>
          <a:lstStyle/>
          <a:p>
            <a:pPr algn="ctr" indent="0" marL="0">
              <a:buNone/>
            </a:pPr>
            <a:r>
              <a:rPr lang="en-US" sz="1400" b="1" dirty="0">
                <a:solidFill>
                  <a:srgbClr val="0B1F3A"/>
                </a:solidFill>
                <a:latin typeface="Consolas" pitchFamily="34" charset="0"/>
                <a:ea typeface="Consolas" pitchFamily="34" charset="-122"/>
                <a:cs typeface="Consolas" pitchFamily="34" charset="-120"/>
              </a:rPr>
              <a:t>4</a:t>
            </a:r>
            <a:endParaRPr lang="en-US" sz="1400" dirty="0"/>
          </a:p>
        </p:txBody>
      </p:sp>
      <p:sp>
        <p:nvSpPr>
          <p:cNvPr id="30" name="Shape 28"/>
          <p:cNvSpPr/>
          <p:nvPr/>
        </p:nvSpPr>
        <p:spPr>
          <a:xfrm>
            <a:off x="6217920" y="1965960"/>
            <a:ext cx="1143000" cy="429768"/>
          </a:xfrm>
          <a:prstGeom prst="roundRect">
            <a:avLst>
              <a:gd name="adj" fmla="val 12766"/>
            </a:avLst>
          </a:prstGeom>
          <a:solidFill>
            <a:srgbClr val="E3F2FD"/>
          </a:solidFill>
          <a:ln w="10160">
            <a:solidFill>
              <a:srgbClr val="43A047"/>
            </a:solidFill>
            <a:prstDash val="solid"/>
          </a:ln>
        </p:spPr>
      </p:sp>
      <p:sp>
        <p:nvSpPr>
          <p:cNvPr id="31" name="Text 29"/>
          <p:cNvSpPr/>
          <p:nvPr/>
        </p:nvSpPr>
        <p:spPr>
          <a:xfrm>
            <a:off x="6217920" y="1984248"/>
            <a:ext cx="1143000" cy="201168"/>
          </a:xfrm>
          <a:prstGeom prst="rect">
            <a:avLst/>
          </a:prstGeom>
          <a:noFill/>
          <a:ln/>
        </p:spPr>
        <p:txBody>
          <a:bodyPr wrap="square" lIns="0" tIns="0" rIns="0" bIns="0" rtlCol="0" anchor="ctr"/>
          <a:lstStyle/>
          <a:p>
            <a:pPr algn="ctr" indent="0" marL="0">
              <a:buNone/>
            </a:pPr>
            <a:r>
              <a:rPr lang="en-US" sz="900" b="1" dirty="0">
                <a:solidFill>
                  <a:srgbClr val="43A047"/>
                </a:solidFill>
                <a:latin typeface="Consolas" pitchFamily="34" charset="0"/>
                <a:ea typeface="Consolas" pitchFamily="34" charset="-122"/>
                <a:cs typeface="Consolas" pitchFamily="34" charset="-120"/>
              </a:rPr>
              <a:t>dayofyear</a:t>
            </a:r>
            <a:endParaRPr lang="en-US" sz="900" dirty="0"/>
          </a:p>
        </p:txBody>
      </p:sp>
      <p:sp>
        <p:nvSpPr>
          <p:cNvPr id="32" name="Text 30"/>
          <p:cNvSpPr/>
          <p:nvPr/>
        </p:nvSpPr>
        <p:spPr>
          <a:xfrm>
            <a:off x="6217920" y="2157984"/>
            <a:ext cx="1143000" cy="219456"/>
          </a:xfrm>
          <a:prstGeom prst="rect">
            <a:avLst/>
          </a:prstGeom>
          <a:noFill/>
          <a:ln/>
        </p:spPr>
        <p:txBody>
          <a:bodyPr wrap="square" lIns="0" tIns="0" rIns="0" bIns="0" rtlCol="0" anchor="ctr"/>
          <a:lstStyle/>
          <a:p>
            <a:pPr algn="ctr" indent="0" marL="0">
              <a:buNone/>
            </a:pPr>
            <a:r>
              <a:rPr lang="en-US" sz="1400" b="1" dirty="0">
                <a:solidFill>
                  <a:srgbClr val="0B1F3A"/>
                </a:solidFill>
                <a:latin typeface="Consolas" pitchFamily="34" charset="0"/>
                <a:ea typeface="Consolas" pitchFamily="34" charset="-122"/>
                <a:cs typeface="Consolas" pitchFamily="34" charset="-120"/>
              </a:rPr>
              <a:t>109</a:t>
            </a:r>
            <a:endParaRPr lang="en-US" sz="1400" dirty="0"/>
          </a:p>
        </p:txBody>
      </p:sp>
      <p:sp>
        <p:nvSpPr>
          <p:cNvPr id="33" name="Shape 31"/>
          <p:cNvSpPr/>
          <p:nvPr/>
        </p:nvSpPr>
        <p:spPr>
          <a:xfrm>
            <a:off x="7452360" y="1965960"/>
            <a:ext cx="1143000" cy="429768"/>
          </a:xfrm>
          <a:prstGeom prst="roundRect">
            <a:avLst>
              <a:gd name="adj" fmla="val 12766"/>
            </a:avLst>
          </a:prstGeom>
          <a:solidFill>
            <a:srgbClr val="E3F2FD"/>
          </a:solidFill>
          <a:ln w="10160">
            <a:solidFill>
              <a:srgbClr val="43A047"/>
            </a:solidFill>
            <a:prstDash val="solid"/>
          </a:ln>
        </p:spPr>
      </p:sp>
      <p:sp>
        <p:nvSpPr>
          <p:cNvPr id="34" name="Text 32"/>
          <p:cNvSpPr/>
          <p:nvPr/>
        </p:nvSpPr>
        <p:spPr>
          <a:xfrm>
            <a:off x="7452360" y="1984248"/>
            <a:ext cx="1143000" cy="201168"/>
          </a:xfrm>
          <a:prstGeom prst="rect">
            <a:avLst/>
          </a:prstGeom>
          <a:noFill/>
          <a:ln/>
        </p:spPr>
        <p:txBody>
          <a:bodyPr wrap="square" lIns="0" tIns="0" rIns="0" bIns="0" rtlCol="0" anchor="ctr"/>
          <a:lstStyle/>
          <a:p>
            <a:pPr algn="ctr" indent="0" marL="0">
              <a:buNone/>
            </a:pPr>
            <a:r>
              <a:rPr lang="en-US" sz="900" b="1" dirty="0">
                <a:solidFill>
                  <a:srgbClr val="43A047"/>
                </a:solidFill>
                <a:latin typeface="Consolas" pitchFamily="34" charset="0"/>
                <a:ea typeface="Consolas" pitchFamily="34" charset="-122"/>
                <a:cs typeface="Consolas" pitchFamily="34" charset="-120"/>
              </a:rPr>
              <a:t>is_weekend</a:t>
            </a:r>
            <a:endParaRPr lang="en-US" sz="900" dirty="0"/>
          </a:p>
        </p:txBody>
      </p:sp>
      <p:sp>
        <p:nvSpPr>
          <p:cNvPr id="35" name="Text 33"/>
          <p:cNvSpPr/>
          <p:nvPr/>
        </p:nvSpPr>
        <p:spPr>
          <a:xfrm>
            <a:off x="7452360" y="2157984"/>
            <a:ext cx="1143000" cy="219456"/>
          </a:xfrm>
          <a:prstGeom prst="rect">
            <a:avLst/>
          </a:prstGeom>
          <a:noFill/>
          <a:ln/>
        </p:spPr>
        <p:txBody>
          <a:bodyPr wrap="square" lIns="0" tIns="0" rIns="0" bIns="0" rtlCol="0" anchor="ctr"/>
          <a:lstStyle/>
          <a:p>
            <a:pPr algn="ctr" indent="0" marL="0">
              <a:buNone/>
            </a:pPr>
            <a:r>
              <a:rPr lang="en-US" sz="1400" b="1" dirty="0">
                <a:solidFill>
                  <a:srgbClr val="0B1F3A"/>
                </a:solidFill>
                <a:latin typeface="Consolas" pitchFamily="34" charset="0"/>
                <a:ea typeface="Consolas" pitchFamily="34" charset="-122"/>
                <a:cs typeface="Consolas" pitchFamily="34" charset="-120"/>
              </a:rPr>
              <a:t>1</a:t>
            </a:r>
            <a:endParaRPr lang="en-US" sz="1400" dirty="0"/>
          </a:p>
        </p:txBody>
      </p:sp>
      <p:sp>
        <p:nvSpPr>
          <p:cNvPr id="36" name="Shape 34"/>
          <p:cNvSpPr/>
          <p:nvPr/>
        </p:nvSpPr>
        <p:spPr>
          <a:xfrm>
            <a:off x="457200" y="2880360"/>
            <a:ext cx="8138160" cy="1737360"/>
          </a:xfrm>
          <a:prstGeom prst="roundRect">
            <a:avLst>
              <a:gd name="adj" fmla="val 5263"/>
            </a:avLst>
          </a:prstGeom>
          <a:solidFill>
            <a:srgbClr val="0B1F3A"/>
          </a:solidFill>
          <a:ln w="12700">
            <a:solidFill>
              <a:srgbClr val="0B1F3A"/>
            </a:solidFill>
            <a:prstDash val="solid"/>
          </a:ln>
        </p:spPr>
      </p:sp>
      <p:sp>
        <p:nvSpPr>
          <p:cNvPr id="37" name="Text 35"/>
          <p:cNvSpPr/>
          <p:nvPr/>
        </p:nvSpPr>
        <p:spPr>
          <a:xfrm>
            <a:off x="640080" y="2971800"/>
            <a:ext cx="7863840" cy="320040"/>
          </a:xfrm>
          <a:prstGeom prst="rect">
            <a:avLst/>
          </a:prstGeom>
          <a:noFill/>
          <a:ln/>
        </p:spPr>
        <p:txBody>
          <a:bodyPr wrap="square" lIns="0" tIns="0" rIns="0" bIns="0" rtlCol="0" anchor="ctr"/>
          <a:lstStyle/>
          <a:p>
            <a:pPr indent="0" marL="0">
              <a:buNone/>
            </a:pPr>
            <a:r>
              <a:rPr lang="en-US" sz="1300" b="1" dirty="0">
                <a:solidFill>
                  <a:srgbClr val="FFB300"/>
                </a:solidFill>
                <a:latin typeface="Malgun Gothic" pitchFamily="34" charset="0"/>
                <a:ea typeface="Malgun Gothic" pitchFamily="34" charset="-122"/>
                <a:cs typeface="Malgun Gothic" pitchFamily="34" charset="-120"/>
              </a:rPr>
              <a:t>🔑  왜 이렇게 분해하나? (Why decompose?)</a:t>
            </a:r>
            <a:endParaRPr lang="en-US" sz="1300" dirty="0"/>
          </a:p>
        </p:txBody>
      </p:sp>
      <p:sp>
        <p:nvSpPr>
          <p:cNvPr id="38" name="Text 36"/>
          <p:cNvSpPr/>
          <p:nvPr/>
        </p:nvSpPr>
        <p:spPr>
          <a:xfrm>
            <a:off x="640080" y="3337560"/>
            <a:ext cx="7863840" cy="1234440"/>
          </a:xfrm>
          <a:prstGeom prst="rect">
            <a:avLst/>
          </a:prstGeom>
          <a:noFill/>
          <a:ln/>
        </p:spPr>
        <p:txBody>
          <a:bodyPr wrap="square" lIns="0" tIns="0" rIns="0" bIns="0" rtlCol="0" anchor="ct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 주중 ≠ 주말: </a:t>
            </a:r>
            <a:pPr indent="0" marL="0">
              <a:buNone/>
            </a:pPr>
            <a:r>
              <a:rPr lang="en-US" sz="1000" dirty="0">
                <a:solidFill>
                  <a:srgbClr val="E3F2FD"/>
                </a:solidFill>
                <a:latin typeface="Malgun Gothic" pitchFamily="34" charset="0"/>
                <a:ea typeface="Malgun Gothic" pitchFamily="34" charset="-122"/>
                <a:cs typeface="Malgun Gothic" pitchFamily="34" charset="-120"/>
              </a:rPr>
              <a:t>평일 18시 혼잡도 ≠ 토요일 18시 혼잡도
</a:t>
            </a:r>
            <a:pPr indent="0" marL="0">
              <a:buNone/>
            </a:pPr>
            <a:r>
              <a:rPr lang="en-US" sz="900" i="1" dirty="0">
                <a:solidFill>
                  <a:srgbClr val="78909C"/>
                </a:solidFill>
                <a:latin typeface="Malgun Gothic" pitchFamily="34" charset="0"/>
                <a:ea typeface="Malgun Gothic" pitchFamily="34" charset="-122"/>
                <a:cs typeface="Malgun Gothic" pitchFamily="34" charset="-120"/>
              </a:rPr>
              <a:t>  weekday 18:00 congestion ≠ weekend 18:00
</a:t>
            </a:r>
            <a:pPr indent="0" marL="0">
              <a:buNone/>
            </a:pPr>
            <a:r>
              <a:rPr lang="en-US" sz="1100" b="1" dirty="0">
                <a:solidFill>
                  <a:srgbClr val="FFFFFF"/>
                </a:solidFill>
                <a:latin typeface="Malgun Gothic" pitchFamily="34" charset="0"/>
                <a:ea typeface="Malgun Gothic" pitchFamily="34" charset="-122"/>
                <a:cs typeface="Malgun Gothic" pitchFamily="34" charset="-120"/>
              </a:rPr>
              <a:t>• 월별 패턴: </a:t>
            </a:r>
            <a:pPr indent="0" marL="0">
              <a:buNone/>
            </a:pPr>
            <a:r>
              <a:rPr lang="en-US" sz="1000" dirty="0">
                <a:solidFill>
                  <a:srgbClr val="E3F2FD"/>
                </a:solidFill>
                <a:latin typeface="Malgun Gothic" pitchFamily="34" charset="0"/>
                <a:ea typeface="Malgun Gothic" pitchFamily="34" charset="-122"/>
                <a:cs typeface="Malgun Gothic" pitchFamily="34" charset="-120"/>
              </a:rPr>
              <a:t>여름 휴가철 7·8월 지연률 ↑, 봄 4·5월 ↓
</a:t>
            </a:r>
            <a:pPr indent="0" marL="0">
              <a:buNone/>
            </a:pPr>
            <a:r>
              <a:rPr lang="en-US" sz="900" i="1" dirty="0">
                <a:solidFill>
                  <a:srgbClr val="78909C"/>
                </a:solidFill>
                <a:latin typeface="Malgun Gothic" pitchFamily="34" charset="0"/>
                <a:ea typeface="Malgun Gothic" pitchFamily="34" charset="-122"/>
                <a:cs typeface="Malgun Gothic" pitchFamily="34" charset="-120"/>
              </a:rPr>
              <a:t>  seasonal pattern (summer peak, spring calm)
</a:t>
            </a:r>
            <a:pPr indent="0" marL="0">
              <a:buNone/>
            </a:pPr>
            <a:r>
              <a:rPr lang="en-US" sz="1100" b="1" dirty="0">
                <a:solidFill>
                  <a:srgbClr val="FFFFFF"/>
                </a:solidFill>
                <a:latin typeface="Malgun Gothic" pitchFamily="34" charset="0"/>
                <a:ea typeface="Malgun Gothic" pitchFamily="34" charset="-122"/>
                <a:cs typeface="Malgun Gothic" pitchFamily="34" charset="-120"/>
              </a:rPr>
              <a:t>• 시간대 패턴: </a:t>
            </a:r>
            <a:pPr indent="0" marL="0">
              <a:buNone/>
            </a:pPr>
            <a:r>
              <a:rPr lang="en-US" sz="1000" dirty="0">
                <a:solidFill>
                  <a:srgbClr val="E3F2FD"/>
                </a:solidFill>
                <a:latin typeface="Malgun Gothic" pitchFamily="34" charset="0"/>
                <a:ea typeface="Malgun Gothic" pitchFamily="34" charset="-122"/>
                <a:cs typeface="Malgun Gothic" pitchFamily="34" charset="-120"/>
              </a:rPr>
              <a:t>오전 06시 출발은 거의 정시, 저녁 18시는 지연 누적</a:t>
            </a:r>
            <a:endParaRPr lang="en-US" sz="1100" dirty="0"/>
          </a:p>
        </p:txBody>
      </p:sp>
      <p:sp>
        <p:nvSpPr>
          <p:cNvPr id="39" name="Shape 37"/>
          <p:cNvSpPr/>
          <p:nvPr/>
        </p:nvSpPr>
        <p:spPr>
          <a:xfrm>
            <a:off x="0" y="4892040"/>
            <a:ext cx="9144000" cy="256032"/>
          </a:xfrm>
          <a:prstGeom prst="rect">
            <a:avLst/>
          </a:prstGeom>
          <a:solidFill>
            <a:srgbClr val="0B1F3A"/>
          </a:solidFill>
          <a:ln w="12700">
            <a:solidFill>
              <a:srgbClr val="0B1F3A"/>
            </a:solidFill>
            <a:prstDash val="solid"/>
          </a:ln>
        </p:spPr>
      </p:sp>
      <p:sp>
        <p:nvSpPr>
          <p:cNvPr id="40" name="Text 38"/>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41" name="Text 39"/>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05 · STEP 4 ★</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Rotation Features — 실제 사례</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Real case: +335% R² from 5 features</a:t>
            </a:r>
            <a:endParaRPr lang="en-US" sz="1050" dirty="0"/>
          </a:p>
        </p:txBody>
      </p:sp>
      <p:sp>
        <p:nvSpPr>
          <p:cNvPr id="7" name="Shape 5"/>
          <p:cNvSpPr/>
          <p:nvPr/>
        </p:nvSpPr>
        <p:spPr>
          <a:xfrm>
            <a:off x="457200" y="960120"/>
            <a:ext cx="3931920" cy="1554480"/>
          </a:xfrm>
          <a:prstGeom prst="roundRect">
            <a:avLst>
              <a:gd name="adj" fmla="val 5882"/>
            </a:avLst>
          </a:prstGeom>
          <a:solidFill>
            <a:srgbClr val="0B1F3A"/>
          </a:solidFill>
          <a:ln w="12700">
            <a:solidFill>
              <a:srgbClr val="0B1F3A"/>
            </a:solidFill>
            <a:prstDash val="solid"/>
          </a:ln>
        </p:spPr>
      </p:sp>
      <p:sp>
        <p:nvSpPr>
          <p:cNvPr id="8" name="Text 6"/>
          <p:cNvSpPr/>
          <p:nvPr/>
        </p:nvSpPr>
        <p:spPr>
          <a:xfrm>
            <a:off x="457200" y="1051560"/>
            <a:ext cx="3931920" cy="274320"/>
          </a:xfrm>
          <a:prstGeom prst="rect">
            <a:avLst/>
          </a:prstGeom>
          <a:noFill/>
          <a:ln/>
        </p:spPr>
        <p:txBody>
          <a:bodyPr wrap="square" lIns="0" tIns="0" rIns="0" bIns="0" rtlCol="0" anchor="ctr"/>
          <a:lstStyle/>
          <a:p>
            <a:pPr algn="ctr" indent="0" marL="0">
              <a:buNone/>
            </a:pPr>
            <a:r>
              <a:rPr lang="en-US" sz="1000" dirty="0">
                <a:solidFill>
                  <a:srgbClr val="E3F2FD"/>
                </a:solidFill>
                <a:latin typeface="Malgun Gothic" pitchFamily="34" charset="0"/>
                <a:ea typeface="Malgun Gothic" pitchFamily="34" charset="-122"/>
                <a:cs typeface="Malgun Gothic" pitchFamily="34" charset="-120"/>
              </a:rPr>
              <a:t>Test R²</a:t>
            </a:r>
            <a:endParaRPr lang="en-US" sz="1000" dirty="0"/>
          </a:p>
        </p:txBody>
      </p:sp>
      <p:sp>
        <p:nvSpPr>
          <p:cNvPr id="9" name="Text 7"/>
          <p:cNvSpPr/>
          <p:nvPr/>
        </p:nvSpPr>
        <p:spPr>
          <a:xfrm>
            <a:off x="457200" y="1371600"/>
            <a:ext cx="3931920" cy="548640"/>
          </a:xfrm>
          <a:prstGeom prst="rect">
            <a:avLst/>
          </a:prstGeom>
          <a:noFill/>
          <a:ln/>
        </p:spPr>
        <p:txBody>
          <a:bodyPr wrap="square" lIns="0" tIns="0" rIns="0" bIns="0" rtlCol="0" anchor="ctr"/>
          <a:lstStyle/>
          <a:p>
            <a:pPr algn="ctr" indent="0" marL="0">
              <a:buNone/>
            </a:pPr>
            <a:r>
              <a:rPr lang="en-US" sz="3000" b="1" dirty="0">
                <a:solidFill>
                  <a:srgbClr val="EF5350"/>
                </a:solidFill>
                <a:latin typeface="Malgun Gothic" pitchFamily="34" charset="0"/>
                <a:ea typeface="Malgun Gothic" pitchFamily="34" charset="-122"/>
                <a:cs typeface="Malgun Gothic" pitchFamily="34" charset="-120"/>
              </a:rPr>
              <a:t>0.10</a:t>
            </a:r>
            <a:pPr algn="ctr" indent="0" marL="0">
              <a:buNone/>
            </a:pPr>
            <a:r>
              <a:rPr lang="en-US" sz="2600" dirty="0">
                <a:solidFill>
                  <a:srgbClr val="FFFFFF"/>
                </a:solidFill>
                <a:latin typeface="Malgun Gothic" pitchFamily="34" charset="0"/>
                <a:ea typeface="Malgun Gothic" pitchFamily="34" charset="-122"/>
                <a:cs typeface="Malgun Gothic" pitchFamily="34" charset="-120"/>
              </a:rPr>
              <a:t>   →   </a:t>
            </a:r>
            <a:pPr algn="ctr" indent="0" marL="0">
              <a:buNone/>
            </a:pPr>
            <a:r>
              <a:rPr lang="en-US" sz="3000" b="1" dirty="0">
                <a:solidFill>
                  <a:srgbClr val="43A047"/>
                </a:solidFill>
                <a:latin typeface="Malgun Gothic" pitchFamily="34" charset="0"/>
                <a:ea typeface="Malgun Gothic" pitchFamily="34" charset="-122"/>
                <a:cs typeface="Malgun Gothic" pitchFamily="34" charset="-120"/>
              </a:rPr>
              <a:t>0.43</a:t>
            </a:r>
            <a:endParaRPr lang="en-US" sz="3000" dirty="0"/>
          </a:p>
        </p:txBody>
      </p:sp>
      <p:sp>
        <p:nvSpPr>
          <p:cNvPr id="10" name="Text 8"/>
          <p:cNvSpPr/>
          <p:nvPr/>
        </p:nvSpPr>
        <p:spPr>
          <a:xfrm>
            <a:off x="457200" y="1938528"/>
            <a:ext cx="3931920" cy="228600"/>
          </a:xfrm>
          <a:prstGeom prst="rect">
            <a:avLst/>
          </a:prstGeom>
          <a:noFill/>
          <a:ln/>
        </p:spPr>
        <p:txBody>
          <a:bodyPr wrap="square" lIns="0" tIns="0" rIns="0" bIns="0" rtlCol="0" anchor="ctr"/>
          <a:lstStyle/>
          <a:p>
            <a:pPr algn="ctr" indent="0" marL="0">
              <a:buNone/>
            </a:pPr>
            <a:r>
              <a:rPr lang="en-US" sz="1000" b="1" dirty="0">
                <a:solidFill>
                  <a:srgbClr val="FFB300"/>
                </a:solidFill>
                <a:latin typeface="Malgun Gothic" pitchFamily="34" charset="0"/>
                <a:ea typeface="Malgun Gothic" pitchFamily="34" charset="-122"/>
                <a:cs typeface="Malgun Gothic" pitchFamily="34" charset="-120"/>
              </a:rPr>
              <a:t>+335% 향상 · same XGBoost · 5 features 추가만</a:t>
            </a:r>
            <a:endParaRPr lang="en-US" sz="1000" dirty="0"/>
          </a:p>
        </p:txBody>
      </p:sp>
      <p:sp>
        <p:nvSpPr>
          <p:cNvPr id="11" name="Text 9"/>
          <p:cNvSpPr/>
          <p:nvPr/>
        </p:nvSpPr>
        <p:spPr>
          <a:xfrm>
            <a:off x="457200" y="2212848"/>
            <a:ext cx="3931920" cy="228600"/>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P1 sprint · 2026-04-14</a:t>
            </a:r>
            <a:endParaRPr lang="en-US" sz="900" dirty="0"/>
          </a:p>
        </p:txBody>
      </p:sp>
      <p:sp>
        <p:nvSpPr>
          <p:cNvPr id="12" name="Shape 10"/>
          <p:cNvSpPr/>
          <p:nvPr/>
        </p:nvSpPr>
        <p:spPr>
          <a:xfrm>
            <a:off x="4480560" y="960120"/>
            <a:ext cx="4114800" cy="1554480"/>
          </a:xfrm>
          <a:prstGeom prst="roundRect">
            <a:avLst>
              <a:gd name="adj" fmla="val 5882"/>
            </a:avLst>
          </a:prstGeom>
          <a:solidFill>
            <a:srgbClr val="FFFFFF"/>
          </a:solidFill>
          <a:ln w="25400">
            <a:solidFill>
              <a:srgbClr val="1E88E5"/>
            </a:solidFill>
            <a:prstDash val="solid"/>
          </a:ln>
        </p:spPr>
      </p:sp>
      <p:sp>
        <p:nvSpPr>
          <p:cNvPr id="13" name="Text 11"/>
          <p:cNvSpPr/>
          <p:nvPr/>
        </p:nvSpPr>
        <p:spPr>
          <a:xfrm>
            <a:off x="4572000" y="1051560"/>
            <a:ext cx="3931920" cy="274320"/>
          </a:xfrm>
          <a:prstGeom prst="rect">
            <a:avLst/>
          </a:prstGeom>
          <a:noFill/>
          <a:ln/>
        </p:spPr>
        <p:txBody>
          <a:bodyPr wrap="square" lIns="0" tIns="0" rIns="0" bIns="0" rtlCol="0" anchor="ctr"/>
          <a:lstStyle/>
          <a:p>
            <a:pPr indent="0" marL="0">
              <a:buNone/>
            </a:pPr>
            <a:r>
              <a:rPr lang="en-US" sz="1200" b="1" dirty="0">
                <a:solidFill>
                  <a:srgbClr val="1E88E5"/>
                </a:solidFill>
                <a:latin typeface="Malgun Gothic" pitchFamily="34" charset="0"/>
                <a:ea typeface="Malgun Gothic" pitchFamily="34" charset="-122"/>
                <a:cs typeface="Malgun Gothic" pitchFamily="34" charset="-120"/>
              </a:rPr>
              <a:t>💡  핵심 아이디어 (Key idea)</a:t>
            </a:r>
            <a:endParaRPr lang="en-US" sz="1200" dirty="0"/>
          </a:p>
        </p:txBody>
      </p:sp>
      <p:sp>
        <p:nvSpPr>
          <p:cNvPr id="14" name="Text 12"/>
          <p:cNvSpPr/>
          <p:nvPr/>
        </p:nvSpPr>
        <p:spPr>
          <a:xfrm>
            <a:off x="4572000" y="1325880"/>
            <a:ext cx="3931920" cy="118872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같은 비행기가 하루에 3-5번 뜬다.
</a:t>
            </a:r>
            <a:pPr indent="0" marL="0">
              <a:buNone/>
            </a:pPr>
            <a:r>
              <a:rPr lang="en-US" sz="900" i="1" dirty="0">
                <a:solidFill>
                  <a:srgbClr val="78909C"/>
                </a:solidFill>
                <a:latin typeface="Malgun Gothic" pitchFamily="34" charset="0"/>
                <a:ea typeface="Malgun Gothic" pitchFamily="34" charset="-122"/>
                <a:cs typeface="Malgun Gothic" pitchFamily="34" charset="-120"/>
              </a:rPr>
              <a:t>Same aircraft flies 3-5 legs per day.
</a:t>
            </a:r>
            <a:pPr indent="0" marL="0">
              <a:buNone/>
            </a:pPr>
            <a:endParaRPr lang="en-US" sz="1100" dirty="0"/>
          </a:p>
          <a:p>
            <a:pPr indent="0" marL="0">
              <a:buNone/>
            </a:pPr>
            <a:r>
              <a:rPr lang="en-US" sz="1000" dirty="0">
                <a:solidFill>
                  <a:srgbClr val="37474F"/>
                </a:solidFill>
                <a:latin typeface="Malgun Gothic" pitchFamily="34" charset="0"/>
                <a:ea typeface="Malgun Gothic" pitchFamily="34" charset="-122"/>
                <a:cs typeface="Malgun Gothic" pitchFamily="34" charset="-120"/>
              </a:rPr>
              <a:t>지연은 </a:t>
            </a:r>
            <a:endParaRPr lang="en-US" sz="1100" dirty="0"/>
          </a:p>
          <a:p>
            <a:pPr indent="0" marL="0">
              <a:buNone/>
            </a:pPr>
            <a:r>
              <a:rPr lang="en-US" sz="1000" b="1" dirty="0">
                <a:solidFill>
                  <a:srgbClr val="EF5350"/>
                </a:solidFill>
                <a:latin typeface="Malgun Gothic" pitchFamily="34" charset="0"/>
                <a:ea typeface="Malgun Gothic" pitchFamily="34" charset="-122"/>
                <a:cs typeface="Malgun Gothic" pitchFamily="34" charset="-120"/>
              </a:rPr>
              <a:t>누적 </a:t>
            </a:r>
            <a:pPr indent="0" marL="0">
              <a:buNone/>
            </a:pPr>
            <a:r>
              <a:rPr lang="en-US" sz="1000" dirty="0">
                <a:solidFill>
                  <a:srgbClr val="37474F"/>
                </a:solidFill>
                <a:latin typeface="Malgun Gothic" pitchFamily="34" charset="0"/>
                <a:ea typeface="Malgun Gothic" pitchFamily="34" charset="-122"/>
                <a:cs typeface="Malgun Gothic" pitchFamily="34" charset="-120"/>
              </a:rPr>
              <a:t>됨 (reactionary = 45%).
</a:t>
            </a:r>
            <a:pPr indent="0" marL="0">
              <a:buNone/>
            </a:pPr>
            <a:r>
              <a:rPr lang="en-US" sz="900" i="1" dirty="0">
                <a:solidFill>
                  <a:srgbClr val="78909C"/>
                </a:solidFill>
                <a:latin typeface="Malgun Gothic" pitchFamily="34" charset="0"/>
                <a:ea typeface="Malgun Gothic" pitchFamily="34" charset="-122"/>
                <a:cs typeface="Malgun Gothic" pitchFamily="34" charset="-120"/>
              </a:rPr>
              <a:t>Delay propagates (reactionary = 45% · EUROCONTROL).
</a:t>
            </a:r>
            <a:endParaRPr lang="en-US" sz="1100" dirty="0"/>
          </a:p>
        </p:txBody>
      </p:sp>
      <p:sp>
        <p:nvSpPr>
          <p:cNvPr id="15" name="Shape 13"/>
          <p:cNvSpPr/>
          <p:nvPr/>
        </p:nvSpPr>
        <p:spPr>
          <a:xfrm>
            <a:off x="457200" y="2697480"/>
            <a:ext cx="8138160" cy="1280160"/>
          </a:xfrm>
          <a:prstGeom prst="roundRect">
            <a:avLst>
              <a:gd name="adj" fmla="val 5714"/>
            </a:avLst>
          </a:prstGeom>
          <a:solidFill>
            <a:srgbClr val="FFFFFF"/>
          </a:solidFill>
          <a:ln w="12700">
            <a:solidFill>
              <a:srgbClr val="37474F"/>
            </a:solidFill>
            <a:prstDash val="solid"/>
          </a:ln>
        </p:spPr>
      </p:sp>
      <p:sp>
        <p:nvSpPr>
          <p:cNvPr id="16" name="Text 14"/>
          <p:cNvSpPr/>
          <p:nvPr/>
        </p:nvSpPr>
        <p:spPr>
          <a:xfrm>
            <a:off x="640080" y="2743200"/>
            <a:ext cx="7863840" cy="274320"/>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  항공기 HL8281 의 하루 (a day of tail number HL8281)</a:t>
            </a:r>
            <a:endParaRPr lang="en-US" sz="1100" dirty="0"/>
          </a:p>
        </p:txBody>
      </p:sp>
      <p:sp>
        <p:nvSpPr>
          <p:cNvPr id="17" name="Shape 15"/>
          <p:cNvSpPr/>
          <p:nvPr/>
        </p:nvSpPr>
        <p:spPr>
          <a:xfrm>
            <a:off x="640080" y="3127248"/>
            <a:ext cx="1463040" cy="777240"/>
          </a:xfrm>
          <a:prstGeom prst="roundRect">
            <a:avLst>
              <a:gd name="adj" fmla="val 5882"/>
            </a:avLst>
          </a:prstGeom>
          <a:solidFill>
            <a:srgbClr val="43A047"/>
          </a:solidFill>
          <a:ln w="12700">
            <a:solidFill>
              <a:srgbClr val="43A047"/>
            </a:solidFill>
            <a:prstDash val="solid"/>
          </a:ln>
        </p:spPr>
      </p:sp>
      <p:sp>
        <p:nvSpPr>
          <p:cNvPr id="18" name="Text 16"/>
          <p:cNvSpPr/>
          <p:nvPr/>
        </p:nvSpPr>
        <p:spPr>
          <a:xfrm>
            <a:off x="640080" y="3154680"/>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06:00</a:t>
            </a:r>
            <a:endParaRPr lang="en-US" sz="1000" dirty="0"/>
          </a:p>
        </p:txBody>
      </p:sp>
      <p:sp>
        <p:nvSpPr>
          <p:cNvPr id="19" name="Text 17"/>
          <p:cNvSpPr/>
          <p:nvPr/>
        </p:nvSpPr>
        <p:spPr>
          <a:xfrm>
            <a:off x="640080" y="3383280"/>
            <a:ext cx="14630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ICN→CJU</a:t>
            </a:r>
            <a:endParaRPr lang="en-US" sz="1000" dirty="0"/>
          </a:p>
        </p:txBody>
      </p:sp>
      <p:sp>
        <p:nvSpPr>
          <p:cNvPr id="20" name="Text 18"/>
          <p:cNvSpPr/>
          <p:nvPr/>
        </p:nvSpPr>
        <p:spPr>
          <a:xfrm>
            <a:off x="640080" y="3611880"/>
            <a:ext cx="146304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 분</a:t>
            </a:r>
            <a:endParaRPr lang="en-US" sz="1100" dirty="0"/>
          </a:p>
        </p:txBody>
      </p:sp>
      <p:sp>
        <p:nvSpPr>
          <p:cNvPr id="21" name="Text 19"/>
          <p:cNvSpPr/>
          <p:nvPr/>
        </p:nvSpPr>
        <p:spPr>
          <a:xfrm>
            <a:off x="2103120" y="3218688"/>
            <a:ext cx="182880" cy="548640"/>
          </a:xfrm>
          <a:prstGeom prst="rect">
            <a:avLst/>
          </a:prstGeom>
          <a:noFill/>
          <a:ln/>
        </p:spPr>
        <p:txBody>
          <a:bodyPr wrap="square" lIns="0" tIns="0" rIns="0" bIns="0" rtlCol="0" anchor="ctr"/>
          <a:lstStyle/>
          <a:p>
            <a:pPr algn="ctr" indent="0" marL="0">
              <a:buNone/>
            </a:pPr>
            <a:r>
              <a:rPr lang="en-US" sz="1800" b="1" dirty="0">
                <a:solidFill>
                  <a:srgbClr val="37474F"/>
                </a:solidFill>
              </a:rPr>
              <a:t>→</a:t>
            </a:r>
            <a:endParaRPr lang="en-US" sz="1800" dirty="0"/>
          </a:p>
        </p:txBody>
      </p:sp>
      <p:sp>
        <p:nvSpPr>
          <p:cNvPr id="22" name="Shape 20"/>
          <p:cNvSpPr/>
          <p:nvPr/>
        </p:nvSpPr>
        <p:spPr>
          <a:xfrm>
            <a:off x="2249424" y="3127248"/>
            <a:ext cx="1463040" cy="777240"/>
          </a:xfrm>
          <a:prstGeom prst="roundRect">
            <a:avLst>
              <a:gd name="adj" fmla="val 5882"/>
            </a:avLst>
          </a:prstGeom>
          <a:solidFill>
            <a:srgbClr val="43A047"/>
          </a:solidFill>
          <a:ln w="12700">
            <a:solidFill>
              <a:srgbClr val="43A047"/>
            </a:solidFill>
            <a:prstDash val="solid"/>
          </a:ln>
        </p:spPr>
      </p:sp>
      <p:sp>
        <p:nvSpPr>
          <p:cNvPr id="23" name="Text 21"/>
          <p:cNvSpPr/>
          <p:nvPr/>
        </p:nvSpPr>
        <p:spPr>
          <a:xfrm>
            <a:off x="2249424" y="3154680"/>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09:00</a:t>
            </a:r>
            <a:endParaRPr lang="en-US" sz="1000" dirty="0"/>
          </a:p>
        </p:txBody>
      </p:sp>
      <p:sp>
        <p:nvSpPr>
          <p:cNvPr id="24" name="Text 22"/>
          <p:cNvSpPr/>
          <p:nvPr/>
        </p:nvSpPr>
        <p:spPr>
          <a:xfrm>
            <a:off x="2249424" y="3383280"/>
            <a:ext cx="14630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CJU→ICN</a:t>
            </a:r>
            <a:endParaRPr lang="en-US" sz="1000" dirty="0"/>
          </a:p>
        </p:txBody>
      </p:sp>
      <p:sp>
        <p:nvSpPr>
          <p:cNvPr id="25" name="Text 23"/>
          <p:cNvSpPr/>
          <p:nvPr/>
        </p:nvSpPr>
        <p:spPr>
          <a:xfrm>
            <a:off x="2249424" y="3611880"/>
            <a:ext cx="146304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 분</a:t>
            </a:r>
            <a:endParaRPr lang="en-US" sz="1100" dirty="0"/>
          </a:p>
        </p:txBody>
      </p:sp>
      <p:sp>
        <p:nvSpPr>
          <p:cNvPr id="26" name="Text 24"/>
          <p:cNvSpPr/>
          <p:nvPr/>
        </p:nvSpPr>
        <p:spPr>
          <a:xfrm>
            <a:off x="3712464" y="3218688"/>
            <a:ext cx="182880" cy="548640"/>
          </a:xfrm>
          <a:prstGeom prst="rect">
            <a:avLst/>
          </a:prstGeom>
          <a:noFill/>
          <a:ln/>
        </p:spPr>
        <p:txBody>
          <a:bodyPr wrap="square" lIns="0" tIns="0" rIns="0" bIns="0" rtlCol="0" anchor="ctr"/>
          <a:lstStyle/>
          <a:p>
            <a:pPr algn="ctr" indent="0" marL="0">
              <a:buNone/>
            </a:pPr>
            <a:r>
              <a:rPr lang="en-US" sz="1800" b="1" dirty="0">
                <a:solidFill>
                  <a:srgbClr val="37474F"/>
                </a:solidFill>
              </a:rPr>
              <a:t>→</a:t>
            </a:r>
            <a:endParaRPr lang="en-US" sz="1800" dirty="0"/>
          </a:p>
        </p:txBody>
      </p:sp>
      <p:sp>
        <p:nvSpPr>
          <p:cNvPr id="27" name="Shape 25"/>
          <p:cNvSpPr/>
          <p:nvPr/>
        </p:nvSpPr>
        <p:spPr>
          <a:xfrm>
            <a:off x="3858768" y="3127248"/>
            <a:ext cx="1463040" cy="777240"/>
          </a:xfrm>
          <a:prstGeom prst="roundRect">
            <a:avLst>
              <a:gd name="adj" fmla="val 5882"/>
            </a:avLst>
          </a:prstGeom>
          <a:solidFill>
            <a:srgbClr val="FFB300"/>
          </a:solidFill>
          <a:ln w="12700">
            <a:solidFill>
              <a:srgbClr val="FFB300"/>
            </a:solidFill>
            <a:prstDash val="solid"/>
          </a:ln>
        </p:spPr>
      </p:sp>
      <p:sp>
        <p:nvSpPr>
          <p:cNvPr id="28" name="Text 26"/>
          <p:cNvSpPr/>
          <p:nvPr/>
        </p:nvSpPr>
        <p:spPr>
          <a:xfrm>
            <a:off x="3858768" y="3154680"/>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12:00</a:t>
            </a:r>
            <a:endParaRPr lang="en-US" sz="1000" dirty="0"/>
          </a:p>
        </p:txBody>
      </p:sp>
      <p:sp>
        <p:nvSpPr>
          <p:cNvPr id="29" name="Text 27"/>
          <p:cNvSpPr/>
          <p:nvPr/>
        </p:nvSpPr>
        <p:spPr>
          <a:xfrm>
            <a:off x="3858768" y="3383280"/>
            <a:ext cx="14630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ICN→CJU</a:t>
            </a:r>
            <a:endParaRPr lang="en-US" sz="1000" dirty="0"/>
          </a:p>
        </p:txBody>
      </p:sp>
      <p:sp>
        <p:nvSpPr>
          <p:cNvPr id="30" name="Text 28"/>
          <p:cNvSpPr/>
          <p:nvPr/>
        </p:nvSpPr>
        <p:spPr>
          <a:xfrm>
            <a:off x="3858768" y="3611880"/>
            <a:ext cx="146304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+12 분</a:t>
            </a:r>
            <a:endParaRPr lang="en-US" sz="1100" dirty="0"/>
          </a:p>
        </p:txBody>
      </p:sp>
      <p:sp>
        <p:nvSpPr>
          <p:cNvPr id="31" name="Text 29"/>
          <p:cNvSpPr/>
          <p:nvPr/>
        </p:nvSpPr>
        <p:spPr>
          <a:xfrm>
            <a:off x="5321808" y="3218688"/>
            <a:ext cx="182880" cy="548640"/>
          </a:xfrm>
          <a:prstGeom prst="rect">
            <a:avLst/>
          </a:prstGeom>
          <a:noFill/>
          <a:ln/>
        </p:spPr>
        <p:txBody>
          <a:bodyPr wrap="square" lIns="0" tIns="0" rIns="0" bIns="0" rtlCol="0" anchor="ctr"/>
          <a:lstStyle/>
          <a:p>
            <a:pPr algn="ctr" indent="0" marL="0">
              <a:buNone/>
            </a:pPr>
            <a:r>
              <a:rPr lang="en-US" sz="1800" b="1" dirty="0">
                <a:solidFill>
                  <a:srgbClr val="37474F"/>
                </a:solidFill>
              </a:rPr>
              <a:t>→</a:t>
            </a:r>
            <a:endParaRPr lang="en-US" sz="1800" dirty="0"/>
          </a:p>
        </p:txBody>
      </p:sp>
      <p:sp>
        <p:nvSpPr>
          <p:cNvPr id="32" name="Shape 30"/>
          <p:cNvSpPr/>
          <p:nvPr/>
        </p:nvSpPr>
        <p:spPr>
          <a:xfrm>
            <a:off x="5468112" y="3127248"/>
            <a:ext cx="1463040" cy="777240"/>
          </a:xfrm>
          <a:prstGeom prst="roundRect">
            <a:avLst>
              <a:gd name="adj" fmla="val 5882"/>
            </a:avLst>
          </a:prstGeom>
          <a:solidFill>
            <a:srgbClr val="EF5350"/>
          </a:solidFill>
          <a:ln w="12700">
            <a:solidFill>
              <a:srgbClr val="EF5350"/>
            </a:solidFill>
            <a:prstDash val="solid"/>
          </a:ln>
        </p:spPr>
      </p:sp>
      <p:sp>
        <p:nvSpPr>
          <p:cNvPr id="33" name="Text 31"/>
          <p:cNvSpPr/>
          <p:nvPr/>
        </p:nvSpPr>
        <p:spPr>
          <a:xfrm>
            <a:off x="5468112" y="3154680"/>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15:00</a:t>
            </a:r>
            <a:endParaRPr lang="en-US" sz="1000" dirty="0"/>
          </a:p>
        </p:txBody>
      </p:sp>
      <p:sp>
        <p:nvSpPr>
          <p:cNvPr id="34" name="Text 32"/>
          <p:cNvSpPr/>
          <p:nvPr/>
        </p:nvSpPr>
        <p:spPr>
          <a:xfrm>
            <a:off x="5468112" y="3383280"/>
            <a:ext cx="14630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CJU→ICN</a:t>
            </a:r>
            <a:endParaRPr lang="en-US" sz="1000" dirty="0"/>
          </a:p>
        </p:txBody>
      </p:sp>
      <p:sp>
        <p:nvSpPr>
          <p:cNvPr id="35" name="Text 33"/>
          <p:cNvSpPr/>
          <p:nvPr/>
        </p:nvSpPr>
        <p:spPr>
          <a:xfrm>
            <a:off x="5468112" y="3611880"/>
            <a:ext cx="146304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+24 분</a:t>
            </a:r>
            <a:endParaRPr lang="en-US" sz="1100" dirty="0"/>
          </a:p>
        </p:txBody>
      </p:sp>
      <p:sp>
        <p:nvSpPr>
          <p:cNvPr id="36" name="Text 34"/>
          <p:cNvSpPr/>
          <p:nvPr/>
        </p:nvSpPr>
        <p:spPr>
          <a:xfrm>
            <a:off x="6931152" y="3218688"/>
            <a:ext cx="182880" cy="548640"/>
          </a:xfrm>
          <a:prstGeom prst="rect">
            <a:avLst/>
          </a:prstGeom>
          <a:noFill/>
          <a:ln/>
        </p:spPr>
        <p:txBody>
          <a:bodyPr wrap="square" lIns="0" tIns="0" rIns="0" bIns="0" rtlCol="0" anchor="ctr"/>
          <a:lstStyle/>
          <a:p>
            <a:pPr algn="ctr" indent="0" marL="0">
              <a:buNone/>
            </a:pPr>
            <a:r>
              <a:rPr lang="en-US" sz="1800" b="1" dirty="0">
                <a:solidFill>
                  <a:srgbClr val="37474F"/>
                </a:solidFill>
              </a:rPr>
              <a:t>→</a:t>
            </a:r>
            <a:endParaRPr lang="en-US" sz="1800" dirty="0"/>
          </a:p>
        </p:txBody>
      </p:sp>
      <p:sp>
        <p:nvSpPr>
          <p:cNvPr id="37" name="Shape 35"/>
          <p:cNvSpPr/>
          <p:nvPr/>
        </p:nvSpPr>
        <p:spPr>
          <a:xfrm>
            <a:off x="7077456" y="3127248"/>
            <a:ext cx="1463040" cy="777240"/>
          </a:xfrm>
          <a:prstGeom prst="roundRect">
            <a:avLst>
              <a:gd name="adj" fmla="val 5882"/>
            </a:avLst>
          </a:prstGeom>
          <a:solidFill>
            <a:srgbClr val="EF5350"/>
          </a:solidFill>
          <a:ln w="12700">
            <a:solidFill>
              <a:srgbClr val="EF5350"/>
            </a:solidFill>
            <a:prstDash val="solid"/>
          </a:ln>
        </p:spPr>
      </p:sp>
      <p:sp>
        <p:nvSpPr>
          <p:cNvPr id="38" name="Text 36"/>
          <p:cNvSpPr/>
          <p:nvPr/>
        </p:nvSpPr>
        <p:spPr>
          <a:xfrm>
            <a:off x="7077456" y="3154680"/>
            <a:ext cx="146304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18:00</a:t>
            </a:r>
            <a:endParaRPr lang="en-US" sz="1000" dirty="0"/>
          </a:p>
        </p:txBody>
      </p:sp>
      <p:sp>
        <p:nvSpPr>
          <p:cNvPr id="39" name="Text 37"/>
          <p:cNvSpPr/>
          <p:nvPr/>
        </p:nvSpPr>
        <p:spPr>
          <a:xfrm>
            <a:off x="7077456" y="3383280"/>
            <a:ext cx="14630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onsolas" pitchFamily="34" charset="0"/>
                <a:ea typeface="Consolas" pitchFamily="34" charset="-122"/>
                <a:cs typeface="Consolas" pitchFamily="34" charset="-120"/>
              </a:rPr>
              <a:t>ICN→CJU</a:t>
            </a:r>
            <a:endParaRPr lang="en-US" sz="1000" dirty="0"/>
          </a:p>
        </p:txBody>
      </p:sp>
      <p:sp>
        <p:nvSpPr>
          <p:cNvPr id="40" name="Text 38"/>
          <p:cNvSpPr/>
          <p:nvPr/>
        </p:nvSpPr>
        <p:spPr>
          <a:xfrm>
            <a:off x="7077456" y="3611880"/>
            <a:ext cx="1463040" cy="22860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+45? 분</a:t>
            </a:r>
            <a:endParaRPr lang="en-US" sz="1100" dirty="0"/>
          </a:p>
        </p:txBody>
      </p:sp>
      <p:sp>
        <p:nvSpPr>
          <p:cNvPr id="41" name="Shape 39"/>
          <p:cNvSpPr/>
          <p:nvPr/>
        </p:nvSpPr>
        <p:spPr>
          <a:xfrm>
            <a:off x="457200" y="4069080"/>
            <a:ext cx="8138160" cy="548640"/>
          </a:xfrm>
          <a:prstGeom prst="roundRect">
            <a:avLst>
              <a:gd name="adj" fmla="val 8333"/>
            </a:avLst>
          </a:prstGeom>
          <a:solidFill>
            <a:srgbClr val="E3F2FD"/>
          </a:solidFill>
          <a:ln w="12700">
            <a:solidFill>
              <a:srgbClr val="1E88E5"/>
            </a:solidFill>
            <a:prstDash val="solid"/>
          </a:ln>
        </p:spPr>
      </p:sp>
      <p:sp>
        <p:nvSpPr>
          <p:cNvPr id="42" name="Text 40"/>
          <p:cNvSpPr/>
          <p:nvPr/>
        </p:nvSpPr>
        <p:spPr>
          <a:xfrm>
            <a:off x="640080" y="4114800"/>
            <a:ext cx="7863840" cy="457200"/>
          </a:xfrm>
          <a:prstGeom prst="rect">
            <a:avLst/>
          </a:prstGeom>
          <a:noFill/>
          <a:ln/>
        </p:spPr>
        <p:txBody>
          <a:bodyPr wrap="square" lIns="0" tIns="0" rIns="0" bIns="0" rtlCol="0" anchor="ctr"/>
          <a:lstStyle/>
          <a:p>
            <a:pPr indent="0" marL="0">
              <a:buNone/>
            </a:pPr>
            <a:r>
              <a:rPr lang="en-US" sz="1000" b="1" dirty="0">
                <a:solidFill>
                  <a:srgbClr val="1E88E5"/>
                </a:solidFill>
                <a:latin typeface="Malgun Gothic" pitchFamily="34" charset="0"/>
                <a:ea typeface="Malgun Gothic" pitchFamily="34" charset="-122"/>
                <a:cs typeface="Malgun Gothic" pitchFamily="34" charset="-120"/>
              </a:rPr>
              <a:t>📌 추가한 5개 features: </a:t>
            </a:r>
            <a:pPr indent="0" marL="0">
              <a:buNone/>
            </a:pPr>
            <a:r>
              <a:rPr lang="en-US" sz="950" dirty="0">
                <a:solidFill>
                  <a:srgbClr val="0B1F3A"/>
                </a:solidFill>
                <a:latin typeface="Consolas" pitchFamily="34" charset="0"/>
                <a:ea typeface="Consolas" pitchFamily="34" charset="-122"/>
                <a:cs typeface="Consolas" pitchFamily="34" charset="-120"/>
              </a:rPr>
              <a:t>rotation_depth · prev_leg_arr_delay_min · scheduled_turnaround_min · actual_turnaround_min · is_first_leg_of_day</a:t>
            </a:r>
            <a:endParaRPr lang="en-US" sz="1000" dirty="0"/>
          </a:p>
        </p:txBody>
      </p:sp>
      <p:sp>
        <p:nvSpPr>
          <p:cNvPr id="43" name="Shape 41"/>
          <p:cNvSpPr/>
          <p:nvPr/>
        </p:nvSpPr>
        <p:spPr>
          <a:xfrm>
            <a:off x="0" y="4892040"/>
            <a:ext cx="9144000" cy="256032"/>
          </a:xfrm>
          <a:prstGeom prst="rect">
            <a:avLst/>
          </a:prstGeom>
          <a:solidFill>
            <a:srgbClr val="0B1F3A"/>
          </a:solidFill>
          <a:ln w="12700">
            <a:solidFill>
              <a:srgbClr val="0B1F3A"/>
            </a:solidFill>
            <a:prstDash val="solid"/>
          </a:ln>
        </p:spPr>
      </p:sp>
      <p:sp>
        <p:nvSpPr>
          <p:cNvPr id="44" name="Text 42"/>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45" name="Text 43"/>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05 · STEP 5</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Train/Test Split — 흔한 실수</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The most common mistake in time-series ML</a:t>
            </a:r>
            <a:endParaRPr lang="en-US" sz="1050" dirty="0"/>
          </a:p>
        </p:txBody>
      </p:sp>
      <p:sp>
        <p:nvSpPr>
          <p:cNvPr id="7" name="Shape 5"/>
          <p:cNvSpPr/>
          <p:nvPr/>
        </p:nvSpPr>
        <p:spPr>
          <a:xfrm>
            <a:off x="457200" y="960120"/>
            <a:ext cx="3931920" cy="3611880"/>
          </a:xfrm>
          <a:prstGeom prst="roundRect">
            <a:avLst>
              <a:gd name="adj" fmla="val 2532"/>
            </a:avLst>
          </a:prstGeom>
          <a:solidFill>
            <a:srgbClr val="FFFFFF"/>
          </a:solidFill>
          <a:ln w="25400">
            <a:solidFill>
              <a:srgbClr val="EF5350"/>
            </a:solidFill>
            <a:prstDash val="solid"/>
          </a:ln>
        </p:spPr>
      </p:sp>
      <p:sp>
        <p:nvSpPr>
          <p:cNvPr id="8" name="Shape 6"/>
          <p:cNvSpPr/>
          <p:nvPr/>
        </p:nvSpPr>
        <p:spPr>
          <a:xfrm>
            <a:off x="457200" y="960120"/>
            <a:ext cx="3931920" cy="411480"/>
          </a:xfrm>
          <a:prstGeom prst="rect">
            <a:avLst/>
          </a:prstGeom>
          <a:solidFill>
            <a:srgbClr val="EF5350"/>
          </a:solidFill>
          <a:ln w="12700">
            <a:solidFill>
              <a:srgbClr val="EF5350"/>
            </a:solidFill>
            <a:prstDash val="solid"/>
          </a:ln>
        </p:spPr>
      </p:sp>
      <p:sp>
        <p:nvSpPr>
          <p:cNvPr id="9" name="Text 7"/>
          <p:cNvSpPr/>
          <p:nvPr/>
        </p:nvSpPr>
        <p:spPr>
          <a:xfrm>
            <a:off x="457200" y="960120"/>
            <a:ext cx="3931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  WRONG — shuffle=True</a:t>
            </a:r>
            <a:endParaRPr lang="en-US" sz="1300" dirty="0"/>
          </a:p>
        </p:txBody>
      </p:sp>
      <p:sp>
        <p:nvSpPr>
          <p:cNvPr id="10" name="Text 8"/>
          <p:cNvSpPr/>
          <p:nvPr/>
        </p:nvSpPr>
        <p:spPr>
          <a:xfrm>
            <a:off x="548640" y="1463040"/>
            <a:ext cx="3749040" cy="320040"/>
          </a:xfrm>
          <a:prstGeom prst="rect">
            <a:avLst/>
          </a:prstGeom>
          <a:noFill/>
          <a:ln/>
        </p:spPr>
        <p:txBody>
          <a:bodyPr wrap="square" lIns="0" tIns="0" rIns="0" bIns="0" rtlCol="0" anchor="ctr"/>
          <a:lstStyle/>
          <a:p>
            <a:pPr algn="ctr" indent="0" marL="0">
              <a:buNone/>
            </a:pPr>
            <a:r>
              <a:rPr lang="en-US" sz="1100" b="1" dirty="0">
                <a:solidFill>
                  <a:srgbClr val="EF5350"/>
                </a:solidFill>
                <a:latin typeface="Consolas" pitchFamily="34" charset="0"/>
                <a:ea typeface="Consolas" pitchFamily="34" charset="-122"/>
                <a:cs typeface="Consolas" pitchFamily="34" charset="-120"/>
              </a:rPr>
              <a:t>train_test_split(shuffle=True)</a:t>
            </a:r>
            <a:endParaRPr lang="en-US" sz="1100" dirty="0"/>
          </a:p>
        </p:txBody>
      </p:sp>
      <p:sp>
        <p:nvSpPr>
          <p:cNvPr id="11" name="Text 9"/>
          <p:cNvSpPr/>
          <p:nvPr/>
        </p:nvSpPr>
        <p:spPr>
          <a:xfrm>
            <a:off x="548640" y="1828800"/>
            <a:ext cx="3749040" cy="228600"/>
          </a:xfrm>
          <a:prstGeom prst="rect">
            <a:avLst/>
          </a:prstGeom>
          <a:noFill/>
          <a:ln/>
        </p:spPr>
        <p:txBody>
          <a:bodyPr wrap="square" lIns="0" tIns="0" rIns="0" bIns="0" rtlCol="0" anchor="ctr"/>
          <a:lstStyle/>
          <a:p>
            <a:pPr indent="0" marL="0">
              <a:buNone/>
            </a:pPr>
            <a:r>
              <a:rPr lang="en-US" sz="950" i="1" dirty="0">
                <a:solidFill>
                  <a:srgbClr val="37474F"/>
                </a:solidFill>
                <a:latin typeface="Malgun Gothic" pitchFamily="34" charset="0"/>
                <a:ea typeface="Malgun Gothic" pitchFamily="34" charset="-122"/>
                <a:cs typeface="Malgun Gothic" pitchFamily="34" charset="-120"/>
              </a:rPr>
              <a:t>Timeline  →</a:t>
            </a:r>
            <a:endParaRPr lang="en-US" sz="950" dirty="0"/>
          </a:p>
        </p:txBody>
      </p:sp>
      <p:sp>
        <p:nvSpPr>
          <p:cNvPr id="12" name="Shape 10"/>
          <p:cNvSpPr/>
          <p:nvPr/>
        </p:nvSpPr>
        <p:spPr>
          <a:xfrm>
            <a:off x="548640" y="2103120"/>
            <a:ext cx="365760" cy="274320"/>
          </a:xfrm>
          <a:prstGeom prst="rect">
            <a:avLst/>
          </a:prstGeom>
          <a:solidFill>
            <a:srgbClr val="1E88E5"/>
          </a:solidFill>
          <a:ln w="6350">
            <a:solidFill>
              <a:srgbClr val="FFFFFF"/>
            </a:solidFill>
            <a:prstDash val="solid"/>
          </a:ln>
        </p:spPr>
      </p:sp>
      <p:sp>
        <p:nvSpPr>
          <p:cNvPr id="13" name="Text 11"/>
          <p:cNvSpPr/>
          <p:nvPr/>
        </p:nvSpPr>
        <p:spPr>
          <a:xfrm>
            <a:off x="548640"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14" name="Shape 12"/>
          <p:cNvSpPr/>
          <p:nvPr/>
        </p:nvSpPr>
        <p:spPr>
          <a:xfrm>
            <a:off x="923544" y="2103120"/>
            <a:ext cx="365760" cy="274320"/>
          </a:xfrm>
          <a:prstGeom prst="rect">
            <a:avLst/>
          </a:prstGeom>
          <a:solidFill>
            <a:srgbClr val="EF5350"/>
          </a:solidFill>
          <a:ln w="6350">
            <a:solidFill>
              <a:srgbClr val="FFFFFF"/>
            </a:solidFill>
            <a:prstDash val="solid"/>
          </a:ln>
        </p:spPr>
      </p:sp>
      <p:sp>
        <p:nvSpPr>
          <p:cNvPr id="15" name="Text 13"/>
          <p:cNvSpPr/>
          <p:nvPr/>
        </p:nvSpPr>
        <p:spPr>
          <a:xfrm>
            <a:off x="923544"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TE</a:t>
            </a:r>
            <a:endParaRPr lang="en-US" sz="800" dirty="0"/>
          </a:p>
        </p:txBody>
      </p:sp>
      <p:sp>
        <p:nvSpPr>
          <p:cNvPr id="16" name="Shape 14"/>
          <p:cNvSpPr/>
          <p:nvPr/>
        </p:nvSpPr>
        <p:spPr>
          <a:xfrm>
            <a:off x="1298448" y="2103120"/>
            <a:ext cx="365760" cy="274320"/>
          </a:xfrm>
          <a:prstGeom prst="rect">
            <a:avLst/>
          </a:prstGeom>
          <a:solidFill>
            <a:srgbClr val="1E88E5"/>
          </a:solidFill>
          <a:ln w="6350">
            <a:solidFill>
              <a:srgbClr val="FFFFFF"/>
            </a:solidFill>
            <a:prstDash val="solid"/>
          </a:ln>
        </p:spPr>
      </p:sp>
      <p:sp>
        <p:nvSpPr>
          <p:cNvPr id="17" name="Text 15"/>
          <p:cNvSpPr/>
          <p:nvPr/>
        </p:nvSpPr>
        <p:spPr>
          <a:xfrm>
            <a:off x="1298448"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18" name="Shape 16"/>
          <p:cNvSpPr/>
          <p:nvPr/>
        </p:nvSpPr>
        <p:spPr>
          <a:xfrm>
            <a:off x="1673352" y="2103120"/>
            <a:ext cx="365760" cy="274320"/>
          </a:xfrm>
          <a:prstGeom prst="rect">
            <a:avLst/>
          </a:prstGeom>
          <a:solidFill>
            <a:srgbClr val="1E88E5"/>
          </a:solidFill>
          <a:ln w="6350">
            <a:solidFill>
              <a:srgbClr val="FFFFFF"/>
            </a:solidFill>
            <a:prstDash val="solid"/>
          </a:ln>
        </p:spPr>
      </p:sp>
      <p:sp>
        <p:nvSpPr>
          <p:cNvPr id="19" name="Text 17"/>
          <p:cNvSpPr/>
          <p:nvPr/>
        </p:nvSpPr>
        <p:spPr>
          <a:xfrm>
            <a:off x="1673352"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20" name="Shape 18"/>
          <p:cNvSpPr/>
          <p:nvPr/>
        </p:nvSpPr>
        <p:spPr>
          <a:xfrm>
            <a:off x="2048256" y="2103120"/>
            <a:ext cx="365760" cy="274320"/>
          </a:xfrm>
          <a:prstGeom prst="rect">
            <a:avLst/>
          </a:prstGeom>
          <a:solidFill>
            <a:srgbClr val="EF5350"/>
          </a:solidFill>
          <a:ln w="6350">
            <a:solidFill>
              <a:srgbClr val="FFFFFF"/>
            </a:solidFill>
            <a:prstDash val="solid"/>
          </a:ln>
        </p:spPr>
      </p:sp>
      <p:sp>
        <p:nvSpPr>
          <p:cNvPr id="21" name="Text 19"/>
          <p:cNvSpPr/>
          <p:nvPr/>
        </p:nvSpPr>
        <p:spPr>
          <a:xfrm>
            <a:off x="2048256"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TE</a:t>
            </a:r>
            <a:endParaRPr lang="en-US" sz="800" dirty="0"/>
          </a:p>
        </p:txBody>
      </p:sp>
      <p:sp>
        <p:nvSpPr>
          <p:cNvPr id="22" name="Shape 20"/>
          <p:cNvSpPr/>
          <p:nvPr/>
        </p:nvSpPr>
        <p:spPr>
          <a:xfrm>
            <a:off x="2423160" y="2103120"/>
            <a:ext cx="365760" cy="274320"/>
          </a:xfrm>
          <a:prstGeom prst="rect">
            <a:avLst/>
          </a:prstGeom>
          <a:solidFill>
            <a:srgbClr val="1E88E5"/>
          </a:solidFill>
          <a:ln w="6350">
            <a:solidFill>
              <a:srgbClr val="FFFFFF"/>
            </a:solidFill>
            <a:prstDash val="solid"/>
          </a:ln>
        </p:spPr>
      </p:sp>
      <p:sp>
        <p:nvSpPr>
          <p:cNvPr id="23" name="Text 21"/>
          <p:cNvSpPr/>
          <p:nvPr/>
        </p:nvSpPr>
        <p:spPr>
          <a:xfrm>
            <a:off x="2423160"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24" name="Shape 22"/>
          <p:cNvSpPr/>
          <p:nvPr/>
        </p:nvSpPr>
        <p:spPr>
          <a:xfrm>
            <a:off x="2798064" y="2103120"/>
            <a:ext cx="365760" cy="274320"/>
          </a:xfrm>
          <a:prstGeom prst="rect">
            <a:avLst/>
          </a:prstGeom>
          <a:solidFill>
            <a:srgbClr val="EF5350"/>
          </a:solidFill>
          <a:ln w="6350">
            <a:solidFill>
              <a:srgbClr val="FFFFFF"/>
            </a:solidFill>
            <a:prstDash val="solid"/>
          </a:ln>
        </p:spPr>
      </p:sp>
      <p:sp>
        <p:nvSpPr>
          <p:cNvPr id="25" name="Text 23"/>
          <p:cNvSpPr/>
          <p:nvPr/>
        </p:nvSpPr>
        <p:spPr>
          <a:xfrm>
            <a:off x="2798064"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TE</a:t>
            </a:r>
            <a:endParaRPr lang="en-US" sz="800" dirty="0"/>
          </a:p>
        </p:txBody>
      </p:sp>
      <p:sp>
        <p:nvSpPr>
          <p:cNvPr id="26" name="Shape 24"/>
          <p:cNvSpPr/>
          <p:nvPr/>
        </p:nvSpPr>
        <p:spPr>
          <a:xfrm>
            <a:off x="3172968" y="2103120"/>
            <a:ext cx="365760" cy="274320"/>
          </a:xfrm>
          <a:prstGeom prst="rect">
            <a:avLst/>
          </a:prstGeom>
          <a:solidFill>
            <a:srgbClr val="1E88E5"/>
          </a:solidFill>
          <a:ln w="6350">
            <a:solidFill>
              <a:srgbClr val="FFFFFF"/>
            </a:solidFill>
            <a:prstDash val="solid"/>
          </a:ln>
        </p:spPr>
      </p:sp>
      <p:sp>
        <p:nvSpPr>
          <p:cNvPr id="27" name="Text 25"/>
          <p:cNvSpPr/>
          <p:nvPr/>
        </p:nvSpPr>
        <p:spPr>
          <a:xfrm>
            <a:off x="3172968"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28" name="Shape 26"/>
          <p:cNvSpPr/>
          <p:nvPr/>
        </p:nvSpPr>
        <p:spPr>
          <a:xfrm>
            <a:off x="3547872" y="2103120"/>
            <a:ext cx="365760" cy="274320"/>
          </a:xfrm>
          <a:prstGeom prst="rect">
            <a:avLst/>
          </a:prstGeom>
          <a:solidFill>
            <a:srgbClr val="1E88E5"/>
          </a:solidFill>
          <a:ln w="6350">
            <a:solidFill>
              <a:srgbClr val="FFFFFF"/>
            </a:solidFill>
            <a:prstDash val="solid"/>
          </a:ln>
        </p:spPr>
      </p:sp>
      <p:sp>
        <p:nvSpPr>
          <p:cNvPr id="29" name="Text 27"/>
          <p:cNvSpPr/>
          <p:nvPr/>
        </p:nvSpPr>
        <p:spPr>
          <a:xfrm>
            <a:off x="3547872"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30" name="Shape 28"/>
          <p:cNvSpPr/>
          <p:nvPr/>
        </p:nvSpPr>
        <p:spPr>
          <a:xfrm>
            <a:off x="3922776" y="2103120"/>
            <a:ext cx="365760" cy="274320"/>
          </a:xfrm>
          <a:prstGeom prst="rect">
            <a:avLst/>
          </a:prstGeom>
          <a:solidFill>
            <a:srgbClr val="EF5350"/>
          </a:solidFill>
          <a:ln w="6350">
            <a:solidFill>
              <a:srgbClr val="FFFFFF"/>
            </a:solidFill>
            <a:prstDash val="solid"/>
          </a:ln>
        </p:spPr>
      </p:sp>
      <p:sp>
        <p:nvSpPr>
          <p:cNvPr id="31" name="Text 29"/>
          <p:cNvSpPr/>
          <p:nvPr/>
        </p:nvSpPr>
        <p:spPr>
          <a:xfrm>
            <a:off x="3922776"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TE</a:t>
            </a:r>
            <a:endParaRPr lang="en-US" sz="800" dirty="0"/>
          </a:p>
        </p:txBody>
      </p:sp>
      <p:sp>
        <p:nvSpPr>
          <p:cNvPr id="32" name="Text 30"/>
          <p:cNvSpPr/>
          <p:nvPr/>
        </p:nvSpPr>
        <p:spPr>
          <a:xfrm>
            <a:off x="548640" y="2468880"/>
            <a:ext cx="3749040" cy="548640"/>
          </a:xfrm>
          <a:prstGeom prst="rect">
            <a:avLst/>
          </a:prstGeom>
          <a:noFill/>
          <a:ln/>
        </p:spPr>
        <p:txBody>
          <a:bodyPr wrap="square" lIns="0" tIns="0" rIns="0" bIns="0" rtlCol="0" anchor="ctr"/>
          <a:lstStyle/>
          <a:p>
            <a:pPr indent="0" marL="0">
              <a:buNone/>
            </a:pPr>
            <a:r>
              <a:rPr lang="en-US" sz="1000" b="1" dirty="0">
                <a:solidFill>
                  <a:srgbClr val="EF5350"/>
                </a:solidFill>
                <a:latin typeface="Malgun Gothic" pitchFamily="34" charset="0"/>
                <a:ea typeface="Malgun Gothic" pitchFamily="34" charset="-122"/>
                <a:cs typeface="Malgun Gothic" pitchFamily="34" charset="-120"/>
              </a:rPr>
              <a:t>💥  미래가 과거 훈련에 섞여 들어감</a:t>
            </a:r>
            <a:endParaRPr lang="en-US" sz="1000" dirty="0"/>
          </a:p>
          <a:p>
            <a:pPr indent="0" marL="0">
              <a:buNone/>
            </a:pPr>
            <a:r>
              <a:rPr lang="en-US" sz="1000" b="1" dirty="0">
                <a:solidFill>
                  <a:srgbClr val="EF5350"/>
                </a:solidFill>
                <a:latin typeface="Malgun Gothic" pitchFamily="34" charset="0"/>
                <a:ea typeface="Malgun Gothic" pitchFamily="34" charset="-122"/>
                <a:cs typeface="Malgun Gothic" pitchFamily="34" charset="-120"/>
              </a:rPr>
              <a:t>    Future leaks into past training</a:t>
            </a:r>
            <a:endParaRPr lang="en-US" sz="1000" dirty="0"/>
          </a:p>
        </p:txBody>
      </p:sp>
      <p:sp>
        <p:nvSpPr>
          <p:cNvPr id="33" name="Text 31"/>
          <p:cNvSpPr/>
          <p:nvPr/>
        </p:nvSpPr>
        <p:spPr>
          <a:xfrm>
            <a:off x="548640" y="3108960"/>
            <a:ext cx="3749040" cy="1280160"/>
          </a:xfrm>
          <a:prstGeom prst="rect">
            <a:avLst/>
          </a:prstGeom>
          <a:noFill/>
          <a:ln/>
        </p:spPr>
        <p:txBody>
          <a:bodyPr wrap="square" lIns="0" tIns="0" rIns="0" bIns="0" rtlCol="0" anchor="ctr"/>
          <a:lstStyle/>
          <a:p>
            <a:pPr indent="0" marL="0">
              <a:buNone/>
            </a:pPr>
            <a:r>
              <a:rPr lang="en-US" sz="1000" b="1" dirty="0">
                <a:solidFill>
                  <a:srgbClr val="0B1F3A"/>
                </a:solidFill>
                <a:latin typeface="Malgun Gothic" pitchFamily="34" charset="0"/>
                <a:ea typeface="Malgun Gothic" pitchFamily="34" charset="-122"/>
                <a:cs typeface="Malgun Gothic" pitchFamily="34" charset="-120"/>
              </a:rPr>
              <a:t>결과: </a:t>
            </a:r>
            <a:pPr indent="0" marL="0">
              <a:buNone/>
            </a:pPr>
            <a:r>
              <a:rPr lang="en-US" sz="1000" dirty="0">
                <a:solidFill>
                  <a:srgbClr val="37474F"/>
                </a:solidFill>
                <a:latin typeface="Malgun Gothic" pitchFamily="34" charset="0"/>
                <a:ea typeface="Malgun Gothic" pitchFamily="34" charset="-122"/>
                <a:cs typeface="Malgun Gothic" pitchFamily="34" charset="-120"/>
              </a:rPr>
              <a:t>CV 표준편차 ±0.30
</a:t>
            </a:r>
            <a:pPr indent="0" marL="0">
              <a:buNone/>
            </a:pPr>
            <a:r>
              <a:rPr lang="en-US" sz="900" i="1" dirty="0">
                <a:solidFill>
                  <a:srgbClr val="78909C"/>
                </a:solidFill>
                <a:latin typeface="Malgun Gothic" pitchFamily="34" charset="0"/>
                <a:ea typeface="Malgun Gothic" pitchFamily="34" charset="-122"/>
                <a:cs typeface="Malgun Gothic" pitchFamily="34" charset="-120"/>
              </a:rPr>
              <a:t>(비정상적으로 작음 · 낙관적 편향)
</a:t>
            </a:r>
            <a:pPr indent="0" marL="0">
              <a:buNone/>
            </a:pPr>
            <a:r>
              <a:rPr lang="en-US" sz="900" i="1" dirty="0">
                <a:solidFill>
                  <a:srgbClr val="78909C"/>
                </a:solidFill>
                <a:latin typeface="Malgun Gothic" pitchFamily="34" charset="0"/>
                <a:ea typeface="Malgun Gothic" pitchFamily="34" charset="-122"/>
                <a:cs typeface="Malgun Gothic" pitchFamily="34" charset="-120"/>
              </a:rPr>
              <a:t>Result: CV std ±0.30 (artificially small)</a:t>
            </a:r>
            <a:endParaRPr lang="en-US" sz="1000" dirty="0"/>
          </a:p>
        </p:txBody>
      </p:sp>
      <p:sp>
        <p:nvSpPr>
          <p:cNvPr id="34" name="Shape 32"/>
          <p:cNvSpPr/>
          <p:nvPr/>
        </p:nvSpPr>
        <p:spPr>
          <a:xfrm>
            <a:off x="4754880" y="960120"/>
            <a:ext cx="3931920" cy="3611880"/>
          </a:xfrm>
          <a:prstGeom prst="roundRect">
            <a:avLst>
              <a:gd name="adj" fmla="val 2532"/>
            </a:avLst>
          </a:prstGeom>
          <a:solidFill>
            <a:srgbClr val="FFFFFF"/>
          </a:solidFill>
          <a:ln w="25400">
            <a:solidFill>
              <a:srgbClr val="43A047"/>
            </a:solidFill>
            <a:prstDash val="solid"/>
          </a:ln>
        </p:spPr>
      </p:sp>
      <p:sp>
        <p:nvSpPr>
          <p:cNvPr id="35" name="Shape 33"/>
          <p:cNvSpPr/>
          <p:nvPr/>
        </p:nvSpPr>
        <p:spPr>
          <a:xfrm>
            <a:off x="4754880" y="960120"/>
            <a:ext cx="3931920" cy="411480"/>
          </a:xfrm>
          <a:prstGeom prst="rect">
            <a:avLst/>
          </a:prstGeom>
          <a:solidFill>
            <a:srgbClr val="43A047"/>
          </a:solidFill>
          <a:ln w="12700">
            <a:solidFill>
              <a:srgbClr val="43A047"/>
            </a:solidFill>
            <a:prstDash val="solid"/>
          </a:ln>
        </p:spPr>
      </p:sp>
      <p:sp>
        <p:nvSpPr>
          <p:cNvPr id="36" name="Text 34"/>
          <p:cNvSpPr/>
          <p:nvPr/>
        </p:nvSpPr>
        <p:spPr>
          <a:xfrm>
            <a:off x="4754880" y="960120"/>
            <a:ext cx="3931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  RIGHT — TimeSeriesSplit</a:t>
            </a:r>
            <a:endParaRPr lang="en-US" sz="1300" dirty="0"/>
          </a:p>
        </p:txBody>
      </p:sp>
      <p:sp>
        <p:nvSpPr>
          <p:cNvPr id="37" name="Text 35"/>
          <p:cNvSpPr/>
          <p:nvPr/>
        </p:nvSpPr>
        <p:spPr>
          <a:xfrm>
            <a:off x="4846320" y="1463040"/>
            <a:ext cx="3749040" cy="320040"/>
          </a:xfrm>
          <a:prstGeom prst="rect">
            <a:avLst/>
          </a:prstGeom>
          <a:noFill/>
          <a:ln/>
        </p:spPr>
        <p:txBody>
          <a:bodyPr wrap="square" lIns="0" tIns="0" rIns="0" bIns="0" rtlCol="0" anchor="ctr"/>
          <a:lstStyle/>
          <a:p>
            <a:pPr algn="ctr" indent="0" marL="0">
              <a:buNone/>
            </a:pPr>
            <a:r>
              <a:rPr lang="en-US" sz="1100" b="1" dirty="0">
                <a:solidFill>
                  <a:srgbClr val="43A047"/>
                </a:solidFill>
                <a:latin typeface="Consolas" pitchFamily="34" charset="0"/>
                <a:ea typeface="Consolas" pitchFamily="34" charset="-122"/>
                <a:cs typeface="Consolas" pitchFamily="34" charset="-120"/>
              </a:rPr>
              <a:t>TimeSeriesSplit(n_splits=5)</a:t>
            </a:r>
            <a:endParaRPr lang="en-US" sz="1100" dirty="0"/>
          </a:p>
        </p:txBody>
      </p:sp>
      <p:sp>
        <p:nvSpPr>
          <p:cNvPr id="38" name="Text 36"/>
          <p:cNvSpPr/>
          <p:nvPr/>
        </p:nvSpPr>
        <p:spPr>
          <a:xfrm>
            <a:off x="4846320" y="1828800"/>
            <a:ext cx="3749040" cy="228600"/>
          </a:xfrm>
          <a:prstGeom prst="rect">
            <a:avLst/>
          </a:prstGeom>
          <a:noFill/>
          <a:ln/>
        </p:spPr>
        <p:txBody>
          <a:bodyPr wrap="square" lIns="0" tIns="0" rIns="0" bIns="0" rtlCol="0" anchor="ctr"/>
          <a:lstStyle/>
          <a:p>
            <a:pPr indent="0" marL="0">
              <a:buNone/>
            </a:pPr>
            <a:r>
              <a:rPr lang="en-US" sz="950" i="1" dirty="0">
                <a:solidFill>
                  <a:srgbClr val="37474F"/>
                </a:solidFill>
                <a:latin typeface="Malgun Gothic" pitchFamily="34" charset="0"/>
                <a:ea typeface="Malgun Gothic" pitchFamily="34" charset="-122"/>
                <a:cs typeface="Malgun Gothic" pitchFamily="34" charset="-120"/>
              </a:rPr>
              <a:t>Timeline  →</a:t>
            </a:r>
            <a:endParaRPr lang="en-US" sz="950" dirty="0"/>
          </a:p>
        </p:txBody>
      </p:sp>
      <p:sp>
        <p:nvSpPr>
          <p:cNvPr id="39" name="Shape 37"/>
          <p:cNvSpPr/>
          <p:nvPr/>
        </p:nvSpPr>
        <p:spPr>
          <a:xfrm>
            <a:off x="4846320" y="2103120"/>
            <a:ext cx="365760" cy="274320"/>
          </a:xfrm>
          <a:prstGeom prst="rect">
            <a:avLst/>
          </a:prstGeom>
          <a:solidFill>
            <a:srgbClr val="1E88E5"/>
          </a:solidFill>
          <a:ln w="6350">
            <a:solidFill>
              <a:srgbClr val="FFFFFF"/>
            </a:solidFill>
            <a:prstDash val="solid"/>
          </a:ln>
        </p:spPr>
      </p:sp>
      <p:sp>
        <p:nvSpPr>
          <p:cNvPr id="40" name="Text 38"/>
          <p:cNvSpPr/>
          <p:nvPr/>
        </p:nvSpPr>
        <p:spPr>
          <a:xfrm>
            <a:off x="4846320"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41" name="Shape 39"/>
          <p:cNvSpPr/>
          <p:nvPr/>
        </p:nvSpPr>
        <p:spPr>
          <a:xfrm>
            <a:off x="5221224" y="2103120"/>
            <a:ext cx="365760" cy="274320"/>
          </a:xfrm>
          <a:prstGeom prst="rect">
            <a:avLst/>
          </a:prstGeom>
          <a:solidFill>
            <a:srgbClr val="1E88E5"/>
          </a:solidFill>
          <a:ln w="6350">
            <a:solidFill>
              <a:srgbClr val="FFFFFF"/>
            </a:solidFill>
            <a:prstDash val="solid"/>
          </a:ln>
        </p:spPr>
      </p:sp>
      <p:sp>
        <p:nvSpPr>
          <p:cNvPr id="42" name="Text 40"/>
          <p:cNvSpPr/>
          <p:nvPr/>
        </p:nvSpPr>
        <p:spPr>
          <a:xfrm>
            <a:off x="5221224"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43" name="Shape 41"/>
          <p:cNvSpPr/>
          <p:nvPr/>
        </p:nvSpPr>
        <p:spPr>
          <a:xfrm>
            <a:off x="5596128" y="2103120"/>
            <a:ext cx="365760" cy="274320"/>
          </a:xfrm>
          <a:prstGeom prst="rect">
            <a:avLst/>
          </a:prstGeom>
          <a:solidFill>
            <a:srgbClr val="1E88E5"/>
          </a:solidFill>
          <a:ln w="6350">
            <a:solidFill>
              <a:srgbClr val="FFFFFF"/>
            </a:solidFill>
            <a:prstDash val="solid"/>
          </a:ln>
        </p:spPr>
      </p:sp>
      <p:sp>
        <p:nvSpPr>
          <p:cNvPr id="44" name="Text 42"/>
          <p:cNvSpPr/>
          <p:nvPr/>
        </p:nvSpPr>
        <p:spPr>
          <a:xfrm>
            <a:off x="5596128"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45" name="Shape 43"/>
          <p:cNvSpPr/>
          <p:nvPr/>
        </p:nvSpPr>
        <p:spPr>
          <a:xfrm>
            <a:off x="5971032" y="2103120"/>
            <a:ext cx="365760" cy="274320"/>
          </a:xfrm>
          <a:prstGeom prst="rect">
            <a:avLst/>
          </a:prstGeom>
          <a:solidFill>
            <a:srgbClr val="1E88E5"/>
          </a:solidFill>
          <a:ln w="6350">
            <a:solidFill>
              <a:srgbClr val="FFFFFF"/>
            </a:solidFill>
            <a:prstDash val="solid"/>
          </a:ln>
        </p:spPr>
      </p:sp>
      <p:sp>
        <p:nvSpPr>
          <p:cNvPr id="46" name="Text 44"/>
          <p:cNvSpPr/>
          <p:nvPr/>
        </p:nvSpPr>
        <p:spPr>
          <a:xfrm>
            <a:off x="5971032"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47" name="Shape 45"/>
          <p:cNvSpPr/>
          <p:nvPr/>
        </p:nvSpPr>
        <p:spPr>
          <a:xfrm>
            <a:off x="6345936" y="2103120"/>
            <a:ext cx="365760" cy="274320"/>
          </a:xfrm>
          <a:prstGeom prst="rect">
            <a:avLst/>
          </a:prstGeom>
          <a:solidFill>
            <a:srgbClr val="1E88E5"/>
          </a:solidFill>
          <a:ln w="6350">
            <a:solidFill>
              <a:srgbClr val="FFFFFF"/>
            </a:solidFill>
            <a:prstDash val="solid"/>
          </a:ln>
        </p:spPr>
      </p:sp>
      <p:sp>
        <p:nvSpPr>
          <p:cNvPr id="48" name="Text 46"/>
          <p:cNvSpPr/>
          <p:nvPr/>
        </p:nvSpPr>
        <p:spPr>
          <a:xfrm>
            <a:off x="6345936"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49" name="Shape 47"/>
          <p:cNvSpPr/>
          <p:nvPr/>
        </p:nvSpPr>
        <p:spPr>
          <a:xfrm>
            <a:off x="6720840" y="2103120"/>
            <a:ext cx="365760" cy="274320"/>
          </a:xfrm>
          <a:prstGeom prst="rect">
            <a:avLst/>
          </a:prstGeom>
          <a:solidFill>
            <a:srgbClr val="1E88E5"/>
          </a:solidFill>
          <a:ln w="6350">
            <a:solidFill>
              <a:srgbClr val="FFFFFF"/>
            </a:solidFill>
            <a:prstDash val="solid"/>
          </a:ln>
        </p:spPr>
      </p:sp>
      <p:sp>
        <p:nvSpPr>
          <p:cNvPr id="50" name="Text 48"/>
          <p:cNvSpPr/>
          <p:nvPr/>
        </p:nvSpPr>
        <p:spPr>
          <a:xfrm>
            <a:off x="6720840"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51" name="Shape 49"/>
          <p:cNvSpPr/>
          <p:nvPr/>
        </p:nvSpPr>
        <p:spPr>
          <a:xfrm>
            <a:off x="7095744" y="2103120"/>
            <a:ext cx="365760" cy="274320"/>
          </a:xfrm>
          <a:prstGeom prst="rect">
            <a:avLst/>
          </a:prstGeom>
          <a:solidFill>
            <a:srgbClr val="1E88E5"/>
          </a:solidFill>
          <a:ln w="6350">
            <a:solidFill>
              <a:srgbClr val="FFFFFF"/>
            </a:solidFill>
            <a:prstDash val="solid"/>
          </a:ln>
        </p:spPr>
      </p:sp>
      <p:sp>
        <p:nvSpPr>
          <p:cNvPr id="52" name="Text 50"/>
          <p:cNvSpPr/>
          <p:nvPr/>
        </p:nvSpPr>
        <p:spPr>
          <a:xfrm>
            <a:off x="7095744"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TR</a:t>
            </a:r>
            <a:endParaRPr lang="en-US" sz="800" dirty="0"/>
          </a:p>
        </p:txBody>
      </p:sp>
      <p:sp>
        <p:nvSpPr>
          <p:cNvPr id="53" name="Shape 51"/>
          <p:cNvSpPr/>
          <p:nvPr/>
        </p:nvSpPr>
        <p:spPr>
          <a:xfrm>
            <a:off x="7470648" y="2103120"/>
            <a:ext cx="365760" cy="274320"/>
          </a:xfrm>
          <a:prstGeom prst="rect">
            <a:avLst/>
          </a:prstGeom>
          <a:solidFill>
            <a:srgbClr val="EF5350"/>
          </a:solidFill>
          <a:ln w="6350">
            <a:solidFill>
              <a:srgbClr val="FFFFFF"/>
            </a:solidFill>
            <a:prstDash val="solid"/>
          </a:ln>
        </p:spPr>
      </p:sp>
      <p:sp>
        <p:nvSpPr>
          <p:cNvPr id="54" name="Text 52"/>
          <p:cNvSpPr/>
          <p:nvPr/>
        </p:nvSpPr>
        <p:spPr>
          <a:xfrm>
            <a:off x="7470648"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TE</a:t>
            </a:r>
            <a:endParaRPr lang="en-US" sz="800" dirty="0"/>
          </a:p>
        </p:txBody>
      </p:sp>
      <p:sp>
        <p:nvSpPr>
          <p:cNvPr id="55" name="Shape 53"/>
          <p:cNvSpPr/>
          <p:nvPr/>
        </p:nvSpPr>
        <p:spPr>
          <a:xfrm>
            <a:off x="7845552" y="2103120"/>
            <a:ext cx="365760" cy="274320"/>
          </a:xfrm>
          <a:prstGeom prst="rect">
            <a:avLst/>
          </a:prstGeom>
          <a:solidFill>
            <a:srgbClr val="EF5350"/>
          </a:solidFill>
          <a:ln w="6350">
            <a:solidFill>
              <a:srgbClr val="FFFFFF"/>
            </a:solidFill>
            <a:prstDash val="solid"/>
          </a:ln>
        </p:spPr>
      </p:sp>
      <p:sp>
        <p:nvSpPr>
          <p:cNvPr id="56" name="Text 54"/>
          <p:cNvSpPr/>
          <p:nvPr/>
        </p:nvSpPr>
        <p:spPr>
          <a:xfrm>
            <a:off x="7845552"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TE</a:t>
            </a:r>
            <a:endParaRPr lang="en-US" sz="800" dirty="0"/>
          </a:p>
        </p:txBody>
      </p:sp>
      <p:sp>
        <p:nvSpPr>
          <p:cNvPr id="57" name="Shape 55"/>
          <p:cNvSpPr/>
          <p:nvPr/>
        </p:nvSpPr>
        <p:spPr>
          <a:xfrm>
            <a:off x="8220456" y="2103120"/>
            <a:ext cx="365760" cy="274320"/>
          </a:xfrm>
          <a:prstGeom prst="rect">
            <a:avLst/>
          </a:prstGeom>
          <a:solidFill>
            <a:srgbClr val="EF5350"/>
          </a:solidFill>
          <a:ln w="6350">
            <a:solidFill>
              <a:srgbClr val="FFFFFF"/>
            </a:solidFill>
            <a:prstDash val="solid"/>
          </a:ln>
        </p:spPr>
      </p:sp>
      <p:sp>
        <p:nvSpPr>
          <p:cNvPr id="58" name="Text 56"/>
          <p:cNvSpPr/>
          <p:nvPr/>
        </p:nvSpPr>
        <p:spPr>
          <a:xfrm>
            <a:off x="8220456" y="2103120"/>
            <a:ext cx="3657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TE</a:t>
            </a:r>
            <a:endParaRPr lang="en-US" sz="800" dirty="0"/>
          </a:p>
        </p:txBody>
      </p:sp>
      <p:sp>
        <p:nvSpPr>
          <p:cNvPr id="59" name="Text 57"/>
          <p:cNvSpPr/>
          <p:nvPr/>
        </p:nvSpPr>
        <p:spPr>
          <a:xfrm>
            <a:off x="4846320" y="2468880"/>
            <a:ext cx="3749040" cy="548640"/>
          </a:xfrm>
          <a:prstGeom prst="rect">
            <a:avLst/>
          </a:prstGeom>
          <a:noFill/>
          <a:ln/>
        </p:spPr>
        <p:txBody>
          <a:bodyPr wrap="square" lIns="0" tIns="0" rIns="0" bIns="0" rtlCol="0" anchor="ctr"/>
          <a:lstStyle/>
          <a:p>
            <a:pPr indent="0" marL="0">
              <a:buNone/>
            </a:pPr>
            <a:r>
              <a:rPr lang="en-US" sz="1000" b="1" dirty="0">
                <a:solidFill>
                  <a:srgbClr val="43A047"/>
                </a:solidFill>
                <a:latin typeface="Malgun Gothic" pitchFamily="34" charset="0"/>
                <a:ea typeface="Malgun Gothic" pitchFamily="34" charset="-122"/>
                <a:cs typeface="Malgun Gothic" pitchFamily="34" charset="-120"/>
              </a:rPr>
              <a:t>✔  과거로만 학습, 미래로만 평가</a:t>
            </a:r>
            <a:endParaRPr lang="en-US" sz="1000" dirty="0"/>
          </a:p>
          <a:p>
            <a:pPr indent="0" marL="0">
              <a:buNone/>
            </a:pPr>
            <a:r>
              <a:rPr lang="en-US" sz="1000" b="1" dirty="0">
                <a:solidFill>
                  <a:srgbClr val="43A047"/>
                </a:solidFill>
                <a:latin typeface="Malgun Gothic" pitchFamily="34" charset="0"/>
                <a:ea typeface="Malgun Gothic" pitchFamily="34" charset="-122"/>
                <a:cs typeface="Malgun Gothic" pitchFamily="34" charset="-120"/>
              </a:rPr>
              <a:t>    Train on past, evaluate on future</a:t>
            </a:r>
            <a:endParaRPr lang="en-US" sz="1000" dirty="0"/>
          </a:p>
        </p:txBody>
      </p:sp>
      <p:sp>
        <p:nvSpPr>
          <p:cNvPr id="60" name="Text 58"/>
          <p:cNvSpPr/>
          <p:nvPr/>
        </p:nvSpPr>
        <p:spPr>
          <a:xfrm>
            <a:off x="4846320" y="3108960"/>
            <a:ext cx="3749040" cy="1280160"/>
          </a:xfrm>
          <a:prstGeom prst="rect">
            <a:avLst/>
          </a:prstGeom>
          <a:noFill/>
          <a:ln/>
        </p:spPr>
        <p:txBody>
          <a:bodyPr wrap="square" lIns="0" tIns="0" rIns="0" bIns="0" rtlCol="0" anchor="ctr"/>
          <a:lstStyle/>
          <a:p>
            <a:pPr indent="0" marL="0">
              <a:buNone/>
            </a:pPr>
            <a:r>
              <a:rPr lang="en-US" sz="1000" b="1" dirty="0">
                <a:solidFill>
                  <a:srgbClr val="0B1F3A"/>
                </a:solidFill>
                <a:latin typeface="Malgun Gothic" pitchFamily="34" charset="0"/>
                <a:ea typeface="Malgun Gothic" pitchFamily="34" charset="-122"/>
                <a:cs typeface="Malgun Gothic" pitchFamily="34" charset="-120"/>
              </a:rPr>
              <a:t>결과: </a:t>
            </a:r>
            <a:pPr indent="0" marL="0">
              <a:buNone/>
            </a:pPr>
            <a:r>
              <a:rPr lang="en-US" sz="1000" dirty="0">
                <a:solidFill>
                  <a:srgbClr val="37474F"/>
                </a:solidFill>
                <a:latin typeface="Malgun Gothic" pitchFamily="34" charset="0"/>
                <a:ea typeface="Malgun Gothic" pitchFamily="34" charset="-122"/>
                <a:cs typeface="Malgun Gothic" pitchFamily="34" charset="-120"/>
              </a:rPr>
              <a:t>CV 표준편차 ±6.14
</a:t>
            </a:r>
            <a:pPr indent="0" marL="0">
              <a:buNone/>
            </a:pPr>
            <a:r>
              <a:rPr lang="en-US" sz="900" i="1" dirty="0">
                <a:solidFill>
                  <a:srgbClr val="78909C"/>
                </a:solidFill>
                <a:latin typeface="Malgun Gothic" pitchFamily="34" charset="0"/>
                <a:ea typeface="Malgun Gothic" pitchFamily="34" charset="-122"/>
                <a:cs typeface="Malgun Gothic" pitchFamily="34" charset="-120"/>
              </a:rPr>
              <a:t>(정직한 수치 · 시간대별 변동성 반영)
</a:t>
            </a:r>
            <a:pPr indent="0" marL="0">
              <a:buNone/>
            </a:pPr>
            <a:r>
              <a:rPr lang="en-US" sz="900" i="1" dirty="0">
                <a:solidFill>
                  <a:srgbClr val="78909C"/>
                </a:solidFill>
                <a:latin typeface="Malgun Gothic" pitchFamily="34" charset="0"/>
                <a:ea typeface="Malgun Gothic" pitchFamily="34" charset="-122"/>
                <a:cs typeface="Malgun Gothic" pitchFamily="34" charset="-120"/>
              </a:rPr>
              <a:t>Result: CV std ±6.14 (honest, reflects temporal variance)</a:t>
            </a:r>
            <a:endParaRPr lang="en-US" sz="1000" dirty="0"/>
          </a:p>
        </p:txBody>
      </p:sp>
      <p:sp>
        <p:nvSpPr>
          <p:cNvPr id="61" name="Shape 59"/>
          <p:cNvSpPr/>
          <p:nvPr/>
        </p:nvSpPr>
        <p:spPr>
          <a:xfrm>
            <a:off x="0" y="4892040"/>
            <a:ext cx="9144000" cy="256032"/>
          </a:xfrm>
          <a:prstGeom prst="rect">
            <a:avLst/>
          </a:prstGeom>
          <a:solidFill>
            <a:srgbClr val="0B1F3A"/>
          </a:solidFill>
          <a:ln w="12700">
            <a:solidFill>
              <a:srgbClr val="0B1F3A"/>
            </a:solidFill>
            <a:prstDash val="solid"/>
          </a:ln>
        </p:spPr>
      </p:sp>
      <p:sp>
        <p:nvSpPr>
          <p:cNvPr id="62" name="Text 60"/>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63" name="Text 61"/>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17 / 30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05 · STEP 6</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Iceberg Medallion 아키텍처</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Bronze / Silver / Gold — data lake pattern</a:t>
            </a:r>
            <a:endParaRPr lang="en-US" sz="1050" dirty="0"/>
          </a:p>
        </p:txBody>
      </p:sp>
      <p:sp>
        <p:nvSpPr>
          <p:cNvPr id="7" name="Shape 5"/>
          <p:cNvSpPr/>
          <p:nvPr/>
        </p:nvSpPr>
        <p:spPr>
          <a:xfrm>
            <a:off x="457200" y="1005840"/>
            <a:ext cx="2651760" cy="2743200"/>
          </a:xfrm>
          <a:prstGeom prst="roundRect">
            <a:avLst>
              <a:gd name="adj" fmla="val 3448"/>
            </a:avLst>
          </a:prstGeom>
          <a:solidFill>
            <a:srgbClr val="FFFFFF"/>
          </a:solidFill>
          <a:ln w="25400">
            <a:solidFill>
              <a:srgbClr val="8D6E63"/>
            </a:solidFill>
            <a:prstDash val="solid"/>
          </a:ln>
        </p:spPr>
      </p:sp>
      <p:sp>
        <p:nvSpPr>
          <p:cNvPr id="8" name="Shape 6"/>
          <p:cNvSpPr/>
          <p:nvPr/>
        </p:nvSpPr>
        <p:spPr>
          <a:xfrm>
            <a:off x="457200" y="1005840"/>
            <a:ext cx="2651760" cy="457200"/>
          </a:xfrm>
          <a:prstGeom prst="rect">
            <a:avLst/>
          </a:prstGeom>
          <a:solidFill>
            <a:srgbClr val="8D6E63"/>
          </a:solidFill>
          <a:ln w="12700">
            <a:solidFill>
              <a:srgbClr val="8D6E63"/>
            </a:solidFill>
            <a:prstDash val="solid"/>
          </a:ln>
        </p:spPr>
      </p:sp>
      <p:sp>
        <p:nvSpPr>
          <p:cNvPr id="9" name="Text 7"/>
          <p:cNvSpPr/>
          <p:nvPr/>
        </p:nvSpPr>
        <p:spPr>
          <a:xfrm>
            <a:off x="457200" y="1005840"/>
            <a:ext cx="26517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Bronze  🥉</a:t>
            </a:r>
            <a:endParaRPr lang="en-US" sz="1600" dirty="0"/>
          </a:p>
        </p:txBody>
      </p:sp>
      <p:sp>
        <p:nvSpPr>
          <p:cNvPr id="10" name="Text 8"/>
          <p:cNvSpPr/>
          <p:nvPr/>
        </p:nvSpPr>
        <p:spPr>
          <a:xfrm>
            <a:off x="548640" y="1554480"/>
            <a:ext cx="246888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Malgun Gothic" pitchFamily="34" charset="0"/>
                <a:ea typeface="Malgun Gothic" pitchFamily="34" charset="-122"/>
                <a:cs typeface="Malgun Gothic" pitchFamily="34" charset="-120"/>
              </a:rPr>
              <a:t>원본 그대로</a:t>
            </a:r>
            <a:endParaRPr lang="en-US" sz="1300" dirty="0"/>
          </a:p>
        </p:txBody>
      </p:sp>
      <p:sp>
        <p:nvSpPr>
          <p:cNvPr id="11" name="Text 9"/>
          <p:cNvSpPr/>
          <p:nvPr/>
        </p:nvSpPr>
        <p:spPr>
          <a:xfrm>
            <a:off x="548640" y="1856232"/>
            <a:ext cx="2468880" cy="256032"/>
          </a:xfrm>
          <a:prstGeom prst="rect">
            <a:avLst/>
          </a:prstGeom>
          <a:noFill/>
          <a:ln/>
        </p:spPr>
        <p:txBody>
          <a:bodyPr wrap="square" lIns="0" tIns="0" rIns="0" bIns="0" rtlCol="0" anchor="ctr"/>
          <a:lstStyle/>
          <a:p>
            <a:pPr algn="ctr" indent="0" marL="0">
              <a:buNone/>
            </a:pPr>
            <a:r>
              <a:rPr lang="en-US" sz="1000" i="1" dirty="0">
                <a:solidFill>
                  <a:srgbClr val="78909C"/>
                </a:solidFill>
                <a:latin typeface="Malgun Gothic" pitchFamily="34" charset="0"/>
                <a:ea typeface="Malgun Gothic" pitchFamily="34" charset="-122"/>
                <a:cs typeface="Malgun Gothic" pitchFamily="34" charset="-120"/>
              </a:rPr>
              <a:t>raw, as-ingested</a:t>
            </a:r>
            <a:endParaRPr lang="en-US" sz="1000" dirty="0"/>
          </a:p>
        </p:txBody>
      </p:sp>
      <p:sp>
        <p:nvSpPr>
          <p:cNvPr id="12" name="Shape 10"/>
          <p:cNvSpPr/>
          <p:nvPr/>
        </p:nvSpPr>
        <p:spPr>
          <a:xfrm>
            <a:off x="594360" y="2212848"/>
            <a:ext cx="2377440" cy="1417320"/>
          </a:xfrm>
          <a:prstGeom prst="rect">
            <a:avLst/>
          </a:prstGeom>
          <a:solidFill>
            <a:srgbClr val="FAFAFA"/>
          </a:solidFill>
          <a:ln w="6350">
            <a:solidFill>
              <a:srgbClr val="8D6E63"/>
            </a:solidFill>
            <a:prstDash val="solid"/>
          </a:ln>
        </p:spPr>
      </p:sp>
      <p:sp>
        <p:nvSpPr>
          <p:cNvPr id="13" name="Text 11"/>
          <p:cNvSpPr/>
          <p:nvPr/>
        </p:nvSpPr>
        <p:spPr>
          <a:xfrm>
            <a:off x="685800" y="2286000"/>
            <a:ext cx="2194560" cy="1280160"/>
          </a:xfrm>
          <a:prstGeom prst="rect">
            <a:avLst/>
          </a:prstGeom>
          <a:noFill/>
          <a:ln/>
        </p:spPr>
        <p:txBody>
          <a:bodyPr wrap="square" lIns="0" tIns="0" rIns="0" bIns="0" rtlCol="0" anchor="t"/>
          <a:lstStyle/>
          <a:p>
            <a:pPr indent="0" marL="0">
              <a:buNone/>
            </a:pPr>
            <a:r>
              <a:rPr lang="en-US" sz="1000" dirty="0">
                <a:solidFill>
                  <a:srgbClr val="37474F"/>
                </a:solidFill>
                <a:latin typeface="Consolas" pitchFamily="34" charset="0"/>
                <a:ea typeface="Consolas" pitchFamily="34" charset="-122"/>
                <a:cs typeface="Consolas" pitchFamily="34" charset="-120"/>
              </a:rPr>
              <a:t>flight_position_raw</a:t>
            </a:r>
            <a:endParaRPr lang="en-US" sz="1000" dirty="0"/>
          </a:p>
          <a:p>
            <a:pPr indent="0" marL="0">
              <a:buNone/>
            </a:pPr>
            <a:r>
              <a:rPr lang="en-US" sz="1000" dirty="0">
                <a:solidFill>
                  <a:srgbClr val="37474F"/>
                </a:solidFill>
                <a:latin typeface="Consolas" pitchFamily="34" charset="0"/>
                <a:ea typeface="Consolas" pitchFamily="34" charset="-122"/>
                <a:cs typeface="Consolas" pitchFamily="34" charset="-120"/>
              </a:rPr>
              <a:t>weather_event_raw</a:t>
            </a:r>
            <a:endParaRPr lang="en-US" sz="1000" dirty="0"/>
          </a:p>
          <a:p>
            <a:pPr indent="0" marL="0">
              <a:buNone/>
            </a:pPr>
            <a:r>
              <a:rPr lang="en-US" sz="1000" dirty="0">
                <a:solidFill>
                  <a:srgbClr val="37474F"/>
                </a:solidFill>
                <a:latin typeface="Consolas" pitchFamily="34" charset="0"/>
                <a:ea typeface="Consolas" pitchFamily="34" charset="-122"/>
                <a:cs typeface="Consolas" pitchFamily="34" charset="-120"/>
              </a:rPr>
              <a:t>notam_raw</a:t>
            </a:r>
            <a:endParaRPr lang="en-US" sz="1000" dirty="0"/>
          </a:p>
          <a:p>
            <a:pPr indent="0" marL="0">
              <a:buNone/>
            </a:pPr>
            <a:r>
              <a:rPr lang="en-US" sz="1000" dirty="0">
                <a:solidFill>
                  <a:srgbClr val="37474F"/>
                </a:solidFill>
                <a:latin typeface="Consolas" pitchFamily="34" charset="0"/>
                <a:ea typeface="Consolas" pitchFamily="34" charset="-122"/>
                <a:cs typeface="Consolas" pitchFamily="34" charset="-120"/>
              </a:rPr>
              <a:t>atfm_restriction_raw</a:t>
            </a:r>
            <a:endParaRPr lang="en-US" sz="1000" dirty="0"/>
          </a:p>
        </p:txBody>
      </p:sp>
      <p:sp>
        <p:nvSpPr>
          <p:cNvPr id="14" name="Text 12"/>
          <p:cNvSpPr/>
          <p:nvPr/>
        </p:nvSpPr>
        <p:spPr>
          <a:xfrm>
            <a:off x="3108960" y="1005840"/>
            <a:ext cx="274320" cy="2743200"/>
          </a:xfrm>
          <a:prstGeom prst="rect">
            <a:avLst/>
          </a:prstGeom>
          <a:noFill/>
          <a:ln/>
        </p:spPr>
        <p:txBody>
          <a:bodyPr wrap="square" lIns="0" tIns="0" rIns="0" bIns="0" rtlCol="0" anchor="ctr"/>
          <a:lstStyle/>
          <a:p>
            <a:pPr algn="ctr" indent="0" marL="0">
              <a:buNone/>
            </a:pPr>
            <a:r>
              <a:rPr lang="en-US" sz="2400" b="1" dirty="0">
                <a:solidFill>
                  <a:srgbClr val="FFB300"/>
                </a:solidFill>
              </a:rPr>
              <a:t>→</a:t>
            </a:r>
            <a:endParaRPr lang="en-US" sz="2400" dirty="0"/>
          </a:p>
        </p:txBody>
      </p:sp>
      <p:sp>
        <p:nvSpPr>
          <p:cNvPr id="15" name="Shape 13"/>
          <p:cNvSpPr/>
          <p:nvPr/>
        </p:nvSpPr>
        <p:spPr>
          <a:xfrm>
            <a:off x="3200400" y="1005840"/>
            <a:ext cx="2651760" cy="2743200"/>
          </a:xfrm>
          <a:prstGeom prst="roundRect">
            <a:avLst>
              <a:gd name="adj" fmla="val 3448"/>
            </a:avLst>
          </a:prstGeom>
          <a:solidFill>
            <a:srgbClr val="FFFFFF"/>
          </a:solidFill>
          <a:ln w="25400">
            <a:solidFill>
              <a:srgbClr val="9E9E9E"/>
            </a:solidFill>
            <a:prstDash val="solid"/>
          </a:ln>
        </p:spPr>
      </p:sp>
      <p:sp>
        <p:nvSpPr>
          <p:cNvPr id="16" name="Shape 14"/>
          <p:cNvSpPr/>
          <p:nvPr/>
        </p:nvSpPr>
        <p:spPr>
          <a:xfrm>
            <a:off x="3200400" y="1005840"/>
            <a:ext cx="2651760" cy="457200"/>
          </a:xfrm>
          <a:prstGeom prst="rect">
            <a:avLst/>
          </a:prstGeom>
          <a:solidFill>
            <a:srgbClr val="9E9E9E"/>
          </a:solidFill>
          <a:ln w="12700">
            <a:solidFill>
              <a:srgbClr val="9E9E9E"/>
            </a:solidFill>
            <a:prstDash val="solid"/>
          </a:ln>
        </p:spPr>
      </p:sp>
      <p:sp>
        <p:nvSpPr>
          <p:cNvPr id="17" name="Text 15"/>
          <p:cNvSpPr/>
          <p:nvPr/>
        </p:nvSpPr>
        <p:spPr>
          <a:xfrm>
            <a:off x="3200400" y="1005840"/>
            <a:ext cx="26517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Silver  🥈</a:t>
            </a:r>
            <a:endParaRPr lang="en-US" sz="1600" dirty="0"/>
          </a:p>
        </p:txBody>
      </p:sp>
      <p:sp>
        <p:nvSpPr>
          <p:cNvPr id="18" name="Text 16"/>
          <p:cNvSpPr/>
          <p:nvPr/>
        </p:nvSpPr>
        <p:spPr>
          <a:xfrm>
            <a:off x="3291840" y="1554480"/>
            <a:ext cx="246888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Malgun Gothic" pitchFamily="34" charset="0"/>
                <a:ea typeface="Malgun Gothic" pitchFamily="34" charset="-122"/>
                <a:cs typeface="Malgun Gothic" pitchFamily="34" charset="-120"/>
              </a:rPr>
              <a:t>정제 + 조인</a:t>
            </a:r>
            <a:endParaRPr lang="en-US" sz="1300" dirty="0"/>
          </a:p>
        </p:txBody>
      </p:sp>
      <p:sp>
        <p:nvSpPr>
          <p:cNvPr id="19" name="Text 17"/>
          <p:cNvSpPr/>
          <p:nvPr/>
        </p:nvSpPr>
        <p:spPr>
          <a:xfrm>
            <a:off x="3291840" y="1856232"/>
            <a:ext cx="2468880" cy="256032"/>
          </a:xfrm>
          <a:prstGeom prst="rect">
            <a:avLst/>
          </a:prstGeom>
          <a:noFill/>
          <a:ln/>
        </p:spPr>
        <p:txBody>
          <a:bodyPr wrap="square" lIns="0" tIns="0" rIns="0" bIns="0" rtlCol="0" anchor="ctr"/>
          <a:lstStyle/>
          <a:p>
            <a:pPr algn="ctr" indent="0" marL="0">
              <a:buNone/>
            </a:pPr>
            <a:r>
              <a:rPr lang="en-US" sz="1000" i="1" dirty="0">
                <a:solidFill>
                  <a:srgbClr val="78909C"/>
                </a:solidFill>
                <a:latin typeface="Malgun Gothic" pitchFamily="34" charset="0"/>
                <a:ea typeface="Malgun Gothic" pitchFamily="34" charset="-122"/>
                <a:cs typeface="Malgun Gothic" pitchFamily="34" charset="-120"/>
              </a:rPr>
              <a:t>cleaned + joined</a:t>
            </a:r>
            <a:endParaRPr lang="en-US" sz="1000" dirty="0"/>
          </a:p>
        </p:txBody>
      </p:sp>
      <p:sp>
        <p:nvSpPr>
          <p:cNvPr id="20" name="Shape 18"/>
          <p:cNvSpPr/>
          <p:nvPr/>
        </p:nvSpPr>
        <p:spPr>
          <a:xfrm>
            <a:off x="3337560" y="2212848"/>
            <a:ext cx="2377440" cy="1417320"/>
          </a:xfrm>
          <a:prstGeom prst="rect">
            <a:avLst/>
          </a:prstGeom>
          <a:solidFill>
            <a:srgbClr val="FAFAFA"/>
          </a:solidFill>
          <a:ln w="6350">
            <a:solidFill>
              <a:srgbClr val="9E9E9E"/>
            </a:solidFill>
            <a:prstDash val="solid"/>
          </a:ln>
        </p:spPr>
      </p:sp>
      <p:sp>
        <p:nvSpPr>
          <p:cNvPr id="21" name="Text 19"/>
          <p:cNvSpPr/>
          <p:nvPr/>
        </p:nvSpPr>
        <p:spPr>
          <a:xfrm>
            <a:off x="3429000" y="2286000"/>
            <a:ext cx="2194560" cy="1280160"/>
          </a:xfrm>
          <a:prstGeom prst="rect">
            <a:avLst/>
          </a:prstGeom>
          <a:noFill/>
          <a:ln/>
        </p:spPr>
        <p:txBody>
          <a:bodyPr wrap="square" lIns="0" tIns="0" rIns="0" bIns="0" rtlCol="0" anchor="t"/>
          <a:lstStyle/>
          <a:p>
            <a:pPr indent="0" marL="0">
              <a:buNone/>
            </a:pPr>
            <a:r>
              <a:rPr lang="en-US" sz="1000" dirty="0">
                <a:solidFill>
                  <a:srgbClr val="37474F"/>
                </a:solidFill>
                <a:latin typeface="Consolas" pitchFamily="34" charset="0"/>
                <a:ea typeface="Consolas" pitchFamily="34" charset="-122"/>
                <a:cs typeface="Consolas" pitchFamily="34" charset="-120"/>
              </a:rPr>
              <a:t>flight_features</a:t>
            </a:r>
            <a:endParaRPr lang="en-US" sz="1000" dirty="0"/>
          </a:p>
          <a:p>
            <a:pPr indent="0" marL="0">
              <a:buNone/>
            </a:pPr>
            <a:r>
              <a:rPr lang="en-US" sz="1000" dirty="0">
                <a:solidFill>
                  <a:srgbClr val="37474F"/>
                </a:solidFill>
                <a:latin typeface="Consolas" pitchFamily="34" charset="0"/>
                <a:ea typeface="Consolas" pitchFamily="34" charset="-122"/>
                <a:cs typeface="Consolas" pitchFamily="34" charset="-120"/>
              </a:rPr>
              <a:t>aircraft_phase</a:t>
            </a:r>
            <a:endParaRPr lang="en-US" sz="1000" dirty="0"/>
          </a:p>
          <a:p>
            <a:pPr indent="0" marL="0">
              <a:buNone/>
            </a:pPr>
            <a:r>
              <a:rPr lang="en-US" sz="1000" dirty="0">
                <a:solidFill>
                  <a:srgbClr val="37474F"/>
                </a:solidFill>
                <a:latin typeface="Consolas" pitchFamily="34" charset="0"/>
                <a:ea typeface="Consolas" pitchFamily="34" charset="-122"/>
                <a:cs typeface="Consolas" pitchFamily="34" charset="-120"/>
              </a:rPr>
              <a:t>airport_context</a:t>
            </a:r>
            <a:endParaRPr lang="en-US" sz="1000" dirty="0"/>
          </a:p>
        </p:txBody>
      </p:sp>
      <p:sp>
        <p:nvSpPr>
          <p:cNvPr id="22" name="Text 20"/>
          <p:cNvSpPr/>
          <p:nvPr/>
        </p:nvSpPr>
        <p:spPr>
          <a:xfrm>
            <a:off x="5852160" y="1005840"/>
            <a:ext cx="274320" cy="2743200"/>
          </a:xfrm>
          <a:prstGeom prst="rect">
            <a:avLst/>
          </a:prstGeom>
          <a:noFill/>
          <a:ln/>
        </p:spPr>
        <p:txBody>
          <a:bodyPr wrap="square" lIns="0" tIns="0" rIns="0" bIns="0" rtlCol="0" anchor="ctr"/>
          <a:lstStyle/>
          <a:p>
            <a:pPr algn="ctr" indent="0" marL="0">
              <a:buNone/>
            </a:pPr>
            <a:r>
              <a:rPr lang="en-US" sz="2400" b="1" dirty="0">
                <a:solidFill>
                  <a:srgbClr val="FFB300"/>
                </a:solidFill>
              </a:rPr>
              <a:t>→</a:t>
            </a:r>
            <a:endParaRPr lang="en-US" sz="2400" dirty="0"/>
          </a:p>
        </p:txBody>
      </p:sp>
      <p:sp>
        <p:nvSpPr>
          <p:cNvPr id="23" name="Shape 21"/>
          <p:cNvSpPr/>
          <p:nvPr/>
        </p:nvSpPr>
        <p:spPr>
          <a:xfrm>
            <a:off x="5943600" y="1005840"/>
            <a:ext cx="2651760" cy="2743200"/>
          </a:xfrm>
          <a:prstGeom prst="roundRect">
            <a:avLst>
              <a:gd name="adj" fmla="val 3448"/>
            </a:avLst>
          </a:prstGeom>
          <a:solidFill>
            <a:srgbClr val="FFFFFF"/>
          </a:solidFill>
          <a:ln w="25400">
            <a:solidFill>
              <a:srgbClr val="FFB300"/>
            </a:solidFill>
            <a:prstDash val="solid"/>
          </a:ln>
        </p:spPr>
      </p:sp>
      <p:sp>
        <p:nvSpPr>
          <p:cNvPr id="24" name="Shape 22"/>
          <p:cNvSpPr/>
          <p:nvPr/>
        </p:nvSpPr>
        <p:spPr>
          <a:xfrm>
            <a:off x="5943600" y="1005840"/>
            <a:ext cx="2651760" cy="457200"/>
          </a:xfrm>
          <a:prstGeom prst="rect">
            <a:avLst/>
          </a:prstGeom>
          <a:solidFill>
            <a:srgbClr val="FFB300"/>
          </a:solidFill>
          <a:ln w="12700">
            <a:solidFill>
              <a:srgbClr val="FFB300"/>
            </a:solidFill>
            <a:prstDash val="solid"/>
          </a:ln>
        </p:spPr>
      </p:sp>
      <p:sp>
        <p:nvSpPr>
          <p:cNvPr id="25" name="Text 23"/>
          <p:cNvSpPr/>
          <p:nvPr/>
        </p:nvSpPr>
        <p:spPr>
          <a:xfrm>
            <a:off x="5943600" y="1005840"/>
            <a:ext cx="26517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Gold  🥇</a:t>
            </a:r>
            <a:endParaRPr lang="en-US" sz="1600" dirty="0"/>
          </a:p>
        </p:txBody>
      </p:sp>
      <p:sp>
        <p:nvSpPr>
          <p:cNvPr id="26" name="Text 24"/>
          <p:cNvSpPr/>
          <p:nvPr/>
        </p:nvSpPr>
        <p:spPr>
          <a:xfrm>
            <a:off x="6035040" y="1554480"/>
            <a:ext cx="246888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Malgun Gothic" pitchFamily="34" charset="0"/>
                <a:ea typeface="Malgun Gothic" pitchFamily="34" charset="-122"/>
                <a:cs typeface="Malgun Gothic" pitchFamily="34" charset="-120"/>
              </a:rPr>
              <a:t>모델 소비용 + 감사</a:t>
            </a:r>
            <a:endParaRPr lang="en-US" sz="1300" dirty="0"/>
          </a:p>
        </p:txBody>
      </p:sp>
      <p:sp>
        <p:nvSpPr>
          <p:cNvPr id="27" name="Text 25"/>
          <p:cNvSpPr/>
          <p:nvPr/>
        </p:nvSpPr>
        <p:spPr>
          <a:xfrm>
            <a:off x="6035040" y="1856232"/>
            <a:ext cx="2468880" cy="256032"/>
          </a:xfrm>
          <a:prstGeom prst="rect">
            <a:avLst/>
          </a:prstGeom>
          <a:noFill/>
          <a:ln/>
        </p:spPr>
        <p:txBody>
          <a:bodyPr wrap="square" lIns="0" tIns="0" rIns="0" bIns="0" rtlCol="0" anchor="ctr"/>
          <a:lstStyle/>
          <a:p>
            <a:pPr algn="ctr" indent="0" marL="0">
              <a:buNone/>
            </a:pPr>
            <a:r>
              <a:rPr lang="en-US" sz="1000" i="1" dirty="0">
                <a:solidFill>
                  <a:srgbClr val="78909C"/>
                </a:solidFill>
                <a:latin typeface="Malgun Gothic" pitchFamily="34" charset="0"/>
                <a:ea typeface="Malgun Gothic" pitchFamily="34" charset="-122"/>
                <a:cs typeface="Malgun Gothic" pitchFamily="34" charset="-120"/>
              </a:rPr>
              <a:t>model-ready + audit</a:t>
            </a:r>
            <a:endParaRPr lang="en-US" sz="1000" dirty="0"/>
          </a:p>
        </p:txBody>
      </p:sp>
      <p:sp>
        <p:nvSpPr>
          <p:cNvPr id="28" name="Shape 26"/>
          <p:cNvSpPr/>
          <p:nvPr/>
        </p:nvSpPr>
        <p:spPr>
          <a:xfrm>
            <a:off x="6080760" y="2212848"/>
            <a:ext cx="2377440" cy="1417320"/>
          </a:xfrm>
          <a:prstGeom prst="rect">
            <a:avLst/>
          </a:prstGeom>
          <a:solidFill>
            <a:srgbClr val="FAFAFA"/>
          </a:solidFill>
          <a:ln w="6350">
            <a:solidFill>
              <a:srgbClr val="FFB300"/>
            </a:solidFill>
            <a:prstDash val="solid"/>
          </a:ln>
        </p:spPr>
      </p:sp>
      <p:sp>
        <p:nvSpPr>
          <p:cNvPr id="29" name="Text 27"/>
          <p:cNvSpPr/>
          <p:nvPr/>
        </p:nvSpPr>
        <p:spPr>
          <a:xfrm>
            <a:off x="6172200" y="2286000"/>
            <a:ext cx="2194560" cy="1280160"/>
          </a:xfrm>
          <a:prstGeom prst="rect">
            <a:avLst/>
          </a:prstGeom>
          <a:noFill/>
          <a:ln/>
        </p:spPr>
        <p:txBody>
          <a:bodyPr wrap="square" lIns="0" tIns="0" rIns="0" bIns="0" rtlCol="0" anchor="t"/>
          <a:lstStyle/>
          <a:p>
            <a:pPr indent="0" marL="0">
              <a:buNone/>
            </a:pPr>
            <a:r>
              <a:rPr lang="en-US" sz="1000" dirty="0">
                <a:solidFill>
                  <a:srgbClr val="37474F"/>
                </a:solidFill>
                <a:latin typeface="Consolas" pitchFamily="34" charset="0"/>
                <a:ea typeface="Consolas" pitchFamily="34" charset="-122"/>
                <a:cs typeface="Consolas" pitchFamily="34" charset="-120"/>
              </a:rPr>
              <a:t>delay_train_split</a:t>
            </a:r>
            <a:endParaRPr lang="en-US" sz="1000" dirty="0"/>
          </a:p>
          <a:p>
            <a:pPr indent="0" marL="0">
              <a:buNone/>
            </a:pPr>
            <a:r>
              <a:rPr lang="en-US" sz="1000" dirty="0">
                <a:solidFill>
                  <a:srgbClr val="37474F"/>
                </a:solidFill>
                <a:latin typeface="Consolas" pitchFamily="34" charset="0"/>
                <a:ea typeface="Consolas" pitchFamily="34" charset="-122"/>
                <a:cs typeface="Consolas" pitchFamily="34" charset="-120"/>
              </a:rPr>
              <a:t>inference_log</a:t>
            </a:r>
            <a:endParaRPr lang="en-US" sz="1000" dirty="0"/>
          </a:p>
          <a:p>
            <a:pPr indent="0" marL="0">
              <a:buNone/>
            </a:pPr>
            <a:r>
              <a:rPr lang="en-US" sz="1000" dirty="0">
                <a:solidFill>
                  <a:srgbClr val="37474F"/>
                </a:solidFill>
                <a:latin typeface="Consolas" pitchFamily="34" charset="0"/>
                <a:ea typeface="Consolas" pitchFamily="34" charset="-122"/>
                <a:cs typeface="Consolas" pitchFamily="34" charset="-120"/>
              </a:rPr>
              <a:t>anomaly_decisions</a:t>
            </a:r>
            <a:endParaRPr lang="en-US" sz="1000" dirty="0"/>
          </a:p>
        </p:txBody>
      </p:sp>
      <p:sp>
        <p:nvSpPr>
          <p:cNvPr id="30" name="Shape 28"/>
          <p:cNvSpPr/>
          <p:nvPr/>
        </p:nvSpPr>
        <p:spPr>
          <a:xfrm>
            <a:off x="457200" y="3840480"/>
            <a:ext cx="8138160" cy="777240"/>
          </a:xfrm>
          <a:prstGeom prst="roundRect">
            <a:avLst>
              <a:gd name="adj" fmla="val 9412"/>
            </a:avLst>
          </a:prstGeom>
          <a:solidFill>
            <a:srgbClr val="0B1F3A"/>
          </a:solidFill>
          <a:ln w="12700">
            <a:solidFill>
              <a:srgbClr val="0B1F3A"/>
            </a:solidFill>
            <a:prstDash val="solid"/>
          </a:ln>
        </p:spPr>
      </p:sp>
      <p:sp>
        <p:nvSpPr>
          <p:cNvPr id="31" name="Text 29"/>
          <p:cNvSpPr/>
          <p:nvPr/>
        </p:nvSpPr>
        <p:spPr>
          <a:xfrm>
            <a:off x="640080" y="3931920"/>
            <a:ext cx="7863840" cy="640080"/>
          </a:xfrm>
          <a:prstGeom prst="rect">
            <a:avLst/>
          </a:prstGeom>
          <a:noFill/>
          <a:ln/>
        </p:spPr>
        <p:txBody>
          <a:bodyPr wrap="square" lIns="0" tIns="0" rIns="0" bIns="0" rtlCol="0" anchor="ctr"/>
          <a:lstStyle/>
          <a:p>
            <a:pPr indent="0" marL="0">
              <a:buNone/>
            </a:pPr>
            <a:r>
              <a:rPr lang="en-US" sz="1100" b="1" dirty="0">
                <a:solidFill>
                  <a:srgbClr val="FFB300"/>
                </a:solidFill>
                <a:latin typeface="Malgun Gothic" pitchFamily="34" charset="0"/>
                <a:ea typeface="Malgun Gothic" pitchFamily="34" charset="-122"/>
                <a:cs typeface="Malgun Gothic" pitchFamily="34" charset="-120"/>
              </a:rPr>
              <a:t>🔑 왜 3 계층? </a:t>
            </a:r>
            <a:pPr indent="0" marL="0">
              <a:buNone/>
            </a:pPr>
            <a:r>
              <a:rPr lang="en-US" sz="1000" dirty="0">
                <a:solidFill>
                  <a:srgbClr val="FFFFFF"/>
                </a:solidFill>
                <a:latin typeface="Malgun Gothic" pitchFamily="34" charset="0"/>
                <a:ea typeface="Malgun Gothic" pitchFamily="34" charset="-122"/>
                <a:cs typeface="Malgun Gothic" pitchFamily="34" charset="-120"/>
              </a:rPr>
              <a:t>ACID + schema evolution + time travel · 사고 시 '어디에서 틀어졌나' 추적 가능
</a:t>
            </a:r>
            <a:pPr indent="0" marL="0">
              <a:buNone/>
            </a:pPr>
            <a:r>
              <a:rPr lang="en-US" sz="1000" b="1" i="1" dirty="0">
                <a:solidFill>
                  <a:srgbClr val="FFB300"/>
                </a:solidFill>
                <a:latin typeface="Malgun Gothic" pitchFamily="34" charset="0"/>
                <a:ea typeface="Malgun Gothic" pitchFamily="34" charset="-122"/>
                <a:cs typeface="Malgun Gothic" pitchFamily="34" charset="-120"/>
              </a:rPr>
              <a:t>Why 3 layers? </a:t>
            </a:r>
            <a:pPr indent="0" marL="0">
              <a:buNone/>
            </a:pPr>
            <a:r>
              <a:rPr lang="en-US" sz="900" i="1" dirty="0">
                <a:solidFill>
                  <a:srgbClr val="E3F2FD"/>
                </a:solidFill>
                <a:latin typeface="Malgun Gothic" pitchFamily="34" charset="0"/>
                <a:ea typeface="Malgun Gothic" pitchFamily="34" charset="-122"/>
                <a:cs typeface="Malgun Gothic" pitchFamily="34" charset="-120"/>
              </a:rPr>
              <a:t>Full reproducibility — ACID transactions + schema evolution + time-travel for incident forensics.</a:t>
            </a:r>
            <a:endParaRPr lang="en-US" sz="1100" dirty="0"/>
          </a:p>
        </p:txBody>
      </p:sp>
      <p:sp>
        <p:nvSpPr>
          <p:cNvPr id="32" name="Shape 30"/>
          <p:cNvSpPr/>
          <p:nvPr/>
        </p:nvSpPr>
        <p:spPr>
          <a:xfrm>
            <a:off x="0" y="4892040"/>
            <a:ext cx="9144000" cy="256032"/>
          </a:xfrm>
          <a:prstGeom prst="rect">
            <a:avLst/>
          </a:prstGeom>
          <a:solidFill>
            <a:srgbClr val="0B1F3A"/>
          </a:solidFill>
          <a:ln w="12700">
            <a:solidFill>
              <a:srgbClr val="0B1F3A"/>
            </a:solidFill>
            <a:prstDash val="solid"/>
          </a:ln>
        </p:spPr>
      </p:sp>
      <p:sp>
        <p:nvSpPr>
          <p:cNvPr id="33" name="Text 31"/>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4" name="Text 32"/>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18 / 30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06 · APPLICATIONS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이 데이터로 만들 수 있는 것들</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What can you build with aviation data?</a:t>
            </a:r>
            <a:endParaRPr lang="en-US" sz="1050" dirty="0"/>
          </a:p>
        </p:txBody>
      </p:sp>
      <p:sp>
        <p:nvSpPr>
          <p:cNvPr id="7" name="Shape 5"/>
          <p:cNvSpPr/>
          <p:nvPr/>
        </p:nvSpPr>
        <p:spPr>
          <a:xfrm>
            <a:off x="457200" y="1005840"/>
            <a:ext cx="1920240" cy="1600200"/>
          </a:xfrm>
          <a:prstGeom prst="roundRect">
            <a:avLst>
              <a:gd name="adj" fmla="val 5714"/>
            </a:avLst>
          </a:prstGeom>
          <a:solidFill>
            <a:srgbClr val="FFFFFF"/>
          </a:solidFill>
          <a:ln w="38100">
            <a:solidFill>
              <a:srgbClr val="1E88E5"/>
            </a:solidFill>
            <a:prstDash val="solid"/>
          </a:ln>
        </p:spPr>
      </p:sp>
      <p:sp>
        <p:nvSpPr>
          <p:cNvPr id="8" name="Shape 6"/>
          <p:cNvSpPr/>
          <p:nvPr/>
        </p:nvSpPr>
        <p:spPr>
          <a:xfrm>
            <a:off x="1691640" y="1051560"/>
            <a:ext cx="640080" cy="274320"/>
          </a:xfrm>
          <a:prstGeom prst="roundRect">
            <a:avLst>
              <a:gd name="adj" fmla="val 50000"/>
            </a:avLst>
          </a:prstGeom>
          <a:solidFill>
            <a:srgbClr val="1E88E5"/>
          </a:solidFill>
          <a:ln w="12700">
            <a:solidFill>
              <a:srgbClr val="1E88E5"/>
            </a:solidFill>
            <a:prstDash val="solid"/>
          </a:ln>
        </p:spPr>
      </p:sp>
      <p:sp>
        <p:nvSpPr>
          <p:cNvPr id="9" name="Text 7"/>
          <p:cNvSpPr/>
          <p:nvPr/>
        </p:nvSpPr>
        <p:spPr>
          <a:xfrm>
            <a:off x="1691640" y="1051560"/>
            <a:ext cx="6400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OURS</a:t>
            </a:r>
            <a:endParaRPr lang="en-US" sz="850" dirty="0"/>
          </a:p>
        </p:txBody>
      </p:sp>
      <p:sp>
        <p:nvSpPr>
          <p:cNvPr id="10" name="Text 8"/>
          <p:cNvSpPr/>
          <p:nvPr/>
        </p:nvSpPr>
        <p:spPr>
          <a:xfrm>
            <a:off x="457200" y="1188720"/>
            <a:ext cx="1920240" cy="64008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11" name="Text 9"/>
          <p:cNvSpPr/>
          <p:nvPr/>
        </p:nvSpPr>
        <p:spPr>
          <a:xfrm>
            <a:off x="457200" y="187452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지연 예측</a:t>
            </a:r>
            <a:endParaRPr lang="en-US" sz="1200" dirty="0"/>
          </a:p>
        </p:txBody>
      </p:sp>
      <p:sp>
        <p:nvSpPr>
          <p:cNvPr id="12" name="Text 10"/>
          <p:cNvSpPr/>
          <p:nvPr/>
        </p:nvSpPr>
        <p:spPr>
          <a:xfrm>
            <a:off x="457200" y="2194560"/>
            <a:ext cx="1920240" cy="274320"/>
          </a:xfrm>
          <a:prstGeom prst="rect">
            <a:avLst/>
          </a:prstGeom>
          <a:noFill/>
          <a:ln/>
        </p:spPr>
        <p:txBody>
          <a:bodyPr wrap="square" lIns="0" tIns="0" rIns="0" bIns="0" rtlCol="0" anchor="ctr"/>
          <a:lstStyle/>
          <a:p>
            <a:pPr algn="ctr" indent="0" marL="0">
              <a:buNone/>
            </a:pPr>
            <a:r>
              <a:rPr lang="en-US" sz="950" i="1" dirty="0">
                <a:solidFill>
                  <a:srgbClr val="1E88E5"/>
                </a:solidFill>
                <a:latin typeface="Malgun Gothic" pitchFamily="34" charset="0"/>
                <a:ea typeface="Malgun Gothic" pitchFamily="34" charset="-122"/>
                <a:cs typeface="Malgun Gothic" pitchFamily="34" charset="-120"/>
              </a:rPr>
              <a:t>Delay prediction</a:t>
            </a:r>
            <a:endParaRPr lang="en-US" sz="950" dirty="0"/>
          </a:p>
        </p:txBody>
      </p:sp>
      <p:sp>
        <p:nvSpPr>
          <p:cNvPr id="13" name="Shape 11"/>
          <p:cNvSpPr/>
          <p:nvPr/>
        </p:nvSpPr>
        <p:spPr>
          <a:xfrm>
            <a:off x="2514600" y="1005840"/>
            <a:ext cx="1920240" cy="1600200"/>
          </a:xfrm>
          <a:prstGeom prst="roundRect">
            <a:avLst>
              <a:gd name="adj" fmla="val 5714"/>
            </a:avLst>
          </a:prstGeom>
          <a:solidFill>
            <a:srgbClr val="FFFFFF"/>
          </a:solidFill>
          <a:ln w="15240">
            <a:solidFill>
              <a:srgbClr val="FFB300"/>
            </a:solidFill>
            <a:prstDash val="solid"/>
          </a:ln>
        </p:spPr>
      </p:sp>
      <p:sp>
        <p:nvSpPr>
          <p:cNvPr id="14" name="Text 12"/>
          <p:cNvSpPr/>
          <p:nvPr/>
        </p:nvSpPr>
        <p:spPr>
          <a:xfrm>
            <a:off x="2514600" y="1188720"/>
            <a:ext cx="1920240" cy="64008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15" name="Text 13"/>
          <p:cNvSpPr/>
          <p:nvPr/>
        </p:nvSpPr>
        <p:spPr>
          <a:xfrm>
            <a:off x="2514600" y="187452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항공권 가격 예측</a:t>
            </a:r>
            <a:endParaRPr lang="en-US" sz="1200" dirty="0"/>
          </a:p>
        </p:txBody>
      </p:sp>
      <p:sp>
        <p:nvSpPr>
          <p:cNvPr id="16" name="Text 14"/>
          <p:cNvSpPr/>
          <p:nvPr/>
        </p:nvSpPr>
        <p:spPr>
          <a:xfrm>
            <a:off x="2514600" y="2194560"/>
            <a:ext cx="1920240" cy="274320"/>
          </a:xfrm>
          <a:prstGeom prst="rect">
            <a:avLst/>
          </a:prstGeom>
          <a:noFill/>
          <a:ln/>
        </p:spPr>
        <p:txBody>
          <a:bodyPr wrap="square" lIns="0" tIns="0" rIns="0" bIns="0" rtlCol="0" anchor="ctr"/>
          <a:lstStyle/>
          <a:p>
            <a:pPr algn="ctr" indent="0" marL="0">
              <a:buNone/>
            </a:pPr>
            <a:r>
              <a:rPr lang="en-US" sz="950" i="1" dirty="0">
                <a:solidFill>
                  <a:srgbClr val="FFB300"/>
                </a:solidFill>
                <a:latin typeface="Malgun Gothic" pitchFamily="34" charset="0"/>
                <a:ea typeface="Malgun Gothic" pitchFamily="34" charset="-122"/>
                <a:cs typeface="Malgun Gothic" pitchFamily="34" charset="-120"/>
              </a:rPr>
              <a:t>Ticket price forecast</a:t>
            </a:r>
            <a:endParaRPr lang="en-US" sz="950" dirty="0"/>
          </a:p>
        </p:txBody>
      </p:sp>
      <p:sp>
        <p:nvSpPr>
          <p:cNvPr id="17" name="Shape 15"/>
          <p:cNvSpPr/>
          <p:nvPr/>
        </p:nvSpPr>
        <p:spPr>
          <a:xfrm>
            <a:off x="4572000" y="1005840"/>
            <a:ext cx="1920240" cy="1600200"/>
          </a:xfrm>
          <a:prstGeom prst="roundRect">
            <a:avLst>
              <a:gd name="adj" fmla="val 5714"/>
            </a:avLst>
          </a:prstGeom>
          <a:solidFill>
            <a:srgbClr val="FFFFFF"/>
          </a:solidFill>
          <a:ln w="15240">
            <a:solidFill>
              <a:srgbClr val="00897B"/>
            </a:solidFill>
            <a:prstDash val="solid"/>
          </a:ln>
        </p:spPr>
      </p:sp>
      <p:sp>
        <p:nvSpPr>
          <p:cNvPr id="18" name="Text 16"/>
          <p:cNvSpPr/>
          <p:nvPr/>
        </p:nvSpPr>
        <p:spPr>
          <a:xfrm>
            <a:off x="4572000" y="1188720"/>
            <a:ext cx="1920240" cy="64008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19" name="Text 17"/>
          <p:cNvSpPr/>
          <p:nvPr/>
        </p:nvSpPr>
        <p:spPr>
          <a:xfrm>
            <a:off x="4572000" y="187452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공항 혼잡도 예측</a:t>
            </a:r>
            <a:endParaRPr lang="en-US" sz="1200" dirty="0"/>
          </a:p>
        </p:txBody>
      </p:sp>
      <p:sp>
        <p:nvSpPr>
          <p:cNvPr id="20" name="Text 18"/>
          <p:cNvSpPr/>
          <p:nvPr/>
        </p:nvSpPr>
        <p:spPr>
          <a:xfrm>
            <a:off x="4572000" y="2194560"/>
            <a:ext cx="1920240" cy="274320"/>
          </a:xfrm>
          <a:prstGeom prst="rect">
            <a:avLst/>
          </a:prstGeom>
          <a:noFill/>
          <a:ln/>
        </p:spPr>
        <p:txBody>
          <a:bodyPr wrap="square" lIns="0" tIns="0" rIns="0" bIns="0" rtlCol="0" anchor="ctr"/>
          <a:lstStyle/>
          <a:p>
            <a:pPr algn="ctr" indent="0" marL="0">
              <a:buNone/>
            </a:pPr>
            <a:r>
              <a:rPr lang="en-US" sz="950" i="1" dirty="0">
                <a:solidFill>
                  <a:srgbClr val="00897B"/>
                </a:solidFill>
                <a:latin typeface="Malgun Gothic" pitchFamily="34" charset="0"/>
                <a:ea typeface="Malgun Gothic" pitchFamily="34" charset="-122"/>
                <a:cs typeface="Malgun Gothic" pitchFamily="34" charset="-120"/>
              </a:rPr>
              <a:t>Airport congestion</a:t>
            </a:r>
            <a:endParaRPr lang="en-US" sz="950" dirty="0"/>
          </a:p>
        </p:txBody>
      </p:sp>
      <p:sp>
        <p:nvSpPr>
          <p:cNvPr id="21" name="Shape 19"/>
          <p:cNvSpPr/>
          <p:nvPr/>
        </p:nvSpPr>
        <p:spPr>
          <a:xfrm>
            <a:off x="6629400" y="1005840"/>
            <a:ext cx="1920240" cy="1600200"/>
          </a:xfrm>
          <a:prstGeom prst="roundRect">
            <a:avLst>
              <a:gd name="adj" fmla="val 5714"/>
            </a:avLst>
          </a:prstGeom>
          <a:solidFill>
            <a:srgbClr val="FFFFFF"/>
          </a:solidFill>
          <a:ln w="15240">
            <a:solidFill>
              <a:srgbClr val="43A047"/>
            </a:solidFill>
            <a:prstDash val="solid"/>
          </a:ln>
        </p:spPr>
      </p:sp>
      <p:sp>
        <p:nvSpPr>
          <p:cNvPr id="22" name="Text 20"/>
          <p:cNvSpPr/>
          <p:nvPr/>
        </p:nvSpPr>
        <p:spPr>
          <a:xfrm>
            <a:off x="6629400" y="1188720"/>
            <a:ext cx="1920240" cy="64008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23" name="Text 21"/>
          <p:cNvSpPr/>
          <p:nvPr/>
        </p:nvSpPr>
        <p:spPr>
          <a:xfrm>
            <a:off x="6629400" y="187452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연료 소비 최적화</a:t>
            </a:r>
            <a:endParaRPr lang="en-US" sz="1200" dirty="0"/>
          </a:p>
        </p:txBody>
      </p:sp>
      <p:sp>
        <p:nvSpPr>
          <p:cNvPr id="24" name="Text 22"/>
          <p:cNvSpPr/>
          <p:nvPr/>
        </p:nvSpPr>
        <p:spPr>
          <a:xfrm>
            <a:off x="6629400" y="2194560"/>
            <a:ext cx="1920240" cy="274320"/>
          </a:xfrm>
          <a:prstGeom prst="rect">
            <a:avLst/>
          </a:prstGeom>
          <a:noFill/>
          <a:ln/>
        </p:spPr>
        <p:txBody>
          <a:bodyPr wrap="square" lIns="0" tIns="0" rIns="0" bIns="0" rtlCol="0" anchor="ctr"/>
          <a:lstStyle/>
          <a:p>
            <a:pPr algn="ctr" indent="0" marL="0">
              <a:buNone/>
            </a:pPr>
            <a:r>
              <a:rPr lang="en-US" sz="950" i="1" dirty="0">
                <a:solidFill>
                  <a:srgbClr val="43A047"/>
                </a:solidFill>
                <a:latin typeface="Malgun Gothic" pitchFamily="34" charset="0"/>
                <a:ea typeface="Malgun Gothic" pitchFamily="34" charset="-122"/>
                <a:cs typeface="Malgun Gothic" pitchFamily="34" charset="-120"/>
              </a:rPr>
              <a:t>Fuel efficiency</a:t>
            </a:r>
            <a:endParaRPr lang="en-US" sz="950" dirty="0"/>
          </a:p>
        </p:txBody>
      </p:sp>
      <p:sp>
        <p:nvSpPr>
          <p:cNvPr id="25" name="Shape 23"/>
          <p:cNvSpPr/>
          <p:nvPr/>
        </p:nvSpPr>
        <p:spPr>
          <a:xfrm>
            <a:off x="457200" y="2743200"/>
            <a:ext cx="1920240" cy="1600200"/>
          </a:xfrm>
          <a:prstGeom prst="roundRect">
            <a:avLst>
              <a:gd name="adj" fmla="val 5714"/>
            </a:avLst>
          </a:prstGeom>
          <a:solidFill>
            <a:srgbClr val="FFFFFF"/>
          </a:solidFill>
          <a:ln w="15240">
            <a:solidFill>
              <a:srgbClr val="8E24AA"/>
            </a:solidFill>
            <a:prstDash val="solid"/>
          </a:ln>
        </p:spPr>
      </p:sp>
      <p:sp>
        <p:nvSpPr>
          <p:cNvPr id="26" name="Text 24"/>
          <p:cNvSpPr/>
          <p:nvPr/>
        </p:nvSpPr>
        <p:spPr>
          <a:xfrm>
            <a:off x="457200" y="2926080"/>
            <a:ext cx="1920240" cy="64008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27" name="Text 25"/>
          <p:cNvSpPr/>
          <p:nvPr/>
        </p:nvSpPr>
        <p:spPr>
          <a:xfrm>
            <a:off x="457200" y="361188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운항 경로 최적화</a:t>
            </a:r>
            <a:endParaRPr lang="en-US" sz="1200" dirty="0"/>
          </a:p>
        </p:txBody>
      </p:sp>
      <p:sp>
        <p:nvSpPr>
          <p:cNvPr id="28" name="Text 26"/>
          <p:cNvSpPr/>
          <p:nvPr/>
        </p:nvSpPr>
        <p:spPr>
          <a:xfrm>
            <a:off x="457200" y="3931920"/>
            <a:ext cx="1920240" cy="274320"/>
          </a:xfrm>
          <a:prstGeom prst="rect">
            <a:avLst/>
          </a:prstGeom>
          <a:noFill/>
          <a:ln/>
        </p:spPr>
        <p:txBody>
          <a:bodyPr wrap="square" lIns="0" tIns="0" rIns="0" bIns="0" rtlCol="0" anchor="ctr"/>
          <a:lstStyle/>
          <a:p>
            <a:pPr algn="ctr" indent="0" marL="0">
              <a:buNone/>
            </a:pPr>
            <a:r>
              <a:rPr lang="en-US" sz="950" i="1" dirty="0">
                <a:solidFill>
                  <a:srgbClr val="8E24AA"/>
                </a:solidFill>
                <a:latin typeface="Malgun Gothic" pitchFamily="34" charset="0"/>
                <a:ea typeface="Malgun Gothic" pitchFamily="34" charset="-122"/>
                <a:cs typeface="Malgun Gothic" pitchFamily="34" charset="-120"/>
              </a:rPr>
              <a:t>Route optimization</a:t>
            </a:r>
            <a:endParaRPr lang="en-US" sz="950" dirty="0"/>
          </a:p>
        </p:txBody>
      </p:sp>
      <p:sp>
        <p:nvSpPr>
          <p:cNvPr id="29" name="Shape 27"/>
          <p:cNvSpPr/>
          <p:nvPr/>
        </p:nvSpPr>
        <p:spPr>
          <a:xfrm>
            <a:off x="2514600" y="2743200"/>
            <a:ext cx="1920240" cy="1600200"/>
          </a:xfrm>
          <a:prstGeom prst="roundRect">
            <a:avLst>
              <a:gd name="adj" fmla="val 5714"/>
            </a:avLst>
          </a:prstGeom>
          <a:solidFill>
            <a:srgbClr val="FFFFFF"/>
          </a:solidFill>
          <a:ln w="15240">
            <a:solidFill>
              <a:srgbClr val="F57C00"/>
            </a:solidFill>
            <a:prstDash val="solid"/>
          </a:ln>
        </p:spPr>
      </p:sp>
      <p:sp>
        <p:nvSpPr>
          <p:cNvPr id="30" name="Text 28"/>
          <p:cNvSpPr/>
          <p:nvPr/>
        </p:nvSpPr>
        <p:spPr>
          <a:xfrm>
            <a:off x="2514600" y="2926080"/>
            <a:ext cx="1920240" cy="64008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31" name="Text 29"/>
          <p:cNvSpPr/>
          <p:nvPr/>
        </p:nvSpPr>
        <p:spPr>
          <a:xfrm>
            <a:off x="2514600" y="361188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기상 영향 분석</a:t>
            </a:r>
            <a:endParaRPr lang="en-US" sz="1200" dirty="0"/>
          </a:p>
        </p:txBody>
      </p:sp>
      <p:sp>
        <p:nvSpPr>
          <p:cNvPr id="32" name="Text 30"/>
          <p:cNvSpPr/>
          <p:nvPr/>
        </p:nvSpPr>
        <p:spPr>
          <a:xfrm>
            <a:off x="2514600" y="3931920"/>
            <a:ext cx="1920240" cy="274320"/>
          </a:xfrm>
          <a:prstGeom prst="rect">
            <a:avLst/>
          </a:prstGeom>
          <a:noFill/>
          <a:ln/>
        </p:spPr>
        <p:txBody>
          <a:bodyPr wrap="square" lIns="0" tIns="0" rIns="0" bIns="0" rtlCol="0" anchor="ctr"/>
          <a:lstStyle/>
          <a:p>
            <a:pPr algn="ctr" indent="0" marL="0">
              <a:buNone/>
            </a:pPr>
            <a:r>
              <a:rPr lang="en-US" sz="950" i="1" dirty="0">
                <a:solidFill>
                  <a:srgbClr val="F57C00"/>
                </a:solidFill>
                <a:latin typeface="Malgun Gothic" pitchFamily="34" charset="0"/>
                <a:ea typeface="Malgun Gothic" pitchFamily="34" charset="-122"/>
                <a:cs typeface="Malgun Gothic" pitchFamily="34" charset="-120"/>
              </a:rPr>
              <a:t>Weather impact study</a:t>
            </a:r>
            <a:endParaRPr lang="en-US" sz="950" dirty="0"/>
          </a:p>
        </p:txBody>
      </p:sp>
      <p:sp>
        <p:nvSpPr>
          <p:cNvPr id="33" name="Shape 31"/>
          <p:cNvSpPr/>
          <p:nvPr/>
        </p:nvSpPr>
        <p:spPr>
          <a:xfrm>
            <a:off x="4572000" y="2743200"/>
            <a:ext cx="1920240" cy="1600200"/>
          </a:xfrm>
          <a:prstGeom prst="roundRect">
            <a:avLst>
              <a:gd name="adj" fmla="val 5714"/>
            </a:avLst>
          </a:prstGeom>
          <a:solidFill>
            <a:srgbClr val="FFFFFF"/>
          </a:solidFill>
          <a:ln w="38100">
            <a:solidFill>
              <a:srgbClr val="EF5350"/>
            </a:solidFill>
            <a:prstDash val="solid"/>
          </a:ln>
        </p:spPr>
      </p:sp>
      <p:sp>
        <p:nvSpPr>
          <p:cNvPr id="34" name="Shape 32"/>
          <p:cNvSpPr/>
          <p:nvPr/>
        </p:nvSpPr>
        <p:spPr>
          <a:xfrm>
            <a:off x="5806440" y="2788920"/>
            <a:ext cx="640080" cy="274320"/>
          </a:xfrm>
          <a:prstGeom prst="roundRect">
            <a:avLst>
              <a:gd name="adj" fmla="val 50000"/>
            </a:avLst>
          </a:prstGeom>
          <a:solidFill>
            <a:srgbClr val="EF5350"/>
          </a:solidFill>
          <a:ln w="12700">
            <a:solidFill>
              <a:srgbClr val="EF5350"/>
            </a:solidFill>
            <a:prstDash val="solid"/>
          </a:ln>
        </p:spPr>
      </p:sp>
      <p:sp>
        <p:nvSpPr>
          <p:cNvPr id="35" name="Text 33"/>
          <p:cNvSpPr/>
          <p:nvPr/>
        </p:nvSpPr>
        <p:spPr>
          <a:xfrm>
            <a:off x="5806440" y="2788920"/>
            <a:ext cx="6400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OURS</a:t>
            </a:r>
            <a:endParaRPr lang="en-US" sz="850" dirty="0"/>
          </a:p>
        </p:txBody>
      </p:sp>
      <p:sp>
        <p:nvSpPr>
          <p:cNvPr id="36" name="Text 34"/>
          <p:cNvSpPr/>
          <p:nvPr/>
        </p:nvSpPr>
        <p:spPr>
          <a:xfrm>
            <a:off x="4572000" y="2926080"/>
            <a:ext cx="1920240" cy="64008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37" name="Text 35"/>
          <p:cNvSpPr/>
          <p:nvPr/>
        </p:nvSpPr>
        <p:spPr>
          <a:xfrm>
            <a:off x="4572000" y="361188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이상 탐지</a:t>
            </a:r>
            <a:endParaRPr lang="en-US" sz="1200" dirty="0"/>
          </a:p>
        </p:txBody>
      </p:sp>
      <p:sp>
        <p:nvSpPr>
          <p:cNvPr id="38" name="Text 36"/>
          <p:cNvSpPr/>
          <p:nvPr/>
        </p:nvSpPr>
        <p:spPr>
          <a:xfrm>
            <a:off x="4572000" y="3931920"/>
            <a:ext cx="1920240" cy="274320"/>
          </a:xfrm>
          <a:prstGeom prst="rect">
            <a:avLst/>
          </a:prstGeom>
          <a:noFill/>
          <a:ln/>
        </p:spPr>
        <p:txBody>
          <a:bodyPr wrap="square" lIns="0" tIns="0" rIns="0" bIns="0" rtlCol="0" anchor="ctr"/>
          <a:lstStyle/>
          <a:p>
            <a:pPr algn="ctr" indent="0" marL="0">
              <a:buNone/>
            </a:pPr>
            <a:r>
              <a:rPr lang="en-US" sz="950" i="1" dirty="0">
                <a:solidFill>
                  <a:srgbClr val="EF5350"/>
                </a:solidFill>
                <a:latin typeface="Malgun Gothic" pitchFamily="34" charset="0"/>
                <a:ea typeface="Malgun Gothic" pitchFamily="34" charset="-122"/>
                <a:cs typeface="Malgun Gothic" pitchFamily="34" charset="-120"/>
              </a:rPr>
              <a:t>Anomaly detection</a:t>
            </a:r>
            <a:endParaRPr lang="en-US" sz="950" dirty="0"/>
          </a:p>
        </p:txBody>
      </p:sp>
      <p:sp>
        <p:nvSpPr>
          <p:cNvPr id="39" name="Shape 37"/>
          <p:cNvSpPr/>
          <p:nvPr/>
        </p:nvSpPr>
        <p:spPr>
          <a:xfrm>
            <a:off x="6629400" y="2743200"/>
            <a:ext cx="1920240" cy="1600200"/>
          </a:xfrm>
          <a:prstGeom prst="roundRect">
            <a:avLst>
              <a:gd name="adj" fmla="val 5714"/>
            </a:avLst>
          </a:prstGeom>
          <a:solidFill>
            <a:srgbClr val="FFFFFF"/>
          </a:solidFill>
          <a:ln w="15240">
            <a:solidFill>
              <a:srgbClr val="37474F"/>
            </a:solidFill>
            <a:prstDash val="solid"/>
          </a:ln>
        </p:spPr>
      </p:sp>
      <p:sp>
        <p:nvSpPr>
          <p:cNvPr id="40" name="Text 38"/>
          <p:cNvSpPr/>
          <p:nvPr/>
        </p:nvSpPr>
        <p:spPr>
          <a:xfrm>
            <a:off x="6629400" y="2926080"/>
            <a:ext cx="1920240" cy="640080"/>
          </a:xfrm>
          <a:prstGeom prst="rect">
            <a:avLst/>
          </a:prstGeom>
          <a:noFill/>
          <a:ln/>
        </p:spPr>
        <p:txBody>
          <a:bodyPr wrap="square" lIns="0" tIns="0" rIns="0" bIns="0" rtlCol="0" anchor="ctr"/>
          <a:lstStyle/>
          <a:p>
            <a:pPr algn="ctr" indent="0" marL="0">
              <a:buNone/>
            </a:pPr>
            <a:r>
              <a:rPr lang="en-US" sz="3800" dirty="0">
                <a:solidFill>
                  <a:srgbClr val="000000"/>
                </a:solidFill>
                <a:latin typeface="Malgun Gothic" pitchFamily="34" charset="0"/>
                <a:ea typeface="Malgun Gothic" pitchFamily="34" charset="-122"/>
                <a:cs typeface="Malgun Gothic" pitchFamily="34" charset="-120"/>
              </a:rPr>
              <a:t>👥</a:t>
            </a:r>
            <a:endParaRPr lang="en-US" sz="3800" dirty="0"/>
          </a:p>
        </p:txBody>
      </p:sp>
      <p:sp>
        <p:nvSpPr>
          <p:cNvPr id="41" name="Text 39"/>
          <p:cNvSpPr/>
          <p:nvPr/>
        </p:nvSpPr>
        <p:spPr>
          <a:xfrm>
            <a:off x="6629400" y="361188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승객 수요 예측</a:t>
            </a:r>
            <a:endParaRPr lang="en-US" sz="1200" dirty="0"/>
          </a:p>
        </p:txBody>
      </p:sp>
      <p:sp>
        <p:nvSpPr>
          <p:cNvPr id="42" name="Text 40"/>
          <p:cNvSpPr/>
          <p:nvPr/>
        </p:nvSpPr>
        <p:spPr>
          <a:xfrm>
            <a:off x="6629400" y="3931920"/>
            <a:ext cx="1920240" cy="274320"/>
          </a:xfrm>
          <a:prstGeom prst="rect">
            <a:avLst/>
          </a:prstGeom>
          <a:noFill/>
          <a:ln/>
        </p:spPr>
        <p:txBody>
          <a:bodyPr wrap="square" lIns="0" tIns="0" rIns="0" bIns="0" rtlCol="0" anchor="ctr"/>
          <a:lstStyle/>
          <a:p>
            <a:pPr algn="ctr" indent="0" marL="0">
              <a:buNone/>
            </a:pPr>
            <a:r>
              <a:rPr lang="en-US" sz="950" i="1" dirty="0">
                <a:solidFill>
                  <a:srgbClr val="37474F"/>
                </a:solidFill>
                <a:latin typeface="Malgun Gothic" pitchFamily="34" charset="0"/>
                <a:ea typeface="Malgun Gothic" pitchFamily="34" charset="-122"/>
                <a:cs typeface="Malgun Gothic" pitchFamily="34" charset="-120"/>
              </a:rPr>
              <a:t>Demand forecasting</a:t>
            </a:r>
            <a:endParaRPr lang="en-US" sz="950" dirty="0"/>
          </a:p>
        </p:txBody>
      </p:sp>
      <p:sp>
        <p:nvSpPr>
          <p:cNvPr id="43" name="Shape 41"/>
          <p:cNvSpPr/>
          <p:nvPr/>
        </p:nvSpPr>
        <p:spPr>
          <a:xfrm>
            <a:off x="0" y="4892040"/>
            <a:ext cx="9144000" cy="256032"/>
          </a:xfrm>
          <a:prstGeom prst="rect">
            <a:avLst/>
          </a:prstGeom>
          <a:solidFill>
            <a:srgbClr val="0B1F3A"/>
          </a:solidFill>
          <a:ln w="12700">
            <a:solidFill>
              <a:srgbClr val="0B1F3A"/>
            </a:solidFill>
            <a:prstDash val="solid"/>
          </a:ln>
        </p:spPr>
      </p:sp>
      <p:sp>
        <p:nvSpPr>
          <p:cNvPr id="44" name="Text 42"/>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45" name="Text 43"/>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19 / 30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06 · OUR PROJECT</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제가 만든 것</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3 integrated features on one pipeline</a:t>
            </a:r>
            <a:endParaRPr lang="en-US" sz="1050" dirty="0"/>
          </a:p>
        </p:txBody>
      </p:sp>
      <p:sp>
        <p:nvSpPr>
          <p:cNvPr id="7" name="Shape 5"/>
          <p:cNvSpPr/>
          <p:nvPr/>
        </p:nvSpPr>
        <p:spPr>
          <a:xfrm>
            <a:off x="457200" y="1005840"/>
            <a:ext cx="2606040" cy="3566160"/>
          </a:xfrm>
          <a:prstGeom prst="roundRect">
            <a:avLst>
              <a:gd name="adj" fmla="val 4211"/>
            </a:avLst>
          </a:prstGeom>
          <a:solidFill>
            <a:srgbClr val="FFFFFF"/>
          </a:solidFill>
          <a:ln w="25400">
            <a:solidFill>
              <a:srgbClr val="1E88E5"/>
            </a:solidFill>
            <a:prstDash val="solid"/>
          </a:ln>
        </p:spPr>
      </p:sp>
      <p:sp>
        <p:nvSpPr>
          <p:cNvPr id="8" name="Shape 6"/>
          <p:cNvSpPr/>
          <p:nvPr/>
        </p:nvSpPr>
        <p:spPr>
          <a:xfrm>
            <a:off x="457200" y="1005840"/>
            <a:ext cx="2606040" cy="457200"/>
          </a:xfrm>
          <a:prstGeom prst="rect">
            <a:avLst/>
          </a:prstGeom>
          <a:solidFill>
            <a:srgbClr val="1E88E5"/>
          </a:solidFill>
          <a:ln w="12700">
            <a:solidFill>
              <a:srgbClr val="1E88E5"/>
            </a:solidFill>
            <a:prstDash val="solid"/>
          </a:ln>
        </p:spPr>
      </p:sp>
      <p:sp>
        <p:nvSpPr>
          <p:cNvPr id="9" name="Text 7"/>
          <p:cNvSpPr/>
          <p:nvPr/>
        </p:nvSpPr>
        <p:spPr>
          <a:xfrm>
            <a:off x="457200" y="1005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10" name="Text 8"/>
          <p:cNvSpPr/>
          <p:nvPr/>
        </p:nvSpPr>
        <p:spPr>
          <a:xfrm>
            <a:off x="1097280" y="1554480"/>
            <a:ext cx="1325880" cy="822960"/>
          </a:xfrm>
          <a:prstGeom prst="rect">
            <a:avLst/>
          </a:prstGeom>
          <a:noFill/>
          <a:ln/>
        </p:spPr>
        <p:txBody>
          <a:bodyPr wrap="square" lIns="0" tIns="0" rIns="0" bIns="0" rtlCol="0" anchor="ctr"/>
          <a:lstStyle/>
          <a:p>
            <a:pPr algn="ctr" indent="0" marL="0">
              <a:buNone/>
            </a:pPr>
            <a:r>
              <a:rPr lang="en-US" sz="4600" dirty="0">
                <a:solidFill>
                  <a:srgbClr val="000000"/>
                </a:solidFill>
                <a:latin typeface="Malgun Gothic" pitchFamily="34" charset="0"/>
                <a:ea typeface="Malgun Gothic" pitchFamily="34" charset="-122"/>
                <a:cs typeface="Malgun Gothic" pitchFamily="34" charset="-120"/>
              </a:rPr>
              <a:t>⏱</a:t>
            </a:r>
            <a:endParaRPr lang="en-US" sz="4600" dirty="0"/>
          </a:p>
        </p:txBody>
      </p:sp>
      <p:sp>
        <p:nvSpPr>
          <p:cNvPr id="11" name="Text 9"/>
          <p:cNvSpPr/>
          <p:nvPr/>
        </p:nvSpPr>
        <p:spPr>
          <a:xfrm>
            <a:off x="594360" y="2468880"/>
            <a:ext cx="2331720"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Malgun Gothic" pitchFamily="34" charset="0"/>
                <a:ea typeface="Malgun Gothic" pitchFamily="34" charset="-122"/>
                <a:cs typeface="Malgun Gothic" pitchFamily="34" charset="-120"/>
              </a:rPr>
              <a:t>지연 예측 + 신뢰구간</a:t>
            </a:r>
            <a:endParaRPr lang="en-US" sz="1300" dirty="0"/>
          </a:p>
        </p:txBody>
      </p:sp>
      <p:sp>
        <p:nvSpPr>
          <p:cNvPr id="12" name="Text 10"/>
          <p:cNvSpPr/>
          <p:nvPr/>
        </p:nvSpPr>
        <p:spPr>
          <a:xfrm>
            <a:off x="594360" y="2816352"/>
            <a:ext cx="2331720" cy="274320"/>
          </a:xfrm>
          <a:prstGeom prst="rect">
            <a:avLst/>
          </a:prstGeom>
          <a:noFill/>
          <a:ln/>
        </p:spPr>
        <p:txBody>
          <a:bodyPr wrap="square" lIns="0" tIns="0" rIns="0" bIns="0" rtlCol="0" anchor="ctr"/>
          <a:lstStyle/>
          <a:p>
            <a:pPr algn="ctr" indent="0" marL="0">
              <a:buNone/>
            </a:pPr>
            <a:r>
              <a:rPr lang="en-US" sz="950" i="1" dirty="0">
                <a:solidFill>
                  <a:srgbClr val="1E88E5"/>
                </a:solidFill>
                <a:latin typeface="Malgun Gothic" pitchFamily="34" charset="0"/>
                <a:ea typeface="Malgun Gothic" pitchFamily="34" charset="-122"/>
                <a:cs typeface="Malgun Gothic" pitchFamily="34" charset="-120"/>
              </a:rPr>
              <a:t>Delay prediction + Conformal interval</a:t>
            </a:r>
            <a:endParaRPr lang="en-US" sz="950" dirty="0"/>
          </a:p>
        </p:txBody>
      </p:sp>
      <p:sp>
        <p:nvSpPr>
          <p:cNvPr id="13" name="Text 11"/>
          <p:cNvSpPr/>
          <p:nvPr/>
        </p:nvSpPr>
        <p:spPr>
          <a:xfrm>
            <a:off x="640080" y="3200400"/>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XGBoost · Test R² 0.43</a:t>
            </a:r>
            <a:endParaRPr lang="en-US" sz="1050" dirty="0"/>
          </a:p>
        </p:txBody>
      </p:sp>
      <p:sp>
        <p:nvSpPr>
          <p:cNvPr id="14" name="Text 12"/>
          <p:cNvSpPr/>
          <p:nvPr/>
        </p:nvSpPr>
        <p:spPr>
          <a:xfrm>
            <a:off x="640080" y="3584448"/>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Conformal 90% 커버리지 보장</a:t>
            </a:r>
            <a:endParaRPr lang="en-US" sz="1050" dirty="0"/>
          </a:p>
        </p:txBody>
      </p:sp>
      <p:sp>
        <p:nvSpPr>
          <p:cNvPr id="15" name="Text 13"/>
          <p:cNvSpPr/>
          <p:nvPr/>
        </p:nvSpPr>
        <p:spPr>
          <a:xfrm>
            <a:off x="640080" y="3968496"/>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"90% 확률로 6 ~ 41 분"</a:t>
            </a:r>
            <a:endParaRPr lang="en-US" sz="1050" dirty="0"/>
          </a:p>
        </p:txBody>
      </p:sp>
      <p:sp>
        <p:nvSpPr>
          <p:cNvPr id="16" name="Shape 14"/>
          <p:cNvSpPr/>
          <p:nvPr/>
        </p:nvSpPr>
        <p:spPr>
          <a:xfrm>
            <a:off x="3200400" y="1005840"/>
            <a:ext cx="2606040" cy="3566160"/>
          </a:xfrm>
          <a:prstGeom prst="roundRect">
            <a:avLst>
              <a:gd name="adj" fmla="val 4211"/>
            </a:avLst>
          </a:prstGeom>
          <a:solidFill>
            <a:srgbClr val="FFFFFF"/>
          </a:solidFill>
          <a:ln w="25400">
            <a:solidFill>
              <a:srgbClr val="EF5350"/>
            </a:solidFill>
            <a:prstDash val="solid"/>
          </a:ln>
        </p:spPr>
      </p:sp>
      <p:sp>
        <p:nvSpPr>
          <p:cNvPr id="17" name="Shape 15"/>
          <p:cNvSpPr/>
          <p:nvPr/>
        </p:nvSpPr>
        <p:spPr>
          <a:xfrm>
            <a:off x="3200400" y="1005840"/>
            <a:ext cx="2606040" cy="457200"/>
          </a:xfrm>
          <a:prstGeom prst="rect">
            <a:avLst/>
          </a:prstGeom>
          <a:solidFill>
            <a:srgbClr val="EF5350"/>
          </a:solidFill>
          <a:ln w="12700">
            <a:solidFill>
              <a:srgbClr val="EF5350"/>
            </a:solidFill>
            <a:prstDash val="solid"/>
          </a:ln>
        </p:spPr>
      </p:sp>
      <p:sp>
        <p:nvSpPr>
          <p:cNvPr id="18" name="Text 16"/>
          <p:cNvSpPr/>
          <p:nvPr/>
        </p:nvSpPr>
        <p:spPr>
          <a:xfrm>
            <a:off x="3200400" y="1005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9" name="Text 17"/>
          <p:cNvSpPr/>
          <p:nvPr/>
        </p:nvSpPr>
        <p:spPr>
          <a:xfrm>
            <a:off x="3840480" y="1554480"/>
            <a:ext cx="1325880" cy="822960"/>
          </a:xfrm>
          <a:prstGeom prst="rect">
            <a:avLst/>
          </a:prstGeom>
          <a:noFill/>
          <a:ln/>
        </p:spPr>
        <p:txBody>
          <a:bodyPr wrap="square" lIns="0" tIns="0" rIns="0" bIns="0" rtlCol="0" anchor="ctr"/>
          <a:lstStyle/>
          <a:p>
            <a:pPr algn="ctr" indent="0" marL="0">
              <a:buNone/>
            </a:pPr>
            <a:r>
              <a:rPr lang="en-US" sz="4600" dirty="0">
                <a:solidFill>
                  <a:srgbClr val="000000"/>
                </a:solidFill>
                <a:latin typeface="Malgun Gothic" pitchFamily="34" charset="0"/>
                <a:ea typeface="Malgun Gothic" pitchFamily="34" charset="-122"/>
                <a:cs typeface="Malgun Gothic" pitchFamily="34" charset="-120"/>
              </a:rPr>
              <a:t>⚠</a:t>
            </a:r>
            <a:endParaRPr lang="en-US" sz="4600" dirty="0"/>
          </a:p>
        </p:txBody>
      </p:sp>
      <p:sp>
        <p:nvSpPr>
          <p:cNvPr id="20" name="Text 18"/>
          <p:cNvSpPr/>
          <p:nvPr/>
        </p:nvSpPr>
        <p:spPr>
          <a:xfrm>
            <a:off x="3337560" y="2468880"/>
            <a:ext cx="2331720"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Malgun Gothic" pitchFamily="34" charset="0"/>
                <a:ea typeface="Malgun Gothic" pitchFamily="34" charset="-122"/>
                <a:cs typeface="Malgun Gothic" pitchFamily="34" charset="-120"/>
              </a:rPr>
              <a:t>이상 탐지 (7 단계별)</a:t>
            </a:r>
            <a:endParaRPr lang="en-US" sz="1300" dirty="0"/>
          </a:p>
        </p:txBody>
      </p:sp>
      <p:sp>
        <p:nvSpPr>
          <p:cNvPr id="21" name="Text 19"/>
          <p:cNvSpPr/>
          <p:nvPr/>
        </p:nvSpPr>
        <p:spPr>
          <a:xfrm>
            <a:off x="3337560" y="2816352"/>
            <a:ext cx="2331720" cy="274320"/>
          </a:xfrm>
          <a:prstGeom prst="rect">
            <a:avLst/>
          </a:prstGeom>
          <a:noFill/>
          <a:ln/>
        </p:spPr>
        <p:txBody>
          <a:bodyPr wrap="square" lIns="0" tIns="0" rIns="0" bIns="0" rtlCol="0" anchor="ctr"/>
          <a:lstStyle/>
          <a:p>
            <a:pPr algn="ctr" indent="0" marL="0">
              <a:buNone/>
            </a:pPr>
            <a:r>
              <a:rPr lang="en-US" sz="950" i="1" dirty="0">
                <a:solidFill>
                  <a:srgbClr val="EF5350"/>
                </a:solidFill>
                <a:latin typeface="Malgun Gothic" pitchFamily="34" charset="0"/>
                <a:ea typeface="Malgun Gothic" pitchFamily="34" charset="-122"/>
                <a:cs typeface="Malgun Gothic" pitchFamily="34" charset="-120"/>
              </a:rPr>
              <a:t>Per-phase anomaly detection × 7</a:t>
            </a:r>
            <a:endParaRPr lang="en-US" sz="950" dirty="0"/>
          </a:p>
        </p:txBody>
      </p:sp>
      <p:sp>
        <p:nvSpPr>
          <p:cNvPr id="22" name="Text 20"/>
          <p:cNvSpPr/>
          <p:nvPr/>
        </p:nvSpPr>
        <p:spPr>
          <a:xfrm>
            <a:off x="3383280" y="3200400"/>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Isolation Forest × 7 단계</a:t>
            </a:r>
            <a:endParaRPr lang="en-US" sz="1050" dirty="0"/>
          </a:p>
        </p:txBody>
      </p:sp>
      <p:sp>
        <p:nvSpPr>
          <p:cNvPr id="23" name="Text 21"/>
          <p:cNvSpPr/>
          <p:nvPr/>
        </p:nvSpPr>
        <p:spPr>
          <a:xfrm>
            <a:off x="3383280" y="3584448"/>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alert fatigue −67%</a:t>
            </a:r>
            <a:endParaRPr lang="en-US" sz="1050" dirty="0"/>
          </a:p>
        </p:txBody>
      </p:sp>
      <p:sp>
        <p:nvSpPr>
          <p:cNvPr id="24" name="Text 22"/>
          <p:cNvSpPr/>
          <p:nvPr/>
        </p:nvSpPr>
        <p:spPr>
          <a:xfrm>
            <a:off x="3383280" y="3968496"/>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hysteresis + suppression</a:t>
            </a:r>
            <a:endParaRPr lang="en-US" sz="1050" dirty="0"/>
          </a:p>
        </p:txBody>
      </p:sp>
      <p:sp>
        <p:nvSpPr>
          <p:cNvPr id="25" name="Shape 23"/>
          <p:cNvSpPr/>
          <p:nvPr/>
        </p:nvSpPr>
        <p:spPr>
          <a:xfrm>
            <a:off x="5943600" y="1005840"/>
            <a:ext cx="2606040" cy="3566160"/>
          </a:xfrm>
          <a:prstGeom prst="roundRect">
            <a:avLst>
              <a:gd name="adj" fmla="val 4211"/>
            </a:avLst>
          </a:prstGeom>
          <a:solidFill>
            <a:srgbClr val="FFFFFF"/>
          </a:solidFill>
          <a:ln w="25400">
            <a:solidFill>
              <a:srgbClr val="00897B"/>
            </a:solidFill>
            <a:prstDash val="solid"/>
          </a:ln>
        </p:spPr>
      </p:sp>
      <p:sp>
        <p:nvSpPr>
          <p:cNvPr id="26" name="Shape 24"/>
          <p:cNvSpPr/>
          <p:nvPr/>
        </p:nvSpPr>
        <p:spPr>
          <a:xfrm>
            <a:off x="5943600" y="1005840"/>
            <a:ext cx="2606040" cy="457200"/>
          </a:xfrm>
          <a:prstGeom prst="rect">
            <a:avLst/>
          </a:prstGeom>
          <a:solidFill>
            <a:srgbClr val="00897B"/>
          </a:solidFill>
          <a:ln w="12700">
            <a:solidFill>
              <a:srgbClr val="00897B"/>
            </a:solidFill>
            <a:prstDash val="solid"/>
          </a:ln>
        </p:spPr>
      </p:sp>
      <p:sp>
        <p:nvSpPr>
          <p:cNvPr id="27" name="Text 25"/>
          <p:cNvSpPr/>
          <p:nvPr/>
        </p:nvSpPr>
        <p:spPr>
          <a:xfrm>
            <a:off x="5943600" y="1005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28" name="Text 26"/>
          <p:cNvSpPr/>
          <p:nvPr/>
        </p:nvSpPr>
        <p:spPr>
          <a:xfrm>
            <a:off x="6583680" y="1554480"/>
            <a:ext cx="1325880" cy="822960"/>
          </a:xfrm>
          <a:prstGeom prst="rect">
            <a:avLst/>
          </a:prstGeom>
          <a:noFill/>
          <a:ln/>
        </p:spPr>
        <p:txBody>
          <a:bodyPr wrap="square" lIns="0" tIns="0" rIns="0" bIns="0" rtlCol="0" anchor="ctr"/>
          <a:lstStyle/>
          <a:p>
            <a:pPr algn="ctr" indent="0" marL="0">
              <a:buNone/>
            </a:pPr>
            <a:r>
              <a:rPr lang="en-US" sz="4600" dirty="0">
                <a:solidFill>
                  <a:srgbClr val="000000"/>
                </a:solidFill>
                <a:latin typeface="Malgun Gothic" pitchFamily="34" charset="0"/>
                <a:ea typeface="Malgun Gothic" pitchFamily="34" charset="-122"/>
                <a:cs typeface="Malgun Gothic" pitchFamily="34" charset="-120"/>
              </a:rPr>
              <a:t>🤖</a:t>
            </a:r>
            <a:endParaRPr lang="en-US" sz="4600" dirty="0"/>
          </a:p>
        </p:txBody>
      </p:sp>
      <p:sp>
        <p:nvSpPr>
          <p:cNvPr id="29" name="Text 27"/>
          <p:cNvSpPr/>
          <p:nvPr/>
        </p:nvSpPr>
        <p:spPr>
          <a:xfrm>
            <a:off x="6080760" y="2468880"/>
            <a:ext cx="2331720" cy="365760"/>
          </a:xfrm>
          <a:prstGeom prst="rect">
            <a:avLst/>
          </a:prstGeom>
          <a:noFill/>
          <a:ln/>
        </p:spPr>
        <p:txBody>
          <a:bodyPr wrap="square" lIns="0" tIns="0" rIns="0" bIns="0" rtlCol="0" anchor="ctr"/>
          <a:lstStyle/>
          <a:p>
            <a:pPr algn="ctr" indent="0" marL="0">
              <a:buNone/>
            </a:pPr>
            <a:r>
              <a:rPr lang="en-US" sz="1300" b="1" dirty="0">
                <a:solidFill>
                  <a:srgbClr val="0B1F3A"/>
                </a:solidFill>
                <a:latin typeface="Malgun Gothic" pitchFamily="34" charset="0"/>
                <a:ea typeface="Malgun Gothic" pitchFamily="34" charset="-122"/>
                <a:cs typeface="Malgun Gothic" pitchFamily="34" charset="-120"/>
              </a:rPr>
              <a:t>AI 관제 어시스턴트</a:t>
            </a:r>
            <a:endParaRPr lang="en-US" sz="1300" dirty="0"/>
          </a:p>
        </p:txBody>
      </p:sp>
      <p:sp>
        <p:nvSpPr>
          <p:cNvPr id="30" name="Text 28"/>
          <p:cNvSpPr/>
          <p:nvPr/>
        </p:nvSpPr>
        <p:spPr>
          <a:xfrm>
            <a:off x="6080760" y="2816352"/>
            <a:ext cx="2331720" cy="274320"/>
          </a:xfrm>
          <a:prstGeom prst="rect">
            <a:avLst/>
          </a:prstGeom>
          <a:noFill/>
          <a:ln/>
        </p:spPr>
        <p:txBody>
          <a:bodyPr wrap="square" lIns="0" tIns="0" rIns="0" bIns="0" rtlCol="0" anchor="ctr"/>
          <a:lstStyle/>
          <a:p>
            <a:pPr algn="ctr" indent="0" marL="0">
              <a:buNone/>
            </a:pPr>
            <a:r>
              <a:rPr lang="en-US" sz="950" i="1" dirty="0">
                <a:solidFill>
                  <a:srgbClr val="00897B"/>
                </a:solidFill>
                <a:latin typeface="Malgun Gothic" pitchFamily="34" charset="0"/>
                <a:ea typeface="Malgun Gothic" pitchFamily="34" charset="-122"/>
                <a:cs typeface="Malgun Gothic" pitchFamily="34" charset="-120"/>
              </a:rPr>
              <a:t>AI ATC copilot (LLM + RAG)</a:t>
            </a:r>
            <a:endParaRPr lang="en-US" sz="950" dirty="0"/>
          </a:p>
        </p:txBody>
      </p:sp>
      <p:sp>
        <p:nvSpPr>
          <p:cNvPr id="31" name="Text 29"/>
          <p:cNvSpPr/>
          <p:nvPr/>
        </p:nvSpPr>
        <p:spPr>
          <a:xfrm>
            <a:off x="6126480" y="3200400"/>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Qwen2.5-7B + QLoRA + DPO</a:t>
            </a:r>
            <a:endParaRPr lang="en-US" sz="1050" dirty="0"/>
          </a:p>
        </p:txBody>
      </p:sp>
      <p:sp>
        <p:nvSpPr>
          <p:cNvPr id="32" name="Text 30"/>
          <p:cNvSpPr/>
          <p:nvPr/>
        </p:nvSpPr>
        <p:spPr>
          <a:xfrm>
            <a:off x="6126480" y="3584448"/>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RAG · 161 chunks 규정집</a:t>
            </a:r>
            <a:endParaRPr lang="en-US" sz="1050" dirty="0"/>
          </a:p>
        </p:txBody>
      </p:sp>
      <p:sp>
        <p:nvSpPr>
          <p:cNvPr id="33" name="Text 31"/>
          <p:cNvSpPr/>
          <p:nvPr/>
        </p:nvSpPr>
        <p:spPr>
          <a:xfrm>
            <a:off x="6126480" y="3968496"/>
            <a:ext cx="2286000" cy="347472"/>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 5 초 이내 출처 포함 답변</a:t>
            </a:r>
            <a:endParaRPr lang="en-US" sz="1050" dirty="0"/>
          </a:p>
        </p:txBody>
      </p:sp>
      <p:sp>
        <p:nvSpPr>
          <p:cNvPr id="34" name="Shape 32"/>
          <p:cNvSpPr/>
          <p:nvPr/>
        </p:nvSpPr>
        <p:spPr>
          <a:xfrm>
            <a:off x="0" y="4892040"/>
            <a:ext cx="9144000" cy="256032"/>
          </a:xfrm>
          <a:prstGeom prst="rect">
            <a:avLst/>
          </a:prstGeom>
          <a:solidFill>
            <a:srgbClr val="0B1F3A"/>
          </a:solidFill>
          <a:ln w="12700">
            <a:solidFill>
              <a:srgbClr val="0B1F3A"/>
            </a:solidFill>
            <a:prstDash val="solid"/>
          </a:ln>
        </p:spPr>
      </p:sp>
      <p:sp>
        <p:nvSpPr>
          <p:cNvPr id="35" name="Text 33"/>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6" name="Text 34"/>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20 / 30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07 · MODELS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모델 1 · 왜 XGBoost?</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Model 1 · Why XGBoost for delay prediction?</a:t>
            </a:r>
            <a:endParaRPr lang="en-US" sz="1050" dirty="0"/>
          </a:p>
        </p:txBody>
      </p:sp>
      <p:sp>
        <p:nvSpPr>
          <p:cNvPr id="7" name="Shape 5"/>
          <p:cNvSpPr/>
          <p:nvPr/>
        </p:nvSpPr>
        <p:spPr>
          <a:xfrm>
            <a:off x="457200" y="1005840"/>
            <a:ext cx="4023360" cy="1645920"/>
          </a:xfrm>
          <a:prstGeom prst="roundRect">
            <a:avLst>
              <a:gd name="adj" fmla="val 5556"/>
            </a:avLst>
          </a:prstGeom>
          <a:solidFill>
            <a:srgbClr val="FFFFFF"/>
          </a:solidFill>
          <a:ln w="25400">
            <a:solidFill>
              <a:srgbClr val="EF5350"/>
            </a:solidFill>
            <a:prstDash val="solid"/>
          </a:ln>
        </p:spPr>
      </p:sp>
      <p:sp>
        <p:nvSpPr>
          <p:cNvPr id="8" name="Text 6"/>
          <p:cNvSpPr/>
          <p:nvPr/>
        </p:nvSpPr>
        <p:spPr>
          <a:xfrm>
            <a:off x="594360" y="1234440"/>
            <a:ext cx="914400" cy="1097280"/>
          </a:xfrm>
          <a:prstGeom prst="rect">
            <a:avLst/>
          </a:prstGeom>
          <a:noFill/>
          <a:ln/>
        </p:spPr>
        <p:txBody>
          <a:bodyPr wrap="square" lIns="0" tIns="0" rIns="0" bIns="0" rtlCol="0" anchor="ctr"/>
          <a:lstStyle/>
          <a:p>
            <a:pPr algn="ctr" indent="0" marL="0">
              <a:buNone/>
            </a:pPr>
            <a:r>
              <a:rPr lang="en-US" sz="5000" dirty="0">
                <a:solidFill>
                  <a:srgbClr val="000000"/>
                </a:solidFill>
                <a:latin typeface="Malgun Gothic" pitchFamily="34" charset="0"/>
                <a:ea typeface="Malgun Gothic" pitchFamily="34" charset="-122"/>
                <a:cs typeface="Malgun Gothic" pitchFamily="34" charset="-120"/>
              </a:rPr>
              <a:t>🎯</a:t>
            </a:r>
            <a:endParaRPr lang="en-US" sz="5000" dirty="0"/>
          </a:p>
        </p:txBody>
      </p:sp>
      <p:sp>
        <p:nvSpPr>
          <p:cNvPr id="9" name="Shape 7"/>
          <p:cNvSpPr/>
          <p:nvPr/>
        </p:nvSpPr>
        <p:spPr>
          <a:xfrm>
            <a:off x="548640" y="1097280"/>
            <a:ext cx="502920" cy="502920"/>
          </a:xfrm>
          <a:prstGeom prst="ellipse">
            <a:avLst/>
          </a:prstGeom>
          <a:solidFill>
            <a:srgbClr val="EF5350"/>
          </a:solidFill>
          <a:ln w="12700">
            <a:solidFill>
              <a:srgbClr val="EF5350"/>
            </a:solidFill>
            <a:prstDash val="solid"/>
          </a:ln>
        </p:spPr>
      </p:sp>
      <p:sp>
        <p:nvSpPr>
          <p:cNvPr id="10" name="Text 8"/>
          <p:cNvSpPr/>
          <p:nvPr/>
        </p:nvSpPr>
        <p:spPr>
          <a:xfrm>
            <a:off x="548640" y="10972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a:t>
            </a:r>
            <a:endParaRPr lang="en-US" sz="2200" dirty="0"/>
          </a:p>
        </p:txBody>
      </p:sp>
      <p:sp>
        <p:nvSpPr>
          <p:cNvPr id="11" name="Text 9"/>
          <p:cNvSpPr/>
          <p:nvPr/>
        </p:nvSpPr>
        <p:spPr>
          <a:xfrm>
            <a:off x="1645920" y="1234440"/>
            <a:ext cx="2743200" cy="365760"/>
          </a:xfrm>
          <a:prstGeom prst="rect">
            <a:avLst/>
          </a:prstGeom>
          <a:noFill/>
          <a:ln/>
        </p:spPr>
        <p:txBody>
          <a:bodyPr wrap="square" lIns="0" tIns="0" rIns="0" bIns="0" rtlCol="0" anchor="ctr"/>
          <a:lstStyle/>
          <a:p>
            <a:pPr indent="0" marL="0">
              <a:buNone/>
            </a:pPr>
            <a:r>
              <a:rPr lang="en-US" sz="1800" b="1" dirty="0">
                <a:solidFill>
                  <a:srgbClr val="0B1F3A"/>
                </a:solidFill>
                <a:latin typeface="Malgun Gothic" pitchFamily="34" charset="0"/>
                <a:ea typeface="Malgun Gothic" pitchFamily="34" charset="-122"/>
                <a:cs typeface="Malgun Gothic" pitchFamily="34" charset="-120"/>
              </a:rPr>
              <a:t>정확도</a:t>
            </a:r>
            <a:endParaRPr lang="en-US" sz="1800" dirty="0"/>
          </a:p>
        </p:txBody>
      </p:sp>
      <p:sp>
        <p:nvSpPr>
          <p:cNvPr id="12" name="Text 10"/>
          <p:cNvSpPr/>
          <p:nvPr/>
        </p:nvSpPr>
        <p:spPr>
          <a:xfrm>
            <a:off x="1645920" y="1600200"/>
            <a:ext cx="2743200" cy="274320"/>
          </a:xfrm>
          <a:prstGeom prst="rect">
            <a:avLst/>
          </a:prstGeom>
          <a:noFill/>
          <a:ln/>
        </p:spPr>
        <p:txBody>
          <a:bodyPr wrap="square" lIns="0" tIns="0" rIns="0" bIns="0" rtlCol="0" anchor="ctr"/>
          <a:lstStyle/>
          <a:p>
            <a:pPr indent="0" marL="0">
              <a:buNone/>
            </a:pPr>
            <a:r>
              <a:rPr lang="en-US" sz="1100" i="1" dirty="0">
                <a:solidFill>
                  <a:srgbClr val="EF5350"/>
                </a:solidFill>
                <a:latin typeface="Malgun Gothic" pitchFamily="34" charset="0"/>
                <a:ea typeface="Malgun Gothic" pitchFamily="34" charset="-122"/>
                <a:cs typeface="Malgun Gothic" pitchFamily="34" charset="-120"/>
              </a:rPr>
              <a:t>Accuracy</a:t>
            </a:r>
            <a:endParaRPr lang="en-US" sz="1100" dirty="0"/>
          </a:p>
        </p:txBody>
      </p:sp>
      <p:sp>
        <p:nvSpPr>
          <p:cNvPr id="13" name="Text 11"/>
          <p:cNvSpPr/>
          <p:nvPr/>
        </p:nvSpPr>
        <p:spPr>
          <a:xfrm>
            <a:off x="1645920" y="1901952"/>
            <a:ext cx="2743200" cy="640080"/>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tabular 에서 딥러닝 동등/우위</a:t>
            </a:r>
            <a:endParaRPr lang="en-US" sz="1050" dirty="0"/>
          </a:p>
          <a:p>
            <a:pPr indent="0" marL="0">
              <a:buNone/>
            </a:pPr>
            <a:r>
              <a:rPr lang="en-US" sz="1050" dirty="0">
                <a:solidFill>
                  <a:srgbClr val="37474F"/>
                </a:solidFill>
                <a:latin typeface="Malgun Gothic" pitchFamily="34" charset="0"/>
                <a:ea typeface="Malgun Gothic" pitchFamily="34" charset="-122"/>
                <a:cs typeface="Malgun Gothic" pitchFamily="34" charset="-120"/>
              </a:rPr>
              <a:t>matches or beats DL on tabular</a:t>
            </a:r>
            <a:endParaRPr lang="en-US" sz="1050" dirty="0"/>
          </a:p>
        </p:txBody>
      </p:sp>
      <p:sp>
        <p:nvSpPr>
          <p:cNvPr id="14" name="Shape 12"/>
          <p:cNvSpPr/>
          <p:nvPr/>
        </p:nvSpPr>
        <p:spPr>
          <a:xfrm>
            <a:off x="4709160" y="1005840"/>
            <a:ext cx="4023360" cy="1645920"/>
          </a:xfrm>
          <a:prstGeom prst="roundRect">
            <a:avLst>
              <a:gd name="adj" fmla="val 5556"/>
            </a:avLst>
          </a:prstGeom>
          <a:solidFill>
            <a:srgbClr val="FFFFFF"/>
          </a:solidFill>
          <a:ln w="25400">
            <a:solidFill>
              <a:srgbClr val="FFB300"/>
            </a:solidFill>
            <a:prstDash val="solid"/>
          </a:ln>
        </p:spPr>
      </p:sp>
      <p:sp>
        <p:nvSpPr>
          <p:cNvPr id="15" name="Text 13"/>
          <p:cNvSpPr/>
          <p:nvPr/>
        </p:nvSpPr>
        <p:spPr>
          <a:xfrm>
            <a:off x="4846320" y="1234440"/>
            <a:ext cx="914400" cy="1097280"/>
          </a:xfrm>
          <a:prstGeom prst="rect">
            <a:avLst/>
          </a:prstGeom>
          <a:noFill/>
          <a:ln/>
        </p:spPr>
        <p:txBody>
          <a:bodyPr wrap="square" lIns="0" tIns="0" rIns="0" bIns="0" rtlCol="0" anchor="ctr"/>
          <a:lstStyle/>
          <a:p>
            <a:pPr algn="ctr" indent="0" marL="0">
              <a:buNone/>
            </a:pPr>
            <a:r>
              <a:rPr lang="en-US" sz="5000" dirty="0">
                <a:solidFill>
                  <a:srgbClr val="000000"/>
                </a:solidFill>
                <a:latin typeface="Malgun Gothic" pitchFamily="34" charset="0"/>
                <a:ea typeface="Malgun Gothic" pitchFamily="34" charset="-122"/>
                <a:cs typeface="Malgun Gothic" pitchFamily="34" charset="-120"/>
              </a:rPr>
              <a:t>⚡</a:t>
            </a:r>
            <a:endParaRPr lang="en-US" sz="5000" dirty="0"/>
          </a:p>
        </p:txBody>
      </p:sp>
      <p:sp>
        <p:nvSpPr>
          <p:cNvPr id="16" name="Shape 14"/>
          <p:cNvSpPr/>
          <p:nvPr/>
        </p:nvSpPr>
        <p:spPr>
          <a:xfrm>
            <a:off x="4800600" y="1097280"/>
            <a:ext cx="502920" cy="502920"/>
          </a:xfrm>
          <a:prstGeom prst="ellipse">
            <a:avLst/>
          </a:prstGeom>
          <a:solidFill>
            <a:srgbClr val="FFB300"/>
          </a:solidFill>
          <a:ln w="12700">
            <a:solidFill>
              <a:srgbClr val="FFB300"/>
            </a:solidFill>
            <a:prstDash val="solid"/>
          </a:ln>
        </p:spPr>
      </p:sp>
      <p:sp>
        <p:nvSpPr>
          <p:cNvPr id="17" name="Text 15"/>
          <p:cNvSpPr/>
          <p:nvPr/>
        </p:nvSpPr>
        <p:spPr>
          <a:xfrm>
            <a:off x="4800600" y="10972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2</a:t>
            </a:r>
            <a:endParaRPr lang="en-US" sz="2200" dirty="0"/>
          </a:p>
        </p:txBody>
      </p:sp>
      <p:sp>
        <p:nvSpPr>
          <p:cNvPr id="18" name="Text 16"/>
          <p:cNvSpPr/>
          <p:nvPr/>
        </p:nvSpPr>
        <p:spPr>
          <a:xfrm>
            <a:off x="5897880" y="1234440"/>
            <a:ext cx="2743200" cy="365760"/>
          </a:xfrm>
          <a:prstGeom prst="rect">
            <a:avLst/>
          </a:prstGeom>
          <a:noFill/>
          <a:ln/>
        </p:spPr>
        <p:txBody>
          <a:bodyPr wrap="square" lIns="0" tIns="0" rIns="0" bIns="0" rtlCol="0" anchor="ctr"/>
          <a:lstStyle/>
          <a:p>
            <a:pPr indent="0" marL="0">
              <a:buNone/>
            </a:pPr>
            <a:r>
              <a:rPr lang="en-US" sz="1800" b="1" dirty="0">
                <a:solidFill>
                  <a:srgbClr val="0B1F3A"/>
                </a:solidFill>
                <a:latin typeface="Malgun Gothic" pitchFamily="34" charset="0"/>
                <a:ea typeface="Malgun Gothic" pitchFamily="34" charset="-122"/>
                <a:cs typeface="Malgun Gothic" pitchFamily="34" charset="-120"/>
              </a:rPr>
              <a:t>속도</a:t>
            </a:r>
            <a:endParaRPr lang="en-US" sz="1800" dirty="0"/>
          </a:p>
        </p:txBody>
      </p:sp>
      <p:sp>
        <p:nvSpPr>
          <p:cNvPr id="19" name="Text 17"/>
          <p:cNvSpPr/>
          <p:nvPr/>
        </p:nvSpPr>
        <p:spPr>
          <a:xfrm>
            <a:off x="5897880" y="1600200"/>
            <a:ext cx="2743200" cy="274320"/>
          </a:xfrm>
          <a:prstGeom prst="rect">
            <a:avLst/>
          </a:prstGeom>
          <a:noFill/>
          <a:ln/>
        </p:spPr>
        <p:txBody>
          <a:bodyPr wrap="square" lIns="0" tIns="0" rIns="0" bIns="0" rtlCol="0" anchor="ctr"/>
          <a:lstStyle/>
          <a:p>
            <a:pPr indent="0" marL="0">
              <a:buNone/>
            </a:pPr>
            <a:r>
              <a:rPr lang="en-US" sz="1100" i="1" dirty="0">
                <a:solidFill>
                  <a:srgbClr val="FFB300"/>
                </a:solidFill>
                <a:latin typeface="Malgun Gothic" pitchFamily="34" charset="0"/>
                <a:ea typeface="Malgun Gothic" pitchFamily="34" charset="-122"/>
                <a:cs typeface="Malgun Gothic" pitchFamily="34" charset="-120"/>
              </a:rPr>
              <a:t>Speed</a:t>
            </a:r>
            <a:endParaRPr lang="en-US" sz="1100" dirty="0"/>
          </a:p>
        </p:txBody>
      </p:sp>
      <p:sp>
        <p:nvSpPr>
          <p:cNvPr id="20" name="Text 18"/>
          <p:cNvSpPr/>
          <p:nvPr/>
        </p:nvSpPr>
        <p:spPr>
          <a:xfrm>
            <a:off x="5897880" y="1901952"/>
            <a:ext cx="2743200" cy="640080"/>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5.7M 행 / 4분 CPU</a:t>
            </a:r>
            <a:endParaRPr lang="en-US" sz="1050" dirty="0"/>
          </a:p>
          <a:p>
            <a:pPr indent="0" marL="0">
              <a:buNone/>
            </a:pPr>
            <a:r>
              <a:rPr lang="en-US" sz="1050" dirty="0">
                <a:solidFill>
                  <a:srgbClr val="37474F"/>
                </a:solidFill>
                <a:latin typeface="Malgun Gothic" pitchFamily="34" charset="0"/>
                <a:ea typeface="Malgun Gothic" pitchFamily="34" charset="-122"/>
                <a:cs typeface="Malgun Gothic" pitchFamily="34" charset="-120"/>
              </a:rPr>
              <a:t>5.7M rows / 4min CPU</a:t>
            </a:r>
            <a:endParaRPr lang="en-US" sz="1050" dirty="0"/>
          </a:p>
        </p:txBody>
      </p:sp>
      <p:sp>
        <p:nvSpPr>
          <p:cNvPr id="21" name="Shape 19"/>
          <p:cNvSpPr/>
          <p:nvPr/>
        </p:nvSpPr>
        <p:spPr>
          <a:xfrm>
            <a:off x="457200" y="2788920"/>
            <a:ext cx="4023360" cy="1645920"/>
          </a:xfrm>
          <a:prstGeom prst="roundRect">
            <a:avLst>
              <a:gd name="adj" fmla="val 5556"/>
            </a:avLst>
          </a:prstGeom>
          <a:solidFill>
            <a:srgbClr val="FFFFFF"/>
          </a:solidFill>
          <a:ln w="25400">
            <a:solidFill>
              <a:srgbClr val="00897B"/>
            </a:solidFill>
            <a:prstDash val="solid"/>
          </a:ln>
        </p:spPr>
      </p:sp>
      <p:sp>
        <p:nvSpPr>
          <p:cNvPr id="22" name="Text 20"/>
          <p:cNvSpPr/>
          <p:nvPr/>
        </p:nvSpPr>
        <p:spPr>
          <a:xfrm>
            <a:off x="594360" y="3017520"/>
            <a:ext cx="914400" cy="1097280"/>
          </a:xfrm>
          <a:prstGeom prst="rect">
            <a:avLst/>
          </a:prstGeom>
          <a:noFill/>
          <a:ln/>
        </p:spPr>
        <p:txBody>
          <a:bodyPr wrap="square" lIns="0" tIns="0" rIns="0" bIns="0" rtlCol="0" anchor="ctr"/>
          <a:lstStyle/>
          <a:p>
            <a:pPr algn="ctr" indent="0" marL="0">
              <a:buNone/>
            </a:pPr>
            <a:r>
              <a:rPr lang="en-US" sz="5000" dirty="0">
                <a:solidFill>
                  <a:srgbClr val="000000"/>
                </a:solidFill>
                <a:latin typeface="Malgun Gothic" pitchFamily="34" charset="0"/>
                <a:ea typeface="Malgun Gothic" pitchFamily="34" charset="-122"/>
                <a:cs typeface="Malgun Gothic" pitchFamily="34" charset="-120"/>
              </a:rPr>
              <a:t>🔍</a:t>
            </a:r>
            <a:endParaRPr lang="en-US" sz="5000" dirty="0"/>
          </a:p>
        </p:txBody>
      </p:sp>
      <p:sp>
        <p:nvSpPr>
          <p:cNvPr id="23" name="Shape 21"/>
          <p:cNvSpPr/>
          <p:nvPr/>
        </p:nvSpPr>
        <p:spPr>
          <a:xfrm>
            <a:off x="548640" y="2880360"/>
            <a:ext cx="502920" cy="502920"/>
          </a:xfrm>
          <a:prstGeom prst="ellipse">
            <a:avLst/>
          </a:prstGeom>
          <a:solidFill>
            <a:srgbClr val="00897B"/>
          </a:solidFill>
          <a:ln w="12700">
            <a:solidFill>
              <a:srgbClr val="00897B"/>
            </a:solidFill>
            <a:prstDash val="solid"/>
          </a:ln>
        </p:spPr>
      </p:sp>
      <p:sp>
        <p:nvSpPr>
          <p:cNvPr id="24" name="Text 22"/>
          <p:cNvSpPr/>
          <p:nvPr/>
        </p:nvSpPr>
        <p:spPr>
          <a:xfrm>
            <a:off x="548640" y="28803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3</a:t>
            </a:r>
            <a:endParaRPr lang="en-US" sz="2200" dirty="0"/>
          </a:p>
        </p:txBody>
      </p:sp>
      <p:sp>
        <p:nvSpPr>
          <p:cNvPr id="25" name="Text 23"/>
          <p:cNvSpPr/>
          <p:nvPr/>
        </p:nvSpPr>
        <p:spPr>
          <a:xfrm>
            <a:off x="1645920" y="3017520"/>
            <a:ext cx="2743200" cy="365760"/>
          </a:xfrm>
          <a:prstGeom prst="rect">
            <a:avLst/>
          </a:prstGeom>
          <a:noFill/>
          <a:ln/>
        </p:spPr>
        <p:txBody>
          <a:bodyPr wrap="square" lIns="0" tIns="0" rIns="0" bIns="0" rtlCol="0" anchor="ctr"/>
          <a:lstStyle/>
          <a:p>
            <a:pPr indent="0" marL="0">
              <a:buNone/>
            </a:pPr>
            <a:r>
              <a:rPr lang="en-US" sz="1800" b="1" dirty="0">
                <a:solidFill>
                  <a:srgbClr val="0B1F3A"/>
                </a:solidFill>
                <a:latin typeface="Malgun Gothic" pitchFamily="34" charset="0"/>
                <a:ea typeface="Malgun Gothic" pitchFamily="34" charset="-122"/>
                <a:cs typeface="Malgun Gothic" pitchFamily="34" charset="-120"/>
              </a:rPr>
              <a:t>해석성</a:t>
            </a:r>
            <a:endParaRPr lang="en-US" sz="1800" dirty="0"/>
          </a:p>
        </p:txBody>
      </p:sp>
      <p:sp>
        <p:nvSpPr>
          <p:cNvPr id="26" name="Text 24"/>
          <p:cNvSpPr/>
          <p:nvPr/>
        </p:nvSpPr>
        <p:spPr>
          <a:xfrm>
            <a:off x="1645920" y="3383280"/>
            <a:ext cx="2743200" cy="274320"/>
          </a:xfrm>
          <a:prstGeom prst="rect">
            <a:avLst/>
          </a:prstGeom>
          <a:noFill/>
          <a:ln/>
        </p:spPr>
        <p:txBody>
          <a:bodyPr wrap="square" lIns="0" tIns="0" rIns="0" bIns="0" rtlCol="0" anchor="ctr"/>
          <a:lstStyle/>
          <a:p>
            <a:pPr indent="0" marL="0">
              <a:buNone/>
            </a:pPr>
            <a:r>
              <a:rPr lang="en-US" sz="1100" i="1" dirty="0">
                <a:solidFill>
                  <a:srgbClr val="00897B"/>
                </a:solidFill>
                <a:latin typeface="Malgun Gothic" pitchFamily="34" charset="0"/>
                <a:ea typeface="Malgun Gothic" pitchFamily="34" charset="-122"/>
                <a:cs typeface="Malgun Gothic" pitchFamily="34" charset="-120"/>
              </a:rPr>
              <a:t>Explainability</a:t>
            </a:r>
            <a:endParaRPr lang="en-US" sz="1100" dirty="0"/>
          </a:p>
        </p:txBody>
      </p:sp>
      <p:sp>
        <p:nvSpPr>
          <p:cNvPr id="27" name="Text 25"/>
          <p:cNvSpPr/>
          <p:nvPr/>
        </p:nvSpPr>
        <p:spPr>
          <a:xfrm>
            <a:off x="1645920" y="3685032"/>
            <a:ext cx="2743200" cy="640080"/>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SHAP TreeExplainer</a:t>
            </a:r>
            <a:endParaRPr lang="en-US" sz="1050" dirty="0"/>
          </a:p>
          <a:p>
            <a:pPr indent="0" marL="0">
              <a:buNone/>
            </a:pPr>
            <a:r>
              <a:rPr lang="en-US" sz="1050" dirty="0">
                <a:solidFill>
                  <a:srgbClr val="37474F"/>
                </a:solidFill>
                <a:latin typeface="Malgun Gothic" pitchFamily="34" charset="0"/>
                <a:ea typeface="Malgun Gothic" pitchFamily="34" charset="-122"/>
                <a:cs typeface="Malgun Gothic" pitchFamily="34" charset="-120"/>
              </a:rPr>
              <a:t>feature 별 기여도</a:t>
            </a:r>
            <a:endParaRPr lang="en-US" sz="1050" dirty="0"/>
          </a:p>
        </p:txBody>
      </p:sp>
      <p:sp>
        <p:nvSpPr>
          <p:cNvPr id="28" name="Shape 26"/>
          <p:cNvSpPr/>
          <p:nvPr/>
        </p:nvSpPr>
        <p:spPr>
          <a:xfrm>
            <a:off x="4709160" y="2788920"/>
            <a:ext cx="4023360" cy="1645920"/>
          </a:xfrm>
          <a:prstGeom prst="roundRect">
            <a:avLst>
              <a:gd name="adj" fmla="val 5556"/>
            </a:avLst>
          </a:prstGeom>
          <a:solidFill>
            <a:srgbClr val="FFFFFF"/>
          </a:solidFill>
          <a:ln w="25400">
            <a:solidFill>
              <a:srgbClr val="1E88E5"/>
            </a:solidFill>
            <a:prstDash val="solid"/>
          </a:ln>
        </p:spPr>
      </p:sp>
      <p:sp>
        <p:nvSpPr>
          <p:cNvPr id="29" name="Text 27"/>
          <p:cNvSpPr/>
          <p:nvPr/>
        </p:nvSpPr>
        <p:spPr>
          <a:xfrm>
            <a:off x="4846320" y="3017520"/>
            <a:ext cx="914400" cy="1097280"/>
          </a:xfrm>
          <a:prstGeom prst="rect">
            <a:avLst/>
          </a:prstGeom>
          <a:noFill/>
          <a:ln/>
        </p:spPr>
        <p:txBody>
          <a:bodyPr wrap="square" lIns="0" tIns="0" rIns="0" bIns="0" rtlCol="0" anchor="ctr"/>
          <a:lstStyle/>
          <a:p>
            <a:pPr algn="ctr" indent="0" marL="0">
              <a:buNone/>
            </a:pPr>
            <a:r>
              <a:rPr lang="en-US" sz="5000" dirty="0">
                <a:solidFill>
                  <a:srgbClr val="000000"/>
                </a:solidFill>
                <a:latin typeface="Malgun Gothic" pitchFamily="34" charset="0"/>
                <a:ea typeface="Malgun Gothic" pitchFamily="34" charset="-122"/>
                <a:cs typeface="Malgun Gothic" pitchFamily="34" charset="-120"/>
              </a:rPr>
              <a:t>💪</a:t>
            </a:r>
            <a:endParaRPr lang="en-US" sz="5000" dirty="0"/>
          </a:p>
        </p:txBody>
      </p:sp>
      <p:sp>
        <p:nvSpPr>
          <p:cNvPr id="30" name="Shape 28"/>
          <p:cNvSpPr/>
          <p:nvPr/>
        </p:nvSpPr>
        <p:spPr>
          <a:xfrm>
            <a:off x="4800600" y="2880360"/>
            <a:ext cx="502920" cy="502920"/>
          </a:xfrm>
          <a:prstGeom prst="ellipse">
            <a:avLst/>
          </a:prstGeom>
          <a:solidFill>
            <a:srgbClr val="1E88E5"/>
          </a:solidFill>
          <a:ln w="12700">
            <a:solidFill>
              <a:srgbClr val="1E88E5"/>
            </a:solidFill>
            <a:prstDash val="solid"/>
          </a:ln>
        </p:spPr>
      </p:sp>
      <p:sp>
        <p:nvSpPr>
          <p:cNvPr id="31" name="Text 29"/>
          <p:cNvSpPr/>
          <p:nvPr/>
        </p:nvSpPr>
        <p:spPr>
          <a:xfrm>
            <a:off x="4800600" y="28803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4</a:t>
            </a:r>
            <a:endParaRPr lang="en-US" sz="2200" dirty="0"/>
          </a:p>
        </p:txBody>
      </p:sp>
      <p:sp>
        <p:nvSpPr>
          <p:cNvPr id="32" name="Text 30"/>
          <p:cNvSpPr/>
          <p:nvPr/>
        </p:nvSpPr>
        <p:spPr>
          <a:xfrm>
            <a:off x="5897880" y="3017520"/>
            <a:ext cx="2743200" cy="365760"/>
          </a:xfrm>
          <a:prstGeom prst="rect">
            <a:avLst/>
          </a:prstGeom>
          <a:noFill/>
          <a:ln/>
        </p:spPr>
        <p:txBody>
          <a:bodyPr wrap="square" lIns="0" tIns="0" rIns="0" bIns="0" rtlCol="0" anchor="ctr"/>
          <a:lstStyle/>
          <a:p>
            <a:pPr indent="0" marL="0">
              <a:buNone/>
            </a:pPr>
            <a:r>
              <a:rPr lang="en-US" sz="1800" b="1" dirty="0">
                <a:solidFill>
                  <a:srgbClr val="0B1F3A"/>
                </a:solidFill>
                <a:latin typeface="Malgun Gothic" pitchFamily="34" charset="0"/>
                <a:ea typeface="Malgun Gothic" pitchFamily="34" charset="-122"/>
                <a:cs typeface="Malgun Gothic" pitchFamily="34" charset="-120"/>
              </a:rPr>
              <a:t>Robustness</a:t>
            </a:r>
            <a:endParaRPr lang="en-US" sz="1800" dirty="0"/>
          </a:p>
        </p:txBody>
      </p:sp>
      <p:sp>
        <p:nvSpPr>
          <p:cNvPr id="33" name="Text 31"/>
          <p:cNvSpPr/>
          <p:nvPr/>
        </p:nvSpPr>
        <p:spPr>
          <a:xfrm>
            <a:off x="5897880" y="3383280"/>
            <a:ext cx="2743200" cy="274320"/>
          </a:xfrm>
          <a:prstGeom prst="rect">
            <a:avLst/>
          </a:prstGeom>
          <a:noFill/>
          <a:ln/>
        </p:spPr>
        <p:txBody>
          <a:bodyPr wrap="square" lIns="0" tIns="0" rIns="0" bIns="0" rtlCol="0" anchor="ctr"/>
          <a:lstStyle/>
          <a:p>
            <a:pPr indent="0" marL="0">
              <a:buNone/>
            </a:pPr>
            <a:r>
              <a:rPr lang="en-US" sz="1100" i="1" dirty="0">
                <a:solidFill>
                  <a:srgbClr val="1E88E5"/>
                </a:solidFill>
                <a:latin typeface="Malgun Gothic" pitchFamily="34" charset="0"/>
                <a:ea typeface="Malgun Gothic" pitchFamily="34" charset="-122"/>
                <a:cs typeface="Malgun Gothic" pitchFamily="34" charset="-120"/>
              </a:rPr>
              <a:t>Robustness</a:t>
            </a:r>
            <a:endParaRPr lang="en-US" sz="1100" dirty="0"/>
          </a:p>
        </p:txBody>
      </p:sp>
      <p:sp>
        <p:nvSpPr>
          <p:cNvPr id="34" name="Text 32"/>
          <p:cNvSpPr/>
          <p:nvPr/>
        </p:nvSpPr>
        <p:spPr>
          <a:xfrm>
            <a:off x="5897880" y="3685032"/>
            <a:ext cx="2743200" cy="640080"/>
          </a:xfrm>
          <a:prstGeom prst="rect">
            <a:avLst/>
          </a:prstGeom>
          <a:noFill/>
          <a:ln/>
        </p:spPr>
        <p:txBody>
          <a:bodyPr wrap="square" lIns="0" tIns="0" rIns="0" bIns="0" rtlCol="0" anchor="ctr"/>
          <a:lstStyle/>
          <a:p>
            <a:pPr indent="0" marL="0">
              <a:buNone/>
            </a:pPr>
            <a:r>
              <a:rPr lang="en-US" sz="1050" dirty="0">
                <a:solidFill>
                  <a:srgbClr val="37474F"/>
                </a:solidFill>
                <a:latin typeface="Malgun Gothic" pitchFamily="34" charset="0"/>
                <a:ea typeface="Malgun Gothic" pitchFamily="34" charset="-122"/>
                <a:cs typeface="Malgun Gothic" pitchFamily="34" charset="-120"/>
              </a:rPr>
              <a:t>NaN 자동 처리</a:t>
            </a:r>
            <a:endParaRPr lang="en-US" sz="1050" dirty="0"/>
          </a:p>
          <a:p>
            <a:pPr indent="0" marL="0">
              <a:buNone/>
            </a:pPr>
            <a:r>
              <a:rPr lang="en-US" sz="1050" dirty="0">
                <a:solidFill>
                  <a:srgbClr val="37474F"/>
                </a:solidFill>
                <a:latin typeface="Malgun Gothic" pitchFamily="34" charset="0"/>
                <a:ea typeface="Malgun Gothic" pitchFamily="34" charset="-122"/>
                <a:cs typeface="Malgun Gothic" pitchFamily="34" charset="-120"/>
              </a:rPr>
              <a:t>이상치·스케일 무관</a:t>
            </a:r>
            <a:endParaRPr lang="en-US" sz="1050" dirty="0"/>
          </a:p>
        </p:txBody>
      </p:sp>
      <p:sp>
        <p:nvSpPr>
          <p:cNvPr id="35" name="Shape 33"/>
          <p:cNvSpPr/>
          <p:nvPr/>
        </p:nvSpPr>
        <p:spPr>
          <a:xfrm>
            <a:off x="0" y="4892040"/>
            <a:ext cx="9144000" cy="256032"/>
          </a:xfrm>
          <a:prstGeom prst="rect">
            <a:avLst/>
          </a:prstGeom>
          <a:solidFill>
            <a:srgbClr val="0B1F3A"/>
          </a:solidFill>
          <a:ln w="12700">
            <a:solidFill>
              <a:srgbClr val="0B1F3A"/>
            </a:solidFill>
            <a:prstDash val="solid"/>
          </a:ln>
        </p:spPr>
      </p:sp>
      <p:sp>
        <p:nvSpPr>
          <p:cNvPr id="36" name="Text 34"/>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7" name="Text 35"/>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07 · MODELS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XGBoost 작동 원리</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How Gradient Boosting Actually Works</a:t>
            </a:r>
            <a:endParaRPr lang="en-US" sz="1050" dirty="0"/>
          </a:p>
        </p:txBody>
      </p:sp>
      <p:sp>
        <p:nvSpPr>
          <p:cNvPr id="7" name="Text 5"/>
          <p:cNvSpPr/>
          <p:nvPr/>
        </p:nvSpPr>
        <p:spPr>
          <a:xfrm>
            <a:off x="457200" y="960120"/>
            <a:ext cx="8229600" cy="274320"/>
          </a:xfrm>
          <a:prstGeom prst="rect">
            <a:avLst/>
          </a:prstGeom>
          <a:noFill/>
          <a:ln/>
        </p:spPr>
        <p:txBody>
          <a:bodyPr wrap="square" lIns="0" tIns="0" rIns="0" bIns="0" rtlCol="0" anchor="ctr"/>
          <a:lstStyle/>
          <a:p>
            <a:pPr indent="0" marL="0">
              <a:buNone/>
            </a:pPr>
            <a:r>
              <a:rPr lang="en-US" sz="1200" b="1" dirty="0">
                <a:solidFill>
                  <a:srgbClr val="FFB300"/>
                </a:solidFill>
                <a:latin typeface="Malgun Gothic" pitchFamily="34" charset="0"/>
                <a:ea typeface="Malgun Gothic" pitchFamily="34" charset="-122"/>
                <a:cs typeface="Malgun Gothic" pitchFamily="34" charset="-120"/>
              </a:rPr>
              <a:t>💡 한 문장 요약</a:t>
            </a:r>
            <a:endParaRPr lang="en-US" sz="1200" dirty="0"/>
          </a:p>
        </p:txBody>
      </p:sp>
      <p:sp>
        <p:nvSpPr>
          <p:cNvPr id="8" name="Shape 6"/>
          <p:cNvSpPr/>
          <p:nvPr/>
        </p:nvSpPr>
        <p:spPr>
          <a:xfrm>
            <a:off x="457200" y="1234440"/>
            <a:ext cx="8138160" cy="640080"/>
          </a:xfrm>
          <a:prstGeom prst="roundRect">
            <a:avLst>
              <a:gd name="adj" fmla="val 11429"/>
            </a:avLst>
          </a:prstGeom>
          <a:solidFill>
            <a:srgbClr val="E3F2FD"/>
          </a:solidFill>
          <a:ln w="12700">
            <a:solidFill>
              <a:srgbClr val="1E88E5"/>
            </a:solidFill>
            <a:prstDash val="solid"/>
          </a:ln>
        </p:spPr>
      </p:sp>
      <p:sp>
        <p:nvSpPr>
          <p:cNvPr id="9" name="Text 7"/>
          <p:cNvSpPr/>
          <p:nvPr/>
        </p:nvSpPr>
        <p:spPr>
          <a:xfrm>
            <a:off x="640080" y="1280160"/>
            <a:ext cx="7863840" cy="594360"/>
          </a:xfrm>
          <a:prstGeom prst="rect">
            <a:avLst/>
          </a:prstGeom>
          <a:noFill/>
          <a:ln/>
        </p:spPr>
        <p:txBody>
          <a:bodyPr wrap="square" lIns="0" tIns="0" rIns="0" bIns="0" rtlCol="0" anchor="ctr"/>
          <a:lstStyle/>
          <a:p>
            <a:pPr indent="0" marL="0">
              <a:buNone/>
            </a:pPr>
            <a:r>
              <a:rPr lang="en-US" sz="1200" dirty="0">
                <a:solidFill>
                  <a:srgbClr val="0B1F3A"/>
                </a:solidFill>
                <a:latin typeface="Malgun Gothic" pitchFamily="34" charset="0"/>
                <a:ea typeface="Malgun Gothic" pitchFamily="34" charset="-122"/>
                <a:cs typeface="Malgun Gothic" pitchFamily="34" charset="-120"/>
              </a:rPr>
              <a:t>여러 개의 '약한 모델' 을 순차적으로 만들되, </a:t>
            </a:r>
            <a:pPr indent="0" marL="0">
              <a:buNone/>
            </a:pPr>
            <a:r>
              <a:rPr lang="en-US" sz="1200" b="1" dirty="0">
                <a:solidFill>
                  <a:srgbClr val="EF5350"/>
                </a:solidFill>
                <a:latin typeface="Malgun Gothic" pitchFamily="34" charset="0"/>
                <a:ea typeface="Malgun Gothic" pitchFamily="34" charset="-122"/>
                <a:cs typeface="Malgun Gothic" pitchFamily="34" charset="-120"/>
              </a:rPr>
              <a:t>이전 모델의 오차에만 집중</a:t>
            </a:r>
            <a:pPr indent="0" marL="0">
              <a:buNone/>
            </a:pPr>
            <a:r>
              <a:rPr lang="en-US" sz="1200" dirty="0">
                <a:solidFill>
                  <a:srgbClr val="0B1F3A"/>
                </a:solidFill>
                <a:latin typeface="Malgun Gothic" pitchFamily="34" charset="0"/>
                <a:ea typeface="Malgun Gothic" pitchFamily="34" charset="-122"/>
                <a:cs typeface="Malgun Gothic" pitchFamily="34" charset="-120"/>
              </a:rPr>
              <a:t>해 학습
</a:t>
            </a:r>
            <a:pPr indent="0" marL="0">
              <a:buNone/>
            </a:pPr>
            <a:r>
              <a:rPr lang="en-US" sz="950" i="1" dirty="0">
                <a:solidFill>
                  <a:srgbClr val="78909C"/>
                </a:solidFill>
                <a:latin typeface="Malgun Gothic" pitchFamily="34" charset="0"/>
                <a:ea typeface="Malgun Gothic" pitchFamily="34" charset="-122"/>
                <a:cs typeface="Malgun Gothic" pitchFamily="34" charset="-120"/>
              </a:rPr>
              <a:t>Build many weak models sequentially, each focusing only on the previous model's errors</a:t>
            </a:r>
            <a:endParaRPr lang="en-US" sz="1200" dirty="0"/>
          </a:p>
        </p:txBody>
      </p:sp>
      <p:sp>
        <p:nvSpPr>
          <p:cNvPr id="10" name="Shape 8"/>
          <p:cNvSpPr/>
          <p:nvPr/>
        </p:nvSpPr>
        <p:spPr>
          <a:xfrm>
            <a:off x="457200" y="2103120"/>
            <a:ext cx="1828800" cy="1463040"/>
          </a:xfrm>
          <a:prstGeom prst="roundRect">
            <a:avLst>
              <a:gd name="adj" fmla="val 5000"/>
            </a:avLst>
          </a:prstGeom>
          <a:solidFill>
            <a:srgbClr val="FFFFFF"/>
          </a:solidFill>
          <a:ln w="19050">
            <a:solidFill>
              <a:srgbClr val="EF5350"/>
            </a:solidFill>
            <a:prstDash val="solid"/>
          </a:ln>
        </p:spPr>
      </p:sp>
      <p:sp>
        <p:nvSpPr>
          <p:cNvPr id="11" name="Text 9"/>
          <p:cNvSpPr/>
          <p:nvPr/>
        </p:nvSpPr>
        <p:spPr>
          <a:xfrm>
            <a:off x="457200" y="2148840"/>
            <a:ext cx="1828800" cy="457200"/>
          </a:xfrm>
          <a:prstGeom prst="rect">
            <a:avLst/>
          </a:prstGeom>
          <a:noFill/>
          <a:ln/>
        </p:spPr>
        <p:txBody>
          <a:bodyPr wrap="square" lIns="0" tIns="0" rIns="0" bIns="0" rtlCol="0" anchor="ctr"/>
          <a:lstStyle/>
          <a:p>
            <a:pPr algn="ctr" indent="0" marL="0">
              <a:buNone/>
            </a:pPr>
            <a:r>
              <a:rPr lang="en-US" sz="3000" dirty="0">
                <a:solidFill>
                  <a:srgbClr val="000000"/>
                </a:solidFill>
                <a:latin typeface="Malgun Gothic" pitchFamily="34" charset="0"/>
                <a:ea typeface="Malgun Gothic" pitchFamily="34" charset="-122"/>
                <a:cs typeface="Malgun Gothic" pitchFamily="34" charset="-120"/>
              </a:rPr>
              <a:t>🌳</a:t>
            </a:r>
            <a:endParaRPr lang="en-US" sz="3000" dirty="0"/>
          </a:p>
        </p:txBody>
      </p:sp>
      <p:sp>
        <p:nvSpPr>
          <p:cNvPr id="12" name="Text 10"/>
          <p:cNvSpPr/>
          <p:nvPr/>
        </p:nvSpPr>
        <p:spPr>
          <a:xfrm>
            <a:off x="457200" y="2606040"/>
            <a:ext cx="1828800" cy="274320"/>
          </a:xfrm>
          <a:prstGeom prst="rect">
            <a:avLst/>
          </a:prstGeom>
          <a:noFill/>
          <a:ln/>
        </p:spPr>
        <p:txBody>
          <a:bodyPr wrap="square" lIns="0" tIns="0" rIns="0" bIns="0" rtlCol="0" anchor="ctr"/>
          <a:lstStyle/>
          <a:p>
            <a:pPr algn="ctr" indent="0" marL="0">
              <a:buNone/>
            </a:pPr>
            <a:r>
              <a:rPr lang="en-US" sz="1200" b="1" dirty="0">
                <a:solidFill>
                  <a:srgbClr val="EF5350"/>
                </a:solidFill>
                <a:latin typeface="Malgun Gothic" pitchFamily="34" charset="0"/>
                <a:ea typeface="Malgun Gothic" pitchFamily="34" charset="-122"/>
                <a:cs typeface="Malgun Gothic" pitchFamily="34" charset="-120"/>
              </a:rPr>
              <a:t>Tree 1</a:t>
            </a:r>
            <a:endParaRPr lang="en-US" sz="1200" dirty="0"/>
          </a:p>
        </p:txBody>
      </p:sp>
      <p:sp>
        <p:nvSpPr>
          <p:cNvPr id="13" name="Text 11"/>
          <p:cNvSpPr/>
          <p:nvPr/>
        </p:nvSpPr>
        <p:spPr>
          <a:xfrm>
            <a:off x="548640" y="2926080"/>
            <a:ext cx="1645920" cy="256032"/>
          </a:xfrm>
          <a:prstGeom prst="rect">
            <a:avLst/>
          </a:prstGeom>
          <a:noFill/>
          <a:ln/>
        </p:spPr>
        <p:txBody>
          <a:bodyPr wrap="square" lIns="0" tIns="0" rIns="0" bIns="0" rtlCol="0" anchor="ctr"/>
          <a:lstStyle/>
          <a:p>
            <a:pPr algn="ctr" indent="0" marL="0">
              <a:buNone/>
            </a:pPr>
            <a:r>
              <a:rPr lang="en-US" sz="1000" dirty="0">
                <a:solidFill>
                  <a:srgbClr val="0B1F3A"/>
                </a:solidFill>
                <a:latin typeface="Malgun Gothic" pitchFamily="34" charset="0"/>
                <a:ea typeface="Malgun Gothic" pitchFamily="34" charset="-122"/>
                <a:cs typeface="Malgun Gothic" pitchFamily="34" charset="-120"/>
              </a:rPr>
              <a:t>예측: 10 분</a:t>
            </a:r>
            <a:endParaRPr lang="en-US" sz="1000" dirty="0"/>
          </a:p>
        </p:txBody>
      </p:sp>
      <p:sp>
        <p:nvSpPr>
          <p:cNvPr id="14" name="Text 12"/>
          <p:cNvSpPr/>
          <p:nvPr/>
        </p:nvSpPr>
        <p:spPr>
          <a:xfrm>
            <a:off x="548640" y="3182112"/>
            <a:ext cx="1645920" cy="256032"/>
          </a:xfrm>
          <a:prstGeom prst="rect">
            <a:avLst/>
          </a:prstGeom>
          <a:noFill/>
          <a:ln/>
        </p:spPr>
        <p:txBody>
          <a:bodyPr wrap="square" lIns="0" tIns="0" rIns="0" bIns="0" rtlCol="0" anchor="ctr"/>
          <a:lstStyle/>
          <a:p>
            <a:pPr algn="ctr" indent="0" marL="0">
              <a:buNone/>
            </a:pPr>
            <a:r>
              <a:rPr lang="en-US" sz="950" i="1" dirty="0">
                <a:solidFill>
                  <a:srgbClr val="78909C"/>
                </a:solidFill>
                <a:latin typeface="Malgun Gothic" pitchFamily="34" charset="0"/>
                <a:ea typeface="Malgun Gothic" pitchFamily="34" charset="-122"/>
                <a:cs typeface="Malgun Gothic" pitchFamily="34" charset="-120"/>
              </a:rPr>
              <a:t>오차: ±15 분</a:t>
            </a:r>
            <a:endParaRPr lang="en-US" sz="950" dirty="0"/>
          </a:p>
        </p:txBody>
      </p:sp>
      <p:sp>
        <p:nvSpPr>
          <p:cNvPr id="15" name="Text 13"/>
          <p:cNvSpPr/>
          <p:nvPr/>
        </p:nvSpPr>
        <p:spPr>
          <a:xfrm>
            <a:off x="2286000" y="2560320"/>
            <a:ext cx="274320" cy="548640"/>
          </a:xfrm>
          <a:prstGeom prst="rect">
            <a:avLst/>
          </a:prstGeom>
          <a:noFill/>
          <a:ln/>
        </p:spPr>
        <p:txBody>
          <a:bodyPr wrap="square" lIns="0" tIns="0" rIns="0" bIns="0" rtlCol="0" anchor="ctr"/>
          <a:lstStyle/>
          <a:p>
            <a:pPr algn="ctr" indent="0" marL="0">
              <a:buNone/>
            </a:pPr>
            <a:r>
              <a:rPr lang="en-US" sz="1800" b="1" dirty="0">
                <a:solidFill>
                  <a:srgbClr val="FFB300"/>
                </a:solidFill>
              </a:rPr>
              <a:t>+</a:t>
            </a:r>
            <a:endParaRPr lang="en-US" sz="1800" dirty="0"/>
          </a:p>
        </p:txBody>
      </p:sp>
      <p:sp>
        <p:nvSpPr>
          <p:cNvPr id="16" name="Shape 14"/>
          <p:cNvSpPr/>
          <p:nvPr/>
        </p:nvSpPr>
        <p:spPr>
          <a:xfrm>
            <a:off x="2560320" y="2103120"/>
            <a:ext cx="1828800" cy="1463040"/>
          </a:xfrm>
          <a:prstGeom prst="roundRect">
            <a:avLst>
              <a:gd name="adj" fmla="val 5000"/>
            </a:avLst>
          </a:prstGeom>
          <a:solidFill>
            <a:srgbClr val="FFFFFF"/>
          </a:solidFill>
          <a:ln w="19050">
            <a:solidFill>
              <a:srgbClr val="FFB300"/>
            </a:solidFill>
            <a:prstDash val="solid"/>
          </a:ln>
        </p:spPr>
      </p:sp>
      <p:sp>
        <p:nvSpPr>
          <p:cNvPr id="17" name="Text 15"/>
          <p:cNvSpPr/>
          <p:nvPr/>
        </p:nvSpPr>
        <p:spPr>
          <a:xfrm>
            <a:off x="2560320" y="2148840"/>
            <a:ext cx="1828800" cy="457200"/>
          </a:xfrm>
          <a:prstGeom prst="rect">
            <a:avLst/>
          </a:prstGeom>
          <a:noFill/>
          <a:ln/>
        </p:spPr>
        <p:txBody>
          <a:bodyPr wrap="square" lIns="0" tIns="0" rIns="0" bIns="0" rtlCol="0" anchor="ctr"/>
          <a:lstStyle/>
          <a:p>
            <a:pPr algn="ctr" indent="0" marL="0">
              <a:buNone/>
            </a:pPr>
            <a:r>
              <a:rPr lang="en-US" sz="3000" dirty="0">
                <a:solidFill>
                  <a:srgbClr val="000000"/>
                </a:solidFill>
                <a:latin typeface="Malgun Gothic" pitchFamily="34" charset="0"/>
                <a:ea typeface="Malgun Gothic" pitchFamily="34" charset="-122"/>
                <a:cs typeface="Malgun Gothic" pitchFamily="34" charset="-120"/>
              </a:rPr>
              <a:t>🌳</a:t>
            </a:r>
            <a:endParaRPr lang="en-US" sz="3000" dirty="0"/>
          </a:p>
        </p:txBody>
      </p:sp>
      <p:sp>
        <p:nvSpPr>
          <p:cNvPr id="18" name="Text 16"/>
          <p:cNvSpPr/>
          <p:nvPr/>
        </p:nvSpPr>
        <p:spPr>
          <a:xfrm>
            <a:off x="2560320" y="2606040"/>
            <a:ext cx="1828800" cy="274320"/>
          </a:xfrm>
          <a:prstGeom prst="rect">
            <a:avLst/>
          </a:prstGeom>
          <a:noFill/>
          <a:ln/>
        </p:spPr>
        <p:txBody>
          <a:bodyPr wrap="square" lIns="0" tIns="0" rIns="0" bIns="0" rtlCol="0" anchor="ctr"/>
          <a:lstStyle/>
          <a:p>
            <a:pPr algn="ctr" indent="0" marL="0">
              <a:buNone/>
            </a:pPr>
            <a:r>
              <a:rPr lang="en-US" sz="1200" b="1" dirty="0">
                <a:solidFill>
                  <a:srgbClr val="FFB300"/>
                </a:solidFill>
                <a:latin typeface="Malgun Gothic" pitchFamily="34" charset="0"/>
                <a:ea typeface="Malgun Gothic" pitchFamily="34" charset="-122"/>
                <a:cs typeface="Malgun Gothic" pitchFamily="34" charset="-120"/>
              </a:rPr>
              <a:t>Tree 2</a:t>
            </a:r>
            <a:endParaRPr lang="en-US" sz="1200" dirty="0"/>
          </a:p>
        </p:txBody>
      </p:sp>
      <p:sp>
        <p:nvSpPr>
          <p:cNvPr id="19" name="Text 17"/>
          <p:cNvSpPr/>
          <p:nvPr/>
        </p:nvSpPr>
        <p:spPr>
          <a:xfrm>
            <a:off x="2651760" y="2926080"/>
            <a:ext cx="1645920" cy="256032"/>
          </a:xfrm>
          <a:prstGeom prst="rect">
            <a:avLst/>
          </a:prstGeom>
          <a:noFill/>
          <a:ln/>
        </p:spPr>
        <p:txBody>
          <a:bodyPr wrap="square" lIns="0" tIns="0" rIns="0" bIns="0" rtlCol="0" anchor="ctr"/>
          <a:lstStyle/>
          <a:p>
            <a:pPr algn="ctr" indent="0" marL="0">
              <a:buNone/>
            </a:pPr>
            <a:r>
              <a:rPr lang="en-US" sz="1000" dirty="0">
                <a:solidFill>
                  <a:srgbClr val="0B1F3A"/>
                </a:solidFill>
                <a:latin typeface="Malgun Gothic" pitchFamily="34" charset="0"/>
                <a:ea typeface="Malgun Gothic" pitchFamily="34" charset="-122"/>
                <a:cs typeface="Malgun Gothic" pitchFamily="34" charset="-120"/>
              </a:rPr>
              <a:t>잔차에 집중</a:t>
            </a:r>
            <a:endParaRPr lang="en-US" sz="1000" dirty="0"/>
          </a:p>
        </p:txBody>
      </p:sp>
      <p:sp>
        <p:nvSpPr>
          <p:cNvPr id="20" name="Text 18"/>
          <p:cNvSpPr/>
          <p:nvPr/>
        </p:nvSpPr>
        <p:spPr>
          <a:xfrm>
            <a:off x="2651760" y="3182112"/>
            <a:ext cx="1645920" cy="256032"/>
          </a:xfrm>
          <a:prstGeom prst="rect">
            <a:avLst/>
          </a:prstGeom>
          <a:noFill/>
          <a:ln/>
        </p:spPr>
        <p:txBody>
          <a:bodyPr wrap="square" lIns="0" tIns="0" rIns="0" bIns="0" rtlCol="0" anchor="ctr"/>
          <a:lstStyle/>
          <a:p>
            <a:pPr algn="ctr" indent="0" marL="0">
              <a:buNone/>
            </a:pPr>
            <a:r>
              <a:rPr lang="en-US" sz="950" i="1" dirty="0">
                <a:solidFill>
                  <a:srgbClr val="78909C"/>
                </a:solidFill>
                <a:latin typeface="Malgun Gothic" pitchFamily="34" charset="0"/>
                <a:ea typeface="Malgun Gothic" pitchFamily="34" charset="-122"/>
                <a:cs typeface="Malgun Gothic" pitchFamily="34" charset="-120"/>
              </a:rPr>
              <a:t>오차: ±8 분</a:t>
            </a:r>
            <a:endParaRPr lang="en-US" sz="950" dirty="0"/>
          </a:p>
        </p:txBody>
      </p:sp>
      <p:sp>
        <p:nvSpPr>
          <p:cNvPr id="21" name="Text 19"/>
          <p:cNvSpPr/>
          <p:nvPr/>
        </p:nvSpPr>
        <p:spPr>
          <a:xfrm>
            <a:off x="4389120" y="2560320"/>
            <a:ext cx="274320" cy="548640"/>
          </a:xfrm>
          <a:prstGeom prst="rect">
            <a:avLst/>
          </a:prstGeom>
          <a:noFill/>
          <a:ln/>
        </p:spPr>
        <p:txBody>
          <a:bodyPr wrap="square" lIns="0" tIns="0" rIns="0" bIns="0" rtlCol="0" anchor="ctr"/>
          <a:lstStyle/>
          <a:p>
            <a:pPr algn="ctr" indent="0" marL="0">
              <a:buNone/>
            </a:pPr>
            <a:r>
              <a:rPr lang="en-US" sz="1800" b="1" dirty="0">
                <a:solidFill>
                  <a:srgbClr val="FFB300"/>
                </a:solidFill>
              </a:rPr>
              <a:t>+</a:t>
            </a:r>
            <a:endParaRPr lang="en-US" sz="1800" dirty="0"/>
          </a:p>
        </p:txBody>
      </p:sp>
      <p:sp>
        <p:nvSpPr>
          <p:cNvPr id="22" name="Shape 20"/>
          <p:cNvSpPr/>
          <p:nvPr/>
        </p:nvSpPr>
        <p:spPr>
          <a:xfrm>
            <a:off x="4663440" y="2103120"/>
            <a:ext cx="1828800" cy="1463040"/>
          </a:xfrm>
          <a:prstGeom prst="roundRect">
            <a:avLst>
              <a:gd name="adj" fmla="val 5000"/>
            </a:avLst>
          </a:prstGeom>
          <a:solidFill>
            <a:srgbClr val="FFFFFF"/>
          </a:solidFill>
          <a:ln w="19050">
            <a:solidFill>
              <a:srgbClr val="00897B"/>
            </a:solidFill>
            <a:prstDash val="solid"/>
          </a:ln>
        </p:spPr>
      </p:sp>
      <p:sp>
        <p:nvSpPr>
          <p:cNvPr id="23" name="Text 21"/>
          <p:cNvSpPr/>
          <p:nvPr/>
        </p:nvSpPr>
        <p:spPr>
          <a:xfrm>
            <a:off x="4663440" y="2148840"/>
            <a:ext cx="1828800" cy="457200"/>
          </a:xfrm>
          <a:prstGeom prst="rect">
            <a:avLst/>
          </a:prstGeom>
          <a:noFill/>
          <a:ln/>
        </p:spPr>
        <p:txBody>
          <a:bodyPr wrap="square" lIns="0" tIns="0" rIns="0" bIns="0" rtlCol="0" anchor="ctr"/>
          <a:lstStyle/>
          <a:p>
            <a:pPr algn="ctr" indent="0" marL="0">
              <a:buNone/>
            </a:pPr>
            <a:r>
              <a:rPr lang="en-US" sz="3000" dirty="0">
                <a:solidFill>
                  <a:srgbClr val="000000"/>
                </a:solidFill>
                <a:latin typeface="Malgun Gothic" pitchFamily="34" charset="0"/>
                <a:ea typeface="Malgun Gothic" pitchFamily="34" charset="-122"/>
                <a:cs typeface="Malgun Gothic" pitchFamily="34" charset="-120"/>
              </a:rPr>
              <a:t>🌳</a:t>
            </a:r>
            <a:endParaRPr lang="en-US" sz="3000" dirty="0"/>
          </a:p>
        </p:txBody>
      </p:sp>
      <p:sp>
        <p:nvSpPr>
          <p:cNvPr id="24" name="Text 22"/>
          <p:cNvSpPr/>
          <p:nvPr/>
        </p:nvSpPr>
        <p:spPr>
          <a:xfrm>
            <a:off x="4663440" y="2606040"/>
            <a:ext cx="1828800" cy="274320"/>
          </a:xfrm>
          <a:prstGeom prst="rect">
            <a:avLst/>
          </a:prstGeom>
          <a:noFill/>
          <a:ln/>
        </p:spPr>
        <p:txBody>
          <a:bodyPr wrap="square" lIns="0" tIns="0" rIns="0" bIns="0" rtlCol="0" anchor="ctr"/>
          <a:lstStyle/>
          <a:p>
            <a:pPr algn="ctr" indent="0" marL="0">
              <a:buNone/>
            </a:pPr>
            <a:r>
              <a:rPr lang="en-US" sz="1200" b="1" dirty="0">
                <a:solidFill>
                  <a:srgbClr val="00897B"/>
                </a:solidFill>
                <a:latin typeface="Malgun Gothic" pitchFamily="34" charset="0"/>
                <a:ea typeface="Malgun Gothic" pitchFamily="34" charset="-122"/>
                <a:cs typeface="Malgun Gothic" pitchFamily="34" charset="-120"/>
              </a:rPr>
              <a:t>Tree 3</a:t>
            </a:r>
            <a:endParaRPr lang="en-US" sz="1200" dirty="0"/>
          </a:p>
        </p:txBody>
      </p:sp>
      <p:sp>
        <p:nvSpPr>
          <p:cNvPr id="25" name="Text 23"/>
          <p:cNvSpPr/>
          <p:nvPr/>
        </p:nvSpPr>
        <p:spPr>
          <a:xfrm>
            <a:off x="4754880" y="2926080"/>
            <a:ext cx="1645920" cy="256032"/>
          </a:xfrm>
          <a:prstGeom prst="rect">
            <a:avLst/>
          </a:prstGeom>
          <a:noFill/>
          <a:ln/>
        </p:spPr>
        <p:txBody>
          <a:bodyPr wrap="square" lIns="0" tIns="0" rIns="0" bIns="0" rtlCol="0" anchor="ctr"/>
          <a:lstStyle/>
          <a:p>
            <a:pPr algn="ctr" indent="0" marL="0">
              <a:buNone/>
            </a:pPr>
            <a:r>
              <a:rPr lang="en-US" sz="1000" dirty="0">
                <a:solidFill>
                  <a:srgbClr val="0B1F3A"/>
                </a:solidFill>
                <a:latin typeface="Malgun Gothic" pitchFamily="34" charset="0"/>
                <a:ea typeface="Malgun Gothic" pitchFamily="34" charset="-122"/>
                <a:cs typeface="Malgun Gothic" pitchFamily="34" charset="-120"/>
              </a:rPr>
              <a:t>더 세밀하게</a:t>
            </a:r>
            <a:endParaRPr lang="en-US" sz="1000" dirty="0"/>
          </a:p>
        </p:txBody>
      </p:sp>
      <p:sp>
        <p:nvSpPr>
          <p:cNvPr id="26" name="Text 24"/>
          <p:cNvSpPr/>
          <p:nvPr/>
        </p:nvSpPr>
        <p:spPr>
          <a:xfrm>
            <a:off x="4754880" y="3182112"/>
            <a:ext cx="1645920" cy="256032"/>
          </a:xfrm>
          <a:prstGeom prst="rect">
            <a:avLst/>
          </a:prstGeom>
          <a:noFill/>
          <a:ln/>
        </p:spPr>
        <p:txBody>
          <a:bodyPr wrap="square" lIns="0" tIns="0" rIns="0" bIns="0" rtlCol="0" anchor="ctr"/>
          <a:lstStyle/>
          <a:p>
            <a:pPr algn="ctr" indent="0" marL="0">
              <a:buNone/>
            </a:pPr>
            <a:r>
              <a:rPr lang="en-US" sz="950" i="1" dirty="0">
                <a:solidFill>
                  <a:srgbClr val="78909C"/>
                </a:solidFill>
                <a:latin typeface="Malgun Gothic" pitchFamily="34" charset="0"/>
                <a:ea typeface="Malgun Gothic" pitchFamily="34" charset="-122"/>
                <a:cs typeface="Malgun Gothic" pitchFamily="34" charset="-120"/>
              </a:rPr>
              <a:t>오차: ±3 분</a:t>
            </a:r>
            <a:endParaRPr lang="en-US" sz="950" dirty="0"/>
          </a:p>
        </p:txBody>
      </p:sp>
      <p:sp>
        <p:nvSpPr>
          <p:cNvPr id="27" name="Text 25"/>
          <p:cNvSpPr/>
          <p:nvPr/>
        </p:nvSpPr>
        <p:spPr>
          <a:xfrm>
            <a:off x="6492240" y="2560320"/>
            <a:ext cx="274320" cy="548640"/>
          </a:xfrm>
          <a:prstGeom prst="rect">
            <a:avLst/>
          </a:prstGeom>
          <a:noFill/>
          <a:ln/>
        </p:spPr>
        <p:txBody>
          <a:bodyPr wrap="square" lIns="0" tIns="0" rIns="0" bIns="0" rtlCol="0" anchor="ctr"/>
          <a:lstStyle/>
          <a:p>
            <a:pPr algn="ctr" indent="0" marL="0">
              <a:buNone/>
            </a:pPr>
            <a:r>
              <a:rPr lang="en-US" sz="1800" b="1" dirty="0">
                <a:solidFill>
                  <a:srgbClr val="FFB300"/>
                </a:solidFill>
              </a:rPr>
              <a:t>+</a:t>
            </a:r>
            <a:endParaRPr lang="en-US" sz="1800" dirty="0"/>
          </a:p>
        </p:txBody>
      </p:sp>
      <p:sp>
        <p:nvSpPr>
          <p:cNvPr id="28" name="Shape 26"/>
          <p:cNvSpPr/>
          <p:nvPr/>
        </p:nvSpPr>
        <p:spPr>
          <a:xfrm>
            <a:off x="6766560" y="2103120"/>
            <a:ext cx="1828800" cy="1463040"/>
          </a:xfrm>
          <a:prstGeom prst="roundRect">
            <a:avLst>
              <a:gd name="adj" fmla="val 5000"/>
            </a:avLst>
          </a:prstGeom>
          <a:solidFill>
            <a:srgbClr val="FFFFFF"/>
          </a:solidFill>
          <a:ln w="19050">
            <a:solidFill>
              <a:srgbClr val="43A047"/>
            </a:solidFill>
            <a:prstDash val="solid"/>
          </a:ln>
        </p:spPr>
      </p:sp>
      <p:sp>
        <p:nvSpPr>
          <p:cNvPr id="29" name="Text 27"/>
          <p:cNvSpPr/>
          <p:nvPr/>
        </p:nvSpPr>
        <p:spPr>
          <a:xfrm>
            <a:off x="6766560" y="2148840"/>
            <a:ext cx="1828800" cy="457200"/>
          </a:xfrm>
          <a:prstGeom prst="rect">
            <a:avLst/>
          </a:prstGeom>
          <a:noFill/>
          <a:ln/>
        </p:spPr>
        <p:txBody>
          <a:bodyPr wrap="square" lIns="0" tIns="0" rIns="0" bIns="0" rtlCol="0" anchor="ctr"/>
          <a:lstStyle/>
          <a:p>
            <a:pPr algn="ctr" indent="0" marL="0">
              <a:buNone/>
            </a:pPr>
            <a:r>
              <a:rPr lang="en-US" sz="3000" dirty="0">
                <a:solidFill>
                  <a:srgbClr val="000000"/>
                </a:solidFill>
                <a:latin typeface="Malgun Gothic" pitchFamily="34" charset="0"/>
                <a:ea typeface="Malgun Gothic" pitchFamily="34" charset="-122"/>
                <a:cs typeface="Malgun Gothic" pitchFamily="34" charset="-120"/>
              </a:rPr>
              <a:t>🌳</a:t>
            </a:r>
            <a:endParaRPr lang="en-US" sz="3000" dirty="0"/>
          </a:p>
        </p:txBody>
      </p:sp>
      <p:sp>
        <p:nvSpPr>
          <p:cNvPr id="30" name="Text 28"/>
          <p:cNvSpPr/>
          <p:nvPr/>
        </p:nvSpPr>
        <p:spPr>
          <a:xfrm>
            <a:off x="6766560" y="2606040"/>
            <a:ext cx="1828800" cy="274320"/>
          </a:xfrm>
          <a:prstGeom prst="rect">
            <a:avLst/>
          </a:prstGeom>
          <a:noFill/>
          <a:ln/>
        </p:spPr>
        <p:txBody>
          <a:bodyPr wrap="square" lIns="0" tIns="0" rIns="0" bIns="0" rtlCol="0" anchor="ctr"/>
          <a:lstStyle/>
          <a:p>
            <a:pPr algn="ctr" indent="0" marL="0">
              <a:buNone/>
            </a:pPr>
            <a:r>
              <a:rPr lang="en-US" sz="1200" b="1" dirty="0">
                <a:solidFill>
                  <a:srgbClr val="43A047"/>
                </a:solidFill>
                <a:latin typeface="Malgun Gothic" pitchFamily="34" charset="0"/>
                <a:ea typeface="Malgun Gothic" pitchFamily="34" charset="-122"/>
                <a:cs typeface="Malgun Gothic" pitchFamily="34" charset="-120"/>
              </a:rPr>
              <a:t>Tree ...</a:t>
            </a:r>
            <a:endParaRPr lang="en-US" sz="1200" dirty="0"/>
          </a:p>
        </p:txBody>
      </p:sp>
      <p:sp>
        <p:nvSpPr>
          <p:cNvPr id="31" name="Text 29"/>
          <p:cNvSpPr/>
          <p:nvPr/>
        </p:nvSpPr>
        <p:spPr>
          <a:xfrm>
            <a:off x="6858000" y="2926080"/>
            <a:ext cx="1645920" cy="256032"/>
          </a:xfrm>
          <a:prstGeom prst="rect">
            <a:avLst/>
          </a:prstGeom>
          <a:noFill/>
          <a:ln/>
        </p:spPr>
        <p:txBody>
          <a:bodyPr wrap="square" lIns="0" tIns="0" rIns="0" bIns="0" rtlCol="0" anchor="ctr"/>
          <a:lstStyle/>
          <a:p>
            <a:pPr algn="ctr" indent="0" marL="0">
              <a:buNone/>
            </a:pPr>
            <a:r>
              <a:rPr lang="en-US" sz="1000" dirty="0">
                <a:solidFill>
                  <a:srgbClr val="0B1F3A"/>
                </a:solidFill>
                <a:latin typeface="Malgun Gothic" pitchFamily="34" charset="0"/>
                <a:ea typeface="Malgun Gothic" pitchFamily="34" charset="-122"/>
                <a:cs typeface="Malgun Gothic" pitchFamily="34" charset="-120"/>
              </a:rPr>
              <a:t>n=200 까지</a:t>
            </a:r>
            <a:endParaRPr lang="en-US" sz="1000" dirty="0"/>
          </a:p>
        </p:txBody>
      </p:sp>
      <p:sp>
        <p:nvSpPr>
          <p:cNvPr id="32" name="Text 30"/>
          <p:cNvSpPr/>
          <p:nvPr/>
        </p:nvSpPr>
        <p:spPr>
          <a:xfrm>
            <a:off x="6858000" y="3182112"/>
            <a:ext cx="1645920" cy="256032"/>
          </a:xfrm>
          <a:prstGeom prst="rect">
            <a:avLst/>
          </a:prstGeom>
          <a:noFill/>
          <a:ln/>
        </p:spPr>
        <p:txBody>
          <a:bodyPr wrap="square" lIns="0" tIns="0" rIns="0" bIns="0" rtlCol="0" anchor="ctr"/>
          <a:lstStyle/>
          <a:p>
            <a:pPr algn="ctr" indent="0" marL="0">
              <a:buNone/>
            </a:pPr>
            <a:r>
              <a:rPr lang="en-US" sz="950" i="1" dirty="0">
                <a:solidFill>
                  <a:srgbClr val="78909C"/>
                </a:solidFill>
                <a:latin typeface="Malgun Gothic" pitchFamily="34" charset="0"/>
                <a:ea typeface="Malgun Gothic" pitchFamily="34" charset="-122"/>
                <a:cs typeface="Malgun Gothic" pitchFamily="34" charset="-120"/>
              </a:rPr>
              <a:t>오차: ±0.5분</a:t>
            </a:r>
            <a:endParaRPr lang="en-US" sz="950" dirty="0"/>
          </a:p>
        </p:txBody>
      </p:sp>
      <p:sp>
        <p:nvSpPr>
          <p:cNvPr id="33" name="Shape 31"/>
          <p:cNvSpPr/>
          <p:nvPr/>
        </p:nvSpPr>
        <p:spPr>
          <a:xfrm>
            <a:off x="457200" y="3749040"/>
            <a:ext cx="8138160" cy="868680"/>
          </a:xfrm>
          <a:prstGeom prst="roundRect">
            <a:avLst>
              <a:gd name="adj" fmla="val 8421"/>
            </a:avLst>
          </a:prstGeom>
          <a:solidFill>
            <a:srgbClr val="0B1F3A"/>
          </a:solidFill>
          <a:ln w="12700">
            <a:solidFill>
              <a:srgbClr val="0B1F3A"/>
            </a:solidFill>
            <a:prstDash val="solid"/>
          </a:ln>
        </p:spPr>
      </p:sp>
      <p:sp>
        <p:nvSpPr>
          <p:cNvPr id="34" name="Text 32"/>
          <p:cNvSpPr/>
          <p:nvPr/>
        </p:nvSpPr>
        <p:spPr>
          <a:xfrm>
            <a:off x="457200" y="3794760"/>
            <a:ext cx="81381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최종 예측 =  Tree₁  +  Tree₂  +  Tree₃  +  ...  +  Tree₂₀₀</a:t>
            </a:r>
            <a:endParaRPr lang="en-US" sz="1500" dirty="0"/>
          </a:p>
        </p:txBody>
      </p:sp>
      <p:sp>
        <p:nvSpPr>
          <p:cNvPr id="35" name="Text 33"/>
          <p:cNvSpPr/>
          <p:nvPr/>
        </p:nvSpPr>
        <p:spPr>
          <a:xfrm>
            <a:off x="457200" y="4160520"/>
            <a:ext cx="8138160" cy="365760"/>
          </a:xfrm>
          <a:prstGeom prst="rect">
            <a:avLst/>
          </a:prstGeom>
          <a:noFill/>
          <a:ln/>
        </p:spPr>
        <p:txBody>
          <a:bodyPr wrap="square" lIns="0" tIns="0" rIns="0" bIns="0" rtlCol="0" anchor="ctr"/>
          <a:lstStyle/>
          <a:p>
            <a:pPr algn="ctr" indent="0" marL="0">
              <a:buNone/>
            </a:pPr>
            <a:r>
              <a:rPr lang="en-US" sz="1000" i="1" dirty="0">
                <a:solidFill>
                  <a:srgbClr val="FFB300"/>
                </a:solidFill>
                <a:latin typeface="Malgun Gothic" pitchFamily="34" charset="0"/>
                <a:ea typeface="Malgun Gothic" pitchFamily="34" charset="-122"/>
                <a:cs typeface="Malgun Gothic" pitchFamily="34" charset="-120"/>
              </a:rPr>
              <a:t>Final prediction = sum of all weak learners · residual boosting</a:t>
            </a:r>
            <a:endParaRPr lang="en-US" sz="1000" dirty="0"/>
          </a:p>
        </p:txBody>
      </p:sp>
      <p:sp>
        <p:nvSpPr>
          <p:cNvPr id="36" name="Shape 34"/>
          <p:cNvSpPr/>
          <p:nvPr/>
        </p:nvSpPr>
        <p:spPr>
          <a:xfrm>
            <a:off x="0" y="4892040"/>
            <a:ext cx="9144000" cy="256032"/>
          </a:xfrm>
          <a:prstGeom prst="rect">
            <a:avLst/>
          </a:prstGeom>
          <a:solidFill>
            <a:srgbClr val="0B1F3A"/>
          </a:solidFill>
          <a:ln w="12700">
            <a:solidFill>
              <a:srgbClr val="0B1F3A"/>
            </a:solidFill>
            <a:prstDash val="solid"/>
          </a:ln>
        </p:spPr>
      </p:sp>
      <p:sp>
        <p:nvSpPr>
          <p:cNvPr id="37" name="Text 35"/>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8" name="Text 36"/>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22 / 30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07 · MODELS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XGBoost 실제 결과</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XGBoost actual results · sprint progression</a:t>
            </a:r>
            <a:endParaRPr lang="en-US" sz="1050" dirty="0"/>
          </a:p>
        </p:txBody>
      </p:sp>
      <p:sp>
        <p:nvSpPr>
          <p:cNvPr id="7" name="Shape 5"/>
          <p:cNvSpPr/>
          <p:nvPr/>
        </p:nvSpPr>
        <p:spPr>
          <a:xfrm>
            <a:off x="457200" y="960120"/>
            <a:ext cx="8138160" cy="2651760"/>
          </a:xfrm>
          <a:prstGeom prst="roundRect">
            <a:avLst>
              <a:gd name="adj" fmla="val 2759"/>
            </a:avLst>
          </a:prstGeom>
          <a:solidFill>
            <a:srgbClr val="FFFFFF"/>
          </a:solidFill>
          <a:ln w="12700">
            <a:solidFill>
              <a:srgbClr val="37474F"/>
            </a:solidFill>
            <a:prstDash val="solid"/>
          </a:ln>
        </p:spPr>
      </p:sp>
      <p:sp>
        <p:nvSpPr>
          <p:cNvPr id="8" name="Text 6"/>
          <p:cNvSpPr/>
          <p:nvPr/>
        </p:nvSpPr>
        <p:spPr>
          <a:xfrm>
            <a:off x="640080" y="1005840"/>
            <a:ext cx="7863840" cy="274320"/>
          </a:xfrm>
          <a:prstGeom prst="rect">
            <a:avLst/>
          </a:prstGeom>
          <a:noFill/>
          <a:ln/>
        </p:spPr>
        <p:txBody>
          <a:bodyPr wrap="square" lIns="0" tIns="0" rIns="0" bIns="0" rtlCol="0" anchor="ctr"/>
          <a:lstStyle/>
          <a:p>
            <a:pPr indent="0" marL="0">
              <a:buNone/>
            </a:pPr>
            <a:r>
              <a:rPr lang="en-US" sz="1200" b="1" dirty="0">
                <a:solidFill>
                  <a:srgbClr val="0B1F3A"/>
                </a:solidFill>
                <a:latin typeface="Malgun Gothic" pitchFamily="34" charset="0"/>
                <a:ea typeface="Malgun Gothic" pitchFamily="34" charset="-122"/>
                <a:cs typeface="Malgun Gothic" pitchFamily="34" charset="-120"/>
              </a:rPr>
              <a:t>Test R² 추이 (Sprint 별)</a:t>
            </a:r>
            <a:endParaRPr lang="en-US" sz="1200" dirty="0"/>
          </a:p>
        </p:txBody>
      </p:sp>
      <p:sp>
        <p:nvSpPr>
          <p:cNvPr id="9" name="Shape 7"/>
          <p:cNvSpPr/>
          <p:nvPr/>
        </p:nvSpPr>
        <p:spPr>
          <a:xfrm>
            <a:off x="731520" y="3017520"/>
            <a:ext cx="1463040" cy="365760"/>
          </a:xfrm>
          <a:prstGeom prst="rect">
            <a:avLst/>
          </a:prstGeom>
          <a:solidFill>
            <a:srgbClr val="EF5350"/>
          </a:solidFill>
          <a:ln w="12700">
            <a:solidFill>
              <a:srgbClr val="EF5350"/>
            </a:solidFill>
            <a:prstDash val="solid"/>
          </a:ln>
        </p:spPr>
      </p:sp>
      <p:sp>
        <p:nvSpPr>
          <p:cNvPr id="10" name="Text 8"/>
          <p:cNvSpPr/>
          <p:nvPr/>
        </p:nvSpPr>
        <p:spPr>
          <a:xfrm>
            <a:off x="731520" y="2697480"/>
            <a:ext cx="1463040" cy="274320"/>
          </a:xfrm>
          <a:prstGeom prst="rect">
            <a:avLst/>
          </a:prstGeom>
          <a:noFill/>
          <a:ln/>
        </p:spPr>
        <p:txBody>
          <a:bodyPr wrap="square" lIns="0" tIns="0" rIns="0" bIns="0" rtlCol="0" anchor="ctr"/>
          <a:lstStyle/>
          <a:p>
            <a:pPr algn="ctr" indent="0" marL="0">
              <a:buNone/>
            </a:pPr>
            <a:r>
              <a:rPr lang="en-US" sz="1400" b="1" dirty="0">
                <a:solidFill>
                  <a:srgbClr val="EF5350"/>
                </a:solidFill>
                <a:latin typeface="Malgun Gothic" pitchFamily="34" charset="0"/>
                <a:ea typeface="Malgun Gothic" pitchFamily="34" charset="-122"/>
                <a:cs typeface="Malgun Gothic" pitchFamily="34" charset="-120"/>
              </a:rPr>
              <a:t>0.10</a:t>
            </a:r>
            <a:endParaRPr lang="en-US" sz="1400" dirty="0"/>
          </a:p>
        </p:txBody>
      </p:sp>
      <p:sp>
        <p:nvSpPr>
          <p:cNvPr id="11" name="Text 9"/>
          <p:cNvSpPr/>
          <p:nvPr/>
        </p:nvSpPr>
        <p:spPr>
          <a:xfrm>
            <a:off x="731520" y="3429000"/>
            <a:ext cx="1463040" cy="411480"/>
          </a:xfrm>
          <a:prstGeom prst="rect">
            <a:avLst/>
          </a:prstGeom>
          <a:noFill/>
          <a:ln/>
        </p:spPr>
        <p:txBody>
          <a:bodyPr wrap="square" lIns="0" tIns="0" rIns="0" bIns="0" rtlCol="0" anchor="ctr"/>
          <a:lstStyle/>
          <a:p>
            <a:pPr algn="ctr" indent="0" marL="0">
              <a:buNone/>
            </a:pPr>
            <a:r>
              <a:rPr lang="en-US" sz="900" dirty="0">
                <a:solidFill>
                  <a:srgbClr val="37474F"/>
                </a:solidFill>
                <a:latin typeface="Malgun Gothic" pitchFamily="34" charset="0"/>
                <a:ea typeface="Malgun Gothic" pitchFamily="34" charset="-122"/>
                <a:cs typeface="Malgun Gothic" pitchFamily="34" charset="-120"/>
              </a:rPr>
              <a:t>기본 XGBoost</a:t>
            </a:r>
            <a:endParaRPr lang="en-US" sz="900" dirty="0"/>
          </a:p>
          <a:p>
            <a:pPr algn="ctr" indent="0" marL="0">
              <a:buNone/>
            </a:pPr>
            <a:r>
              <a:rPr lang="en-US" sz="900" dirty="0">
                <a:solidFill>
                  <a:srgbClr val="37474F"/>
                </a:solidFill>
                <a:latin typeface="Malgun Gothic" pitchFamily="34" charset="0"/>
                <a:ea typeface="Malgun Gothic" pitchFamily="34" charset="-122"/>
                <a:cs typeface="Malgun Gothic" pitchFamily="34" charset="-120"/>
              </a:rPr>
              <a:t>baseline</a:t>
            </a:r>
            <a:endParaRPr lang="en-US" sz="900" dirty="0"/>
          </a:p>
        </p:txBody>
      </p:sp>
      <p:sp>
        <p:nvSpPr>
          <p:cNvPr id="12" name="Shape 10"/>
          <p:cNvSpPr/>
          <p:nvPr/>
        </p:nvSpPr>
        <p:spPr>
          <a:xfrm>
            <a:off x="2697480" y="3017520"/>
            <a:ext cx="1463040" cy="365760"/>
          </a:xfrm>
          <a:prstGeom prst="rect">
            <a:avLst/>
          </a:prstGeom>
          <a:solidFill>
            <a:srgbClr val="FFB300"/>
          </a:solidFill>
          <a:ln w="12700">
            <a:solidFill>
              <a:srgbClr val="FFB300"/>
            </a:solidFill>
            <a:prstDash val="solid"/>
          </a:ln>
        </p:spPr>
      </p:sp>
      <p:sp>
        <p:nvSpPr>
          <p:cNvPr id="13" name="Text 11"/>
          <p:cNvSpPr/>
          <p:nvPr/>
        </p:nvSpPr>
        <p:spPr>
          <a:xfrm>
            <a:off x="2697480" y="2697480"/>
            <a:ext cx="1463040" cy="274320"/>
          </a:xfrm>
          <a:prstGeom prst="rect">
            <a:avLst/>
          </a:prstGeom>
          <a:noFill/>
          <a:ln/>
        </p:spPr>
        <p:txBody>
          <a:bodyPr wrap="square" lIns="0" tIns="0" rIns="0" bIns="0" rtlCol="0" anchor="ctr"/>
          <a:lstStyle/>
          <a:p>
            <a:pPr algn="ctr" indent="0" marL="0">
              <a:buNone/>
            </a:pPr>
            <a:r>
              <a:rPr lang="en-US" sz="1400" b="1" dirty="0">
                <a:solidFill>
                  <a:srgbClr val="FFB300"/>
                </a:solidFill>
                <a:latin typeface="Malgun Gothic" pitchFamily="34" charset="0"/>
                <a:ea typeface="Malgun Gothic" pitchFamily="34" charset="-122"/>
                <a:cs typeface="Malgun Gothic" pitchFamily="34" charset="-120"/>
              </a:rPr>
              <a:t>0.10</a:t>
            </a:r>
            <a:endParaRPr lang="en-US" sz="1400" dirty="0"/>
          </a:p>
        </p:txBody>
      </p:sp>
      <p:sp>
        <p:nvSpPr>
          <p:cNvPr id="14" name="Text 12"/>
          <p:cNvSpPr/>
          <p:nvPr/>
        </p:nvSpPr>
        <p:spPr>
          <a:xfrm>
            <a:off x="2697480" y="3429000"/>
            <a:ext cx="1463040" cy="411480"/>
          </a:xfrm>
          <a:prstGeom prst="rect">
            <a:avLst/>
          </a:prstGeom>
          <a:noFill/>
          <a:ln/>
        </p:spPr>
        <p:txBody>
          <a:bodyPr wrap="square" lIns="0" tIns="0" rIns="0" bIns="0" rtlCol="0" anchor="ctr"/>
          <a:lstStyle/>
          <a:p>
            <a:pPr algn="ctr" indent="0" marL="0">
              <a:buNone/>
            </a:pPr>
            <a:r>
              <a:rPr lang="en-US" sz="900" dirty="0">
                <a:solidFill>
                  <a:srgbClr val="37474F"/>
                </a:solidFill>
                <a:latin typeface="Malgun Gothic" pitchFamily="34" charset="0"/>
                <a:ea typeface="Malgun Gothic" pitchFamily="34" charset="-122"/>
                <a:cs typeface="Malgun Gothic" pitchFamily="34" charset="-120"/>
              </a:rPr>
              <a:t>+ TimeSeriesSplit</a:t>
            </a:r>
            <a:endParaRPr lang="en-US" sz="900" dirty="0"/>
          </a:p>
          <a:p>
            <a:pPr algn="ctr" indent="0" marL="0">
              <a:buNone/>
            </a:pPr>
            <a:r>
              <a:rPr lang="en-US" sz="900" dirty="0">
                <a:solidFill>
                  <a:srgbClr val="37474F"/>
                </a:solidFill>
                <a:latin typeface="Malgun Gothic" pitchFamily="34" charset="0"/>
                <a:ea typeface="Malgun Gothic" pitchFamily="34" charset="-122"/>
                <a:cs typeface="Malgun Gothic" pitchFamily="34" charset="-120"/>
              </a:rPr>
              <a:t>P0</a:t>
            </a:r>
            <a:endParaRPr lang="en-US" sz="900" dirty="0"/>
          </a:p>
        </p:txBody>
      </p:sp>
      <p:sp>
        <p:nvSpPr>
          <p:cNvPr id="15" name="Shape 13"/>
          <p:cNvSpPr/>
          <p:nvPr/>
        </p:nvSpPr>
        <p:spPr>
          <a:xfrm>
            <a:off x="4663440" y="1810512"/>
            <a:ext cx="1463040" cy="1572768"/>
          </a:xfrm>
          <a:prstGeom prst="rect">
            <a:avLst/>
          </a:prstGeom>
          <a:solidFill>
            <a:srgbClr val="43A047"/>
          </a:solidFill>
          <a:ln w="12700">
            <a:solidFill>
              <a:srgbClr val="43A047"/>
            </a:solidFill>
            <a:prstDash val="solid"/>
          </a:ln>
        </p:spPr>
      </p:sp>
      <p:sp>
        <p:nvSpPr>
          <p:cNvPr id="16" name="Text 14"/>
          <p:cNvSpPr/>
          <p:nvPr/>
        </p:nvSpPr>
        <p:spPr>
          <a:xfrm>
            <a:off x="4663440" y="1490472"/>
            <a:ext cx="1463040" cy="274320"/>
          </a:xfrm>
          <a:prstGeom prst="rect">
            <a:avLst/>
          </a:prstGeom>
          <a:noFill/>
          <a:ln/>
        </p:spPr>
        <p:txBody>
          <a:bodyPr wrap="square" lIns="0" tIns="0" rIns="0" bIns="0" rtlCol="0" anchor="ctr"/>
          <a:lstStyle/>
          <a:p>
            <a:pPr algn="ctr" indent="0" marL="0">
              <a:buNone/>
            </a:pPr>
            <a:r>
              <a:rPr lang="en-US" sz="1400" b="1" dirty="0">
                <a:solidFill>
                  <a:srgbClr val="43A047"/>
                </a:solidFill>
                <a:latin typeface="Malgun Gothic" pitchFamily="34" charset="0"/>
                <a:ea typeface="Malgun Gothic" pitchFamily="34" charset="-122"/>
                <a:cs typeface="Malgun Gothic" pitchFamily="34" charset="-120"/>
              </a:rPr>
              <a:t>0.43</a:t>
            </a:r>
            <a:endParaRPr lang="en-US" sz="1400" dirty="0"/>
          </a:p>
        </p:txBody>
      </p:sp>
      <p:sp>
        <p:nvSpPr>
          <p:cNvPr id="17" name="Text 15"/>
          <p:cNvSpPr/>
          <p:nvPr/>
        </p:nvSpPr>
        <p:spPr>
          <a:xfrm>
            <a:off x="4663440" y="3429000"/>
            <a:ext cx="1463040" cy="411480"/>
          </a:xfrm>
          <a:prstGeom prst="rect">
            <a:avLst/>
          </a:prstGeom>
          <a:noFill/>
          <a:ln/>
        </p:spPr>
        <p:txBody>
          <a:bodyPr wrap="square" lIns="0" tIns="0" rIns="0" bIns="0" rtlCol="0" anchor="ctr"/>
          <a:lstStyle/>
          <a:p>
            <a:pPr algn="ctr" indent="0" marL="0">
              <a:buNone/>
            </a:pPr>
            <a:r>
              <a:rPr lang="en-US" sz="900" dirty="0">
                <a:solidFill>
                  <a:srgbClr val="37474F"/>
                </a:solidFill>
                <a:latin typeface="Malgun Gothic" pitchFamily="34" charset="0"/>
                <a:ea typeface="Malgun Gothic" pitchFamily="34" charset="-122"/>
                <a:cs typeface="Malgun Gothic" pitchFamily="34" charset="-120"/>
              </a:rPr>
              <a:t>+ Rotation ★</a:t>
            </a:r>
            <a:endParaRPr lang="en-US" sz="900" dirty="0"/>
          </a:p>
          <a:p>
            <a:pPr algn="ctr" indent="0" marL="0">
              <a:buNone/>
            </a:pPr>
            <a:r>
              <a:rPr lang="en-US" sz="900" dirty="0">
                <a:solidFill>
                  <a:srgbClr val="37474F"/>
                </a:solidFill>
                <a:latin typeface="Malgun Gothic" pitchFamily="34" charset="0"/>
                <a:ea typeface="Malgun Gothic" pitchFamily="34" charset="-122"/>
                <a:cs typeface="Malgun Gothic" pitchFamily="34" charset="-120"/>
              </a:rPr>
              <a:t>P1</a:t>
            </a:r>
            <a:endParaRPr lang="en-US" sz="900" dirty="0"/>
          </a:p>
        </p:txBody>
      </p:sp>
      <p:sp>
        <p:nvSpPr>
          <p:cNvPr id="18" name="Shape 16"/>
          <p:cNvSpPr/>
          <p:nvPr/>
        </p:nvSpPr>
        <p:spPr>
          <a:xfrm>
            <a:off x="6629400" y="1810512"/>
            <a:ext cx="1463040" cy="1572768"/>
          </a:xfrm>
          <a:prstGeom prst="rect">
            <a:avLst/>
          </a:prstGeom>
          <a:solidFill>
            <a:srgbClr val="00897B"/>
          </a:solidFill>
          <a:ln w="12700">
            <a:solidFill>
              <a:srgbClr val="00897B"/>
            </a:solidFill>
            <a:prstDash val="solid"/>
          </a:ln>
        </p:spPr>
      </p:sp>
      <p:sp>
        <p:nvSpPr>
          <p:cNvPr id="19" name="Text 17"/>
          <p:cNvSpPr/>
          <p:nvPr/>
        </p:nvSpPr>
        <p:spPr>
          <a:xfrm>
            <a:off x="6629400" y="1490472"/>
            <a:ext cx="1463040" cy="274320"/>
          </a:xfrm>
          <a:prstGeom prst="rect">
            <a:avLst/>
          </a:prstGeom>
          <a:noFill/>
          <a:ln/>
        </p:spPr>
        <p:txBody>
          <a:bodyPr wrap="square" lIns="0" tIns="0" rIns="0" bIns="0" rtlCol="0" anchor="ctr"/>
          <a:lstStyle/>
          <a:p>
            <a:pPr algn="ctr" indent="0" marL="0">
              <a:buNone/>
            </a:pPr>
            <a:r>
              <a:rPr lang="en-US" sz="1400" b="1" dirty="0">
                <a:solidFill>
                  <a:srgbClr val="00897B"/>
                </a:solidFill>
                <a:latin typeface="Malgun Gothic" pitchFamily="34" charset="0"/>
                <a:ea typeface="Malgun Gothic" pitchFamily="34" charset="-122"/>
                <a:cs typeface="Malgun Gothic" pitchFamily="34" charset="-120"/>
              </a:rPr>
              <a:t>0.43</a:t>
            </a:r>
            <a:endParaRPr lang="en-US" sz="1400" dirty="0"/>
          </a:p>
        </p:txBody>
      </p:sp>
      <p:sp>
        <p:nvSpPr>
          <p:cNvPr id="20" name="Text 18"/>
          <p:cNvSpPr/>
          <p:nvPr/>
        </p:nvSpPr>
        <p:spPr>
          <a:xfrm>
            <a:off x="6629400" y="3429000"/>
            <a:ext cx="1463040" cy="411480"/>
          </a:xfrm>
          <a:prstGeom prst="rect">
            <a:avLst/>
          </a:prstGeom>
          <a:noFill/>
          <a:ln/>
        </p:spPr>
        <p:txBody>
          <a:bodyPr wrap="square" lIns="0" tIns="0" rIns="0" bIns="0" rtlCol="0" anchor="ctr"/>
          <a:lstStyle/>
          <a:p>
            <a:pPr algn="ctr" indent="0" marL="0">
              <a:buNone/>
            </a:pPr>
            <a:r>
              <a:rPr lang="en-US" sz="900" dirty="0">
                <a:solidFill>
                  <a:srgbClr val="37474F"/>
                </a:solidFill>
                <a:latin typeface="Malgun Gothic" pitchFamily="34" charset="0"/>
                <a:ea typeface="Malgun Gothic" pitchFamily="34" charset="-122"/>
                <a:cs typeface="Malgun Gothic" pitchFamily="34" charset="-120"/>
              </a:rPr>
              <a:t>+ Conformal</a:t>
            </a:r>
            <a:endParaRPr lang="en-US" sz="900" dirty="0"/>
          </a:p>
          <a:p>
            <a:pPr algn="ctr" indent="0" marL="0">
              <a:buNone/>
            </a:pPr>
            <a:r>
              <a:rPr lang="en-US" sz="900" dirty="0">
                <a:solidFill>
                  <a:srgbClr val="37474F"/>
                </a:solidFill>
                <a:latin typeface="Malgun Gothic" pitchFamily="34" charset="0"/>
                <a:ea typeface="Malgun Gothic" pitchFamily="34" charset="-122"/>
                <a:cs typeface="Malgun Gothic" pitchFamily="34" charset="-120"/>
              </a:rPr>
              <a:t>P1+</a:t>
            </a:r>
            <a:endParaRPr lang="en-US" sz="900" dirty="0"/>
          </a:p>
        </p:txBody>
      </p:sp>
      <p:sp>
        <p:nvSpPr>
          <p:cNvPr id="21" name="Shape 19"/>
          <p:cNvSpPr/>
          <p:nvPr/>
        </p:nvSpPr>
        <p:spPr>
          <a:xfrm>
            <a:off x="457200" y="3383280"/>
            <a:ext cx="8138160" cy="0"/>
          </a:xfrm>
          <a:prstGeom prst="line">
            <a:avLst/>
          </a:prstGeom>
          <a:noFill/>
          <a:ln w="12700">
            <a:solidFill>
              <a:srgbClr val="37474F"/>
            </a:solidFill>
            <a:prstDash val="solid"/>
          </a:ln>
        </p:spPr>
      </p:sp>
      <p:sp>
        <p:nvSpPr>
          <p:cNvPr id="22" name="Shape 20"/>
          <p:cNvSpPr/>
          <p:nvPr/>
        </p:nvSpPr>
        <p:spPr>
          <a:xfrm>
            <a:off x="457200" y="3794760"/>
            <a:ext cx="8138160" cy="822960"/>
          </a:xfrm>
          <a:prstGeom prst="roundRect">
            <a:avLst>
              <a:gd name="adj" fmla="val 8889"/>
            </a:avLst>
          </a:prstGeom>
          <a:solidFill>
            <a:srgbClr val="0B1F3A"/>
          </a:solidFill>
          <a:ln w="12700">
            <a:solidFill>
              <a:srgbClr val="0B1F3A"/>
            </a:solidFill>
            <a:prstDash val="solid"/>
          </a:ln>
        </p:spPr>
      </p:sp>
      <p:sp>
        <p:nvSpPr>
          <p:cNvPr id="23" name="Text 21"/>
          <p:cNvSpPr/>
          <p:nvPr/>
        </p:nvSpPr>
        <p:spPr>
          <a:xfrm>
            <a:off x="548640" y="3867912"/>
            <a:ext cx="1920240" cy="201168"/>
          </a:xfrm>
          <a:prstGeom prst="rect">
            <a:avLst/>
          </a:prstGeom>
          <a:noFill/>
          <a:ln/>
        </p:spPr>
        <p:txBody>
          <a:bodyPr wrap="square" lIns="0" tIns="0" rIns="0" bIns="0" rtlCol="0" anchor="ctr"/>
          <a:lstStyle/>
          <a:p>
            <a:pPr algn="ctr" indent="0" marL="0">
              <a:buNone/>
            </a:pPr>
            <a:r>
              <a:rPr lang="en-US" sz="900" i="1" dirty="0">
                <a:solidFill>
                  <a:srgbClr val="FFB300"/>
                </a:solidFill>
                <a:latin typeface="Malgun Gothic" pitchFamily="34" charset="0"/>
                <a:ea typeface="Malgun Gothic" pitchFamily="34" charset="-122"/>
                <a:cs typeface="Malgun Gothic" pitchFamily="34" charset="-120"/>
              </a:rPr>
              <a:t>Test RMSE</a:t>
            </a:r>
            <a:endParaRPr lang="en-US" sz="900" dirty="0"/>
          </a:p>
        </p:txBody>
      </p:sp>
      <p:sp>
        <p:nvSpPr>
          <p:cNvPr id="24" name="Text 22"/>
          <p:cNvSpPr/>
          <p:nvPr/>
        </p:nvSpPr>
        <p:spPr>
          <a:xfrm>
            <a:off x="548640" y="4096512"/>
            <a:ext cx="192024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22.61 분</a:t>
            </a:r>
            <a:endParaRPr lang="en-US" sz="1600" dirty="0"/>
          </a:p>
        </p:txBody>
      </p:sp>
      <p:sp>
        <p:nvSpPr>
          <p:cNvPr id="25" name="Text 23"/>
          <p:cNvSpPr/>
          <p:nvPr/>
        </p:nvSpPr>
        <p:spPr>
          <a:xfrm>
            <a:off x="548640" y="4407408"/>
            <a:ext cx="1920240" cy="182880"/>
          </a:xfrm>
          <a:prstGeom prst="rect">
            <a:avLst/>
          </a:prstGeom>
          <a:noFill/>
          <a:ln/>
        </p:spPr>
        <p:txBody>
          <a:bodyPr wrap="square" lIns="0" tIns="0" rIns="0" bIns="0" rtlCol="0" anchor="ctr"/>
          <a:lstStyle/>
          <a:p>
            <a:pPr algn="ctr" indent="0" marL="0">
              <a:buNone/>
            </a:pPr>
            <a:r>
              <a:rPr lang="en-US" sz="800" i="1" dirty="0">
                <a:solidFill>
                  <a:srgbClr val="E3F2FD"/>
                </a:solidFill>
                <a:latin typeface="Malgun Gothic" pitchFamily="34" charset="0"/>
                <a:ea typeface="Malgun Gothic" pitchFamily="34" charset="-122"/>
                <a:cs typeface="Malgun Gothic" pitchFamily="34" charset="-120"/>
              </a:rPr>
              <a:t>Val RMSE</a:t>
            </a:r>
            <a:endParaRPr lang="en-US" sz="800" dirty="0"/>
          </a:p>
        </p:txBody>
      </p:sp>
      <p:sp>
        <p:nvSpPr>
          <p:cNvPr id="26" name="Text 24"/>
          <p:cNvSpPr/>
          <p:nvPr/>
        </p:nvSpPr>
        <p:spPr>
          <a:xfrm>
            <a:off x="2560320" y="3867912"/>
            <a:ext cx="1920240" cy="201168"/>
          </a:xfrm>
          <a:prstGeom prst="rect">
            <a:avLst/>
          </a:prstGeom>
          <a:noFill/>
          <a:ln/>
        </p:spPr>
        <p:txBody>
          <a:bodyPr wrap="square" lIns="0" tIns="0" rIns="0" bIns="0" rtlCol="0" anchor="ctr"/>
          <a:lstStyle/>
          <a:p>
            <a:pPr algn="ctr" indent="0" marL="0">
              <a:buNone/>
            </a:pPr>
            <a:r>
              <a:rPr lang="en-US" sz="900" i="1" dirty="0">
                <a:solidFill>
                  <a:srgbClr val="FFB300"/>
                </a:solidFill>
                <a:latin typeface="Malgun Gothic" pitchFamily="34" charset="0"/>
                <a:ea typeface="Malgun Gothic" pitchFamily="34" charset="-122"/>
                <a:cs typeface="Malgun Gothic" pitchFamily="34" charset="-120"/>
              </a:rPr>
              <a:t>Test R²</a:t>
            </a:r>
            <a:endParaRPr lang="en-US" sz="900" dirty="0"/>
          </a:p>
        </p:txBody>
      </p:sp>
      <p:sp>
        <p:nvSpPr>
          <p:cNvPr id="27" name="Text 25"/>
          <p:cNvSpPr/>
          <p:nvPr/>
        </p:nvSpPr>
        <p:spPr>
          <a:xfrm>
            <a:off x="2560320" y="4096512"/>
            <a:ext cx="192024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0.43</a:t>
            </a:r>
            <a:endParaRPr lang="en-US" sz="1600" dirty="0"/>
          </a:p>
        </p:txBody>
      </p:sp>
      <p:sp>
        <p:nvSpPr>
          <p:cNvPr id="28" name="Text 26"/>
          <p:cNvSpPr/>
          <p:nvPr/>
        </p:nvSpPr>
        <p:spPr>
          <a:xfrm>
            <a:off x="2560320" y="4407408"/>
            <a:ext cx="1920240" cy="182880"/>
          </a:xfrm>
          <a:prstGeom prst="rect">
            <a:avLst/>
          </a:prstGeom>
          <a:noFill/>
          <a:ln/>
        </p:spPr>
        <p:txBody>
          <a:bodyPr wrap="square" lIns="0" tIns="0" rIns="0" bIns="0" rtlCol="0" anchor="ctr"/>
          <a:lstStyle/>
          <a:p>
            <a:pPr algn="ctr" indent="0" marL="0">
              <a:buNone/>
            </a:pPr>
            <a:r>
              <a:rPr lang="en-US" sz="800" i="1" dirty="0">
                <a:solidFill>
                  <a:srgbClr val="E3F2FD"/>
                </a:solidFill>
                <a:latin typeface="Malgun Gothic" pitchFamily="34" charset="0"/>
                <a:ea typeface="Malgun Gothic" pitchFamily="34" charset="-122"/>
                <a:cs typeface="Malgun Gothic" pitchFamily="34" charset="-120"/>
              </a:rPr>
              <a:t>분류 정확도</a:t>
            </a:r>
            <a:endParaRPr lang="en-US" sz="800" dirty="0"/>
          </a:p>
        </p:txBody>
      </p:sp>
      <p:sp>
        <p:nvSpPr>
          <p:cNvPr id="29" name="Text 27"/>
          <p:cNvSpPr/>
          <p:nvPr/>
        </p:nvSpPr>
        <p:spPr>
          <a:xfrm>
            <a:off x="4572000" y="3867912"/>
            <a:ext cx="1920240" cy="201168"/>
          </a:xfrm>
          <a:prstGeom prst="rect">
            <a:avLst/>
          </a:prstGeom>
          <a:noFill/>
          <a:ln/>
        </p:spPr>
        <p:txBody>
          <a:bodyPr wrap="square" lIns="0" tIns="0" rIns="0" bIns="0" rtlCol="0" anchor="ctr"/>
          <a:lstStyle/>
          <a:p>
            <a:pPr algn="ctr" indent="0" marL="0">
              <a:buNone/>
            </a:pPr>
            <a:r>
              <a:rPr lang="en-US" sz="900" i="1" dirty="0">
                <a:solidFill>
                  <a:srgbClr val="FFB300"/>
                </a:solidFill>
                <a:latin typeface="Malgun Gothic" pitchFamily="34" charset="0"/>
                <a:ea typeface="Malgun Gothic" pitchFamily="34" charset="-122"/>
                <a:cs typeface="Malgun Gothic" pitchFamily="34" charset="-120"/>
              </a:rPr>
              <a:t>Conformal</a:t>
            </a:r>
            <a:endParaRPr lang="en-US" sz="900" dirty="0"/>
          </a:p>
        </p:txBody>
      </p:sp>
      <p:sp>
        <p:nvSpPr>
          <p:cNvPr id="30" name="Text 28"/>
          <p:cNvSpPr/>
          <p:nvPr/>
        </p:nvSpPr>
        <p:spPr>
          <a:xfrm>
            <a:off x="4572000" y="4096512"/>
            <a:ext cx="192024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90.00 %</a:t>
            </a:r>
            <a:endParaRPr lang="en-US" sz="1600" dirty="0"/>
          </a:p>
        </p:txBody>
      </p:sp>
      <p:sp>
        <p:nvSpPr>
          <p:cNvPr id="31" name="Text 29"/>
          <p:cNvSpPr/>
          <p:nvPr/>
        </p:nvSpPr>
        <p:spPr>
          <a:xfrm>
            <a:off x="4572000" y="4407408"/>
            <a:ext cx="1920240" cy="182880"/>
          </a:xfrm>
          <a:prstGeom prst="rect">
            <a:avLst/>
          </a:prstGeom>
          <a:noFill/>
          <a:ln/>
        </p:spPr>
        <p:txBody>
          <a:bodyPr wrap="square" lIns="0" tIns="0" rIns="0" bIns="0" rtlCol="0" anchor="ctr"/>
          <a:lstStyle/>
          <a:p>
            <a:pPr algn="ctr" indent="0" marL="0">
              <a:buNone/>
            </a:pPr>
            <a:r>
              <a:rPr lang="en-US" sz="800" i="1" dirty="0">
                <a:solidFill>
                  <a:srgbClr val="E3F2FD"/>
                </a:solidFill>
                <a:latin typeface="Malgun Gothic" pitchFamily="34" charset="0"/>
                <a:ea typeface="Malgun Gothic" pitchFamily="34" charset="-122"/>
                <a:cs typeface="Malgun Gothic" pitchFamily="34" charset="-120"/>
              </a:rPr>
              <a:t>Empirical coverage</a:t>
            </a:r>
            <a:endParaRPr lang="en-US" sz="800" dirty="0"/>
          </a:p>
        </p:txBody>
      </p:sp>
      <p:sp>
        <p:nvSpPr>
          <p:cNvPr id="32" name="Text 30"/>
          <p:cNvSpPr/>
          <p:nvPr/>
        </p:nvSpPr>
        <p:spPr>
          <a:xfrm>
            <a:off x="6583680" y="3867912"/>
            <a:ext cx="1920240" cy="201168"/>
          </a:xfrm>
          <a:prstGeom prst="rect">
            <a:avLst/>
          </a:prstGeom>
          <a:noFill/>
          <a:ln/>
        </p:spPr>
        <p:txBody>
          <a:bodyPr wrap="square" lIns="0" tIns="0" rIns="0" bIns="0" rtlCol="0" anchor="ctr"/>
          <a:lstStyle/>
          <a:p>
            <a:pPr algn="ctr" indent="0" marL="0">
              <a:buNone/>
            </a:pPr>
            <a:r>
              <a:rPr lang="en-US" sz="900" i="1" dirty="0">
                <a:solidFill>
                  <a:srgbClr val="FFB300"/>
                </a:solidFill>
                <a:latin typeface="Malgun Gothic" pitchFamily="34" charset="0"/>
                <a:ea typeface="Malgun Gothic" pitchFamily="34" charset="-122"/>
                <a:cs typeface="Malgun Gothic" pitchFamily="34" charset="-120"/>
              </a:rPr>
              <a:t>응답 시간</a:t>
            </a:r>
            <a:endParaRPr lang="en-US" sz="900" dirty="0"/>
          </a:p>
        </p:txBody>
      </p:sp>
      <p:sp>
        <p:nvSpPr>
          <p:cNvPr id="33" name="Text 31"/>
          <p:cNvSpPr/>
          <p:nvPr/>
        </p:nvSpPr>
        <p:spPr>
          <a:xfrm>
            <a:off x="6583680" y="4096512"/>
            <a:ext cx="192024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42 ms</a:t>
            </a:r>
            <a:endParaRPr lang="en-US" sz="1600" dirty="0"/>
          </a:p>
        </p:txBody>
      </p:sp>
      <p:sp>
        <p:nvSpPr>
          <p:cNvPr id="34" name="Text 32"/>
          <p:cNvSpPr/>
          <p:nvPr/>
        </p:nvSpPr>
        <p:spPr>
          <a:xfrm>
            <a:off x="6583680" y="4407408"/>
            <a:ext cx="1920240" cy="182880"/>
          </a:xfrm>
          <a:prstGeom prst="rect">
            <a:avLst/>
          </a:prstGeom>
          <a:noFill/>
          <a:ln/>
        </p:spPr>
        <p:txBody>
          <a:bodyPr wrap="square" lIns="0" tIns="0" rIns="0" bIns="0" rtlCol="0" anchor="ctr"/>
          <a:lstStyle/>
          <a:p>
            <a:pPr algn="ctr" indent="0" marL="0">
              <a:buNone/>
            </a:pPr>
            <a:r>
              <a:rPr lang="en-US" sz="800" i="1" dirty="0">
                <a:solidFill>
                  <a:srgbClr val="E3F2FD"/>
                </a:solidFill>
                <a:latin typeface="Malgun Gothic" pitchFamily="34" charset="0"/>
                <a:ea typeface="Malgun Gothic" pitchFamily="34" charset="-122"/>
                <a:cs typeface="Malgun Gothic" pitchFamily="34" charset="-120"/>
              </a:rPr>
              <a:t>p95 latency</a:t>
            </a:r>
            <a:endParaRPr lang="en-US" sz="800" dirty="0"/>
          </a:p>
        </p:txBody>
      </p:sp>
      <p:sp>
        <p:nvSpPr>
          <p:cNvPr id="35" name="Shape 33"/>
          <p:cNvSpPr/>
          <p:nvPr/>
        </p:nvSpPr>
        <p:spPr>
          <a:xfrm>
            <a:off x="0" y="4892040"/>
            <a:ext cx="9144000" cy="256032"/>
          </a:xfrm>
          <a:prstGeom prst="rect">
            <a:avLst/>
          </a:prstGeom>
          <a:solidFill>
            <a:srgbClr val="0B1F3A"/>
          </a:solidFill>
          <a:ln w="12700">
            <a:solidFill>
              <a:srgbClr val="0B1F3A"/>
            </a:solidFill>
            <a:prstDash val="solid"/>
          </a:ln>
        </p:spPr>
      </p:sp>
      <p:sp>
        <p:nvSpPr>
          <p:cNvPr id="36" name="Text 34"/>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7" name="Text 35"/>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23 / 30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07 · MODELS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모델 2 · 왜 Isolation Forest?</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Model 2 · Why Isolation Forest for anomaly?</a:t>
            </a:r>
            <a:endParaRPr lang="en-US" sz="1050" dirty="0"/>
          </a:p>
        </p:txBody>
      </p:sp>
      <p:sp>
        <p:nvSpPr>
          <p:cNvPr id="7" name="Shape 5"/>
          <p:cNvSpPr/>
          <p:nvPr/>
        </p:nvSpPr>
        <p:spPr>
          <a:xfrm>
            <a:off x="457200" y="960120"/>
            <a:ext cx="8138160" cy="777240"/>
          </a:xfrm>
          <a:prstGeom prst="roundRect">
            <a:avLst>
              <a:gd name="adj" fmla="val 9412"/>
            </a:avLst>
          </a:prstGeom>
          <a:solidFill>
            <a:srgbClr val="0B1F3A"/>
          </a:solidFill>
          <a:ln w="12700">
            <a:solidFill>
              <a:srgbClr val="0B1F3A"/>
            </a:solidFill>
            <a:prstDash val="solid"/>
          </a:ln>
        </p:spPr>
      </p:sp>
      <p:sp>
        <p:nvSpPr>
          <p:cNvPr id="8" name="Text 6"/>
          <p:cNvSpPr/>
          <p:nvPr/>
        </p:nvSpPr>
        <p:spPr>
          <a:xfrm>
            <a:off x="640080" y="1005840"/>
            <a:ext cx="7863840" cy="685800"/>
          </a:xfrm>
          <a:prstGeom prst="rect">
            <a:avLst/>
          </a:prstGeom>
          <a:noFill/>
          <a:ln/>
        </p:spPr>
        <p:txBody>
          <a:bodyPr wrap="square" lIns="0" tIns="0" rIns="0" bIns="0" rtlCol="0" anchor="ctr"/>
          <a:lstStyle/>
          <a:p>
            <a:pPr indent="0" marL="0">
              <a:buNone/>
            </a:pPr>
            <a:r>
              <a:rPr lang="en-US" sz="1300" b="1" dirty="0">
                <a:solidFill>
                  <a:srgbClr val="FFB300"/>
                </a:solidFill>
                <a:latin typeface="Malgun Gothic" pitchFamily="34" charset="0"/>
                <a:ea typeface="Malgun Gothic" pitchFamily="34" charset="-122"/>
                <a:cs typeface="Malgun Gothic" pitchFamily="34" charset="-120"/>
              </a:rPr>
              <a:t>핵심 아이디어: </a:t>
            </a:r>
            <a:pPr indent="0" marL="0">
              <a:buNone/>
            </a:pPr>
            <a:r>
              <a:rPr lang="en-US" sz="1200" dirty="0">
                <a:solidFill>
                  <a:srgbClr val="FFFFFF"/>
                </a:solidFill>
                <a:latin typeface="Malgun Gothic" pitchFamily="34" charset="0"/>
                <a:ea typeface="Malgun Gothic" pitchFamily="34" charset="-122"/>
                <a:cs typeface="Malgun Gothic" pitchFamily="34" charset="-120"/>
              </a:rPr>
              <a:t>"이상치는 소수이고 정상과 거리가 멀어서, </a:t>
            </a:r>
            <a:pPr indent="0" marL="0">
              <a:buNone/>
            </a:pPr>
            <a:r>
              <a:rPr lang="en-US" sz="1200" b="1" dirty="0">
                <a:solidFill>
                  <a:srgbClr val="EF5350"/>
                </a:solidFill>
                <a:latin typeface="Malgun Gothic" pitchFamily="34" charset="0"/>
                <a:ea typeface="Malgun Gothic" pitchFamily="34" charset="-122"/>
                <a:cs typeface="Malgun Gothic" pitchFamily="34" charset="-120"/>
              </a:rPr>
              <a:t>무작위 분할로 빨리 고립</a:t>
            </a:r>
            <a:pPr indent="0" marL="0">
              <a:buNone/>
            </a:pPr>
            <a:r>
              <a:rPr lang="en-US" sz="1200" dirty="0">
                <a:solidFill>
                  <a:srgbClr val="FFFFFF"/>
                </a:solidFill>
                <a:latin typeface="Malgun Gothic" pitchFamily="34" charset="0"/>
                <a:ea typeface="Malgun Gothic" pitchFamily="34" charset="-122"/>
                <a:cs typeface="Malgun Gothic" pitchFamily="34" charset="-120"/>
              </a:rPr>
              <a:t>된다"
</a:t>
            </a:r>
            <a:pPr indent="0" marL="0">
              <a:buNone/>
            </a:pPr>
            <a:r>
              <a:rPr lang="en-US" sz="1000" i="1" dirty="0">
                <a:solidFill>
                  <a:srgbClr val="E3F2FD"/>
                </a:solidFill>
                <a:latin typeface="Malgun Gothic" pitchFamily="34" charset="0"/>
                <a:ea typeface="Malgun Gothic" pitchFamily="34" charset="-122"/>
                <a:cs typeface="Malgun Gothic" pitchFamily="34" charset="-120"/>
              </a:rPr>
              <a:t>Anomalies are few and far — they get 'isolated' quickly under random partitioning</a:t>
            </a:r>
            <a:endParaRPr lang="en-US" sz="1300" dirty="0"/>
          </a:p>
        </p:txBody>
      </p:sp>
      <p:sp>
        <p:nvSpPr>
          <p:cNvPr id="9" name="Shape 7"/>
          <p:cNvSpPr/>
          <p:nvPr/>
        </p:nvSpPr>
        <p:spPr>
          <a:xfrm>
            <a:off x="457200" y="1874520"/>
            <a:ext cx="4023360" cy="1828800"/>
          </a:xfrm>
          <a:prstGeom prst="roundRect">
            <a:avLst>
              <a:gd name="adj" fmla="val 4000"/>
            </a:avLst>
          </a:prstGeom>
          <a:solidFill>
            <a:srgbClr val="FFFFFF"/>
          </a:solidFill>
          <a:ln w="19050">
            <a:solidFill>
              <a:srgbClr val="43A047"/>
            </a:solidFill>
            <a:prstDash val="solid"/>
          </a:ln>
        </p:spPr>
      </p:sp>
      <p:sp>
        <p:nvSpPr>
          <p:cNvPr id="10" name="Text 8"/>
          <p:cNvSpPr/>
          <p:nvPr/>
        </p:nvSpPr>
        <p:spPr>
          <a:xfrm>
            <a:off x="457200" y="1920240"/>
            <a:ext cx="4023360" cy="274320"/>
          </a:xfrm>
          <a:prstGeom prst="rect">
            <a:avLst/>
          </a:prstGeom>
          <a:noFill/>
          <a:ln/>
        </p:spPr>
        <p:txBody>
          <a:bodyPr wrap="square" lIns="0" tIns="0" rIns="0" bIns="0" rtlCol="0" anchor="ctr"/>
          <a:lstStyle/>
          <a:p>
            <a:pPr algn="ctr" indent="0" marL="0">
              <a:buNone/>
            </a:pPr>
            <a:r>
              <a:rPr lang="en-US" sz="1200" b="1" dirty="0">
                <a:solidFill>
                  <a:srgbClr val="43A047"/>
                </a:solidFill>
                <a:latin typeface="Malgun Gothic" pitchFamily="34" charset="0"/>
                <a:ea typeface="Malgun Gothic" pitchFamily="34" charset="-122"/>
                <a:cs typeface="Malgun Gothic" pitchFamily="34" charset="-120"/>
              </a:rPr>
              <a:t>정상점 (normal)</a:t>
            </a:r>
            <a:endParaRPr lang="en-US" sz="1200" dirty="0"/>
          </a:p>
        </p:txBody>
      </p:sp>
      <p:sp>
        <p:nvSpPr>
          <p:cNvPr id="11" name="Text 9"/>
          <p:cNvSpPr/>
          <p:nvPr/>
        </p:nvSpPr>
        <p:spPr>
          <a:xfrm>
            <a:off x="457200" y="2286000"/>
            <a:ext cx="402336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Malgun Gothic" pitchFamily="34" charset="0"/>
                <a:ea typeface="Malgun Gothic" pitchFamily="34" charset="-122"/>
                <a:cs typeface="Malgun Gothic" pitchFamily="34" charset="-120"/>
              </a:rPr>
              <a:t>🌳 🌳 🌳 🌳 🌳 🌳 🌳</a:t>
            </a:r>
            <a:endParaRPr lang="en-US" sz="2000" dirty="0"/>
          </a:p>
        </p:txBody>
      </p:sp>
      <p:sp>
        <p:nvSpPr>
          <p:cNvPr id="12" name="Text 10"/>
          <p:cNvSpPr/>
          <p:nvPr/>
        </p:nvSpPr>
        <p:spPr>
          <a:xfrm>
            <a:off x="457200" y="2834640"/>
            <a:ext cx="4023360" cy="777240"/>
          </a:xfrm>
          <a:prstGeom prst="rect">
            <a:avLst/>
          </a:prstGeom>
          <a:noFill/>
          <a:ln/>
        </p:spPr>
        <p:txBody>
          <a:bodyPr wrap="square" lIns="0" tIns="0" rIns="0" bIns="0" rtlCol="0" anchor="ctr"/>
          <a:lstStyle/>
          <a:p>
            <a:pPr algn="ctr" indent="0" marL="0">
              <a:buNone/>
            </a:pPr>
            <a:r>
              <a:rPr lang="en-US" sz="1050" dirty="0">
                <a:solidFill>
                  <a:srgbClr val="37474F"/>
                </a:solidFill>
                <a:latin typeface="Malgun Gothic" pitchFamily="34" charset="0"/>
                <a:ea typeface="Malgun Gothic" pitchFamily="34" charset="-122"/>
                <a:cs typeface="Malgun Gothic" pitchFamily="34" charset="-120"/>
              </a:rPr>
              <a:t>path length = 깊음</a:t>
            </a:r>
            <a:endParaRPr lang="en-US" sz="1050" dirty="0"/>
          </a:p>
          <a:p>
            <a:pPr algn="ctr" indent="0" marL="0">
              <a:buNone/>
            </a:pPr>
            <a:r>
              <a:rPr lang="en-US" sz="1050" dirty="0">
                <a:solidFill>
                  <a:srgbClr val="37474F"/>
                </a:solidFill>
                <a:latin typeface="Malgun Gothic" pitchFamily="34" charset="0"/>
                <a:ea typeface="Malgun Gothic" pitchFamily="34" charset="-122"/>
                <a:cs typeface="Malgun Gothic" pitchFamily="34" charset="-120"/>
              </a:rPr>
              <a:t>path length = deep (8+ splits)</a:t>
            </a:r>
            <a:endParaRPr lang="en-US" sz="1050" dirty="0"/>
          </a:p>
          <a:p>
            <a:pPr algn="ctr" indent="0" marL="0">
              <a:buNone/>
            </a:pPr>
            <a:r>
              <a:rPr lang="en-US" sz="1050" dirty="0">
                <a:solidFill>
                  <a:srgbClr val="37474F"/>
                </a:solidFill>
                <a:latin typeface="Malgun Gothic" pitchFamily="34" charset="0"/>
                <a:ea typeface="Malgun Gothic" pitchFamily="34" charset="-122"/>
                <a:cs typeface="Malgun Gothic" pitchFamily="34" charset="-120"/>
              </a:rPr>
              <a:t>분할을 많이 해야 고립됨</a:t>
            </a:r>
            <a:endParaRPr lang="en-US" sz="1050" dirty="0"/>
          </a:p>
        </p:txBody>
      </p:sp>
      <p:sp>
        <p:nvSpPr>
          <p:cNvPr id="13" name="Shape 11"/>
          <p:cNvSpPr/>
          <p:nvPr/>
        </p:nvSpPr>
        <p:spPr>
          <a:xfrm>
            <a:off x="4663440" y="1874520"/>
            <a:ext cx="3931920" cy="1828800"/>
          </a:xfrm>
          <a:prstGeom prst="roundRect">
            <a:avLst>
              <a:gd name="adj" fmla="val 4000"/>
            </a:avLst>
          </a:prstGeom>
          <a:solidFill>
            <a:srgbClr val="FFFFFF"/>
          </a:solidFill>
          <a:ln w="19050">
            <a:solidFill>
              <a:srgbClr val="EF5350"/>
            </a:solidFill>
            <a:prstDash val="solid"/>
          </a:ln>
        </p:spPr>
      </p:sp>
      <p:sp>
        <p:nvSpPr>
          <p:cNvPr id="14" name="Text 12"/>
          <p:cNvSpPr/>
          <p:nvPr/>
        </p:nvSpPr>
        <p:spPr>
          <a:xfrm>
            <a:off x="4663440" y="1920240"/>
            <a:ext cx="3931920" cy="274320"/>
          </a:xfrm>
          <a:prstGeom prst="rect">
            <a:avLst/>
          </a:prstGeom>
          <a:noFill/>
          <a:ln/>
        </p:spPr>
        <p:txBody>
          <a:bodyPr wrap="square" lIns="0" tIns="0" rIns="0" bIns="0" rtlCol="0" anchor="ctr"/>
          <a:lstStyle/>
          <a:p>
            <a:pPr algn="ctr" indent="0" marL="0">
              <a:buNone/>
            </a:pPr>
            <a:r>
              <a:rPr lang="en-US" sz="1200" b="1" dirty="0">
                <a:solidFill>
                  <a:srgbClr val="EF5350"/>
                </a:solidFill>
                <a:latin typeface="Malgun Gothic" pitchFamily="34" charset="0"/>
                <a:ea typeface="Malgun Gothic" pitchFamily="34" charset="-122"/>
                <a:cs typeface="Malgun Gothic" pitchFamily="34" charset="-120"/>
              </a:rPr>
              <a:t>이상점 (anomaly)</a:t>
            </a:r>
            <a:endParaRPr lang="en-US" sz="1200" dirty="0"/>
          </a:p>
        </p:txBody>
      </p:sp>
      <p:sp>
        <p:nvSpPr>
          <p:cNvPr id="15" name="Text 13"/>
          <p:cNvSpPr/>
          <p:nvPr/>
        </p:nvSpPr>
        <p:spPr>
          <a:xfrm>
            <a:off x="4663440" y="2286000"/>
            <a:ext cx="393192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Malgun Gothic" pitchFamily="34" charset="0"/>
                <a:ea typeface="Malgun Gothic" pitchFamily="34" charset="-122"/>
                <a:cs typeface="Malgun Gothic" pitchFamily="34" charset="-120"/>
              </a:rPr>
              <a:t>🌳 🌳</a:t>
            </a:r>
            <a:endParaRPr lang="en-US" sz="2000" dirty="0"/>
          </a:p>
        </p:txBody>
      </p:sp>
      <p:sp>
        <p:nvSpPr>
          <p:cNvPr id="16" name="Text 14"/>
          <p:cNvSpPr/>
          <p:nvPr/>
        </p:nvSpPr>
        <p:spPr>
          <a:xfrm>
            <a:off x="4663440" y="2834640"/>
            <a:ext cx="3931920" cy="777240"/>
          </a:xfrm>
          <a:prstGeom prst="rect">
            <a:avLst/>
          </a:prstGeom>
          <a:noFill/>
          <a:ln/>
        </p:spPr>
        <p:txBody>
          <a:bodyPr wrap="square" lIns="0" tIns="0" rIns="0" bIns="0" rtlCol="0" anchor="ctr"/>
          <a:lstStyle/>
          <a:p>
            <a:pPr algn="ctr" indent="0" marL="0">
              <a:buNone/>
            </a:pPr>
            <a:r>
              <a:rPr lang="en-US" sz="1050" dirty="0">
                <a:solidFill>
                  <a:srgbClr val="37474F"/>
                </a:solidFill>
                <a:latin typeface="Malgun Gothic" pitchFamily="34" charset="0"/>
                <a:ea typeface="Malgun Gothic" pitchFamily="34" charset="-122"/>
                <a:cs typeface="Malgun Gothic" pitchFamily="34" charset="-120"/>
              </a:rPr>
              <a:t>path length = 얕음</a:t>
            </a:r>
            <a:endParaRPr lang="en-US" sz="1050" dirty="0"/>
          </a:p>
          <a:p>
            <a:pPr algn="ctr" indent="0" marL="0">
              <a:buNone/>
            </a:pPr>
            <a:r>
              <a:rPr lang="en-US" sz="1050" dirty="0">
                <a:solidFill>
                  <a:srgbClr val="37474F"/>
                </a:solidFill>
                <a:latin typeface="Malgun Gothic" pitchFamily="34" charset="0"/>
                <a:ea typeface="Malgun Gothic" pitchFamily="34" charset="-122"/>
                <a:cs typeface="Malgun Gothic" pitchFamily="34" charset="-120"/>
              </a:rPr>
              <a:t>path length = shallow (2-3 splits)</a:t>
            </a:r>
            <a:endParaRPr lang="en-US" sz="1050" dirty="0"/>
          </a:p>
          <a:p>
            <a:pPr algn="ctr" indent="0" marL="0">
              <a:buNone/>
            </a:pPr>
            <a:r>
              <a:rPr lang="en-US" sz="1050" dirty="0">
                <a:solidFill>
                  <a:srgbClr val="37474F"/>
                </a:solidFill>
                <a:latin typeface="Malgun Gothic" pitchFamily="34" charset="0"/>
                <a:ea typeface="Malgun Gothic" pitchFamily="34" charset="-122"/>
                <a:cs typeface="Malgun Gothic" pitchFamily="34" charset="-120"/>
              </a:rPr>
              <a:t>빨리 고립됨 → anomaly score 높음</a:t>
            </a:r>
            <a:endParaRPr lang="en-US" sz="1050" dirty="0"/>
          </a:p>
        </p:txBody>
      </p:sp>
      <p:sp>
        <p:nvSpPr>
          <p:cNvPr id="17" name="Shape 15"/>
          <p:cNvSpPr/>
          <p:nvPr/>
        </p:nvSpPr>
        <p:spPr>
          <a:xfrm>
            <a:off x="457200" y="3794760"/>
            <a:ext cx="8138160" cy="822960"/>
          </a:xfrm>
          <a:prstGeom prst="roundRect">
            <a:avLst>
              <a:gd name="adj" fmla="val 8889"/>
            </a:avLst>
          </a:prstGeom>
          <a:solidFill>
            <a:srgbClr val="E3F2FD"/>
          </a:solidFill>
          <a:ln w="12700">
            <a:solidFill>
              <a:srgbClr val="1E88E5"/>
            </a:solidFill>
            <a:prstDash val="solid"/>
          </a:ln>
        </p:spPr>
      </p:sp>
      <p:sp>
        <p:nvSpPr>
          <p:cNvPr id="18" name="Text 16"/>
          <p:cNvSpPr/>
          <p:nvPr/>
        </p:nvSpPr>
        <p:spPr>
          <a:xfrm>
            <a:off x="640080" y="3840480"/>
            <a:ext cx="7863840" cy="731520"/>
          </a:xfrm>
          <a:prstGeom prst="rect">
            <a:avLst/>
          </a:prstGeom>
          <a:noFill/>
          <a:ln/>
        </p:spPr>
        <p:txBody>
          <a:bodyPr wrap="square" lIns="0" tIns="0" rIns="0" bIns="0" rtlCol="0" anchor="ctr"/>
          <a:lstStyle/>
          <a:p>
            <a:pPr indent="0" marL="0">
              <a:buNone/>
            </a:pPr>
            <a:r>
              <a:rPr lang="en-US" sz="1100" b="1" dirty="0">
                <a:solidFill>
                  <a:srgbClr val="1E88E5"/>
                </a:solidFill>
                <a:latin typeface="Malgun Gothic" pitchFamily="34" charset="0"/>
                <a:ea typeface="Malgun Gothic" pitchFamily="34" charset="-122"/>
                <a:cs typeface="Malgun Gothic" pitchFamily="34" charset="-120"/>
              </a:rPr>
              <a:t>🎯 라벨 없음 </a:t>
            </a:r>
            <a:pPr indent="0" marL="0">
              <a:buNone/>
            </a:pPr>
            <a:r>
              <a:rPr lang="en-US" sz="1000" dirty="0">
                <a:solidFill>
                  <a:srgbClr val="37474F"/>
                </a:solidFill>
                <a:latin typeface="Malgun Gothic" pitchFamily="34" charset="0"/>
                <a:ea typeface="Malgun Gothic" pitchFamily="34" charset="-122"/>
                <a:cs typeface="Malgun Gothic" pitchFamily="34" charset="-120"/>
              </a:rPr>
              <a:t>(no labels) · 항공 사고는 희귀해서 지도학습 불가
</a:t>
            </a:r>
            <a:pPr indent="0" marL="0">
              <a:buNone/>
            </a:pPr>
            <a:r>
              <a:rPr lang="en-US" sz="1100" b="1" dirty="0">
                <a:solidFill>
                  <a:srgbClr val="1E88E5"/>
                </a:solidFill>
                <a:latin typeface="Malgun Gothic" pitchFamily="34" charset="0"/>
                <a:ea typeface="Malgun Gothic" pitchFamily="34" charset="-122"/>
                <a:cs typeface="Malgun Gothic" pitchFamily="34" charset="-120"/>
              </a:rPr>
              <a:t>⚡ O(n log n) · </a:t>
            </a:r>
            <a:pPr indent="0" marL="0">
              <a:buNone/>
            </a:pPr>
            <a:r>
              <a:rPr lang="en-US" sz="1000" dirty="0">
                <a:solidFill>
                  <a:srgbClr val="37474F"/>
                </a:solidFill>
                <a:latin typeface="Malgun Gothic" pitchFamily="34" charset="0"/>
                <a:ea typeface="Malgun Gothic" pitchFamily="34" charset="-122"/>
                <a:cs typeface="Malgun Gothic" pitchFamily="34" charset="-120"/>
              </a:rPr>
              <a:t>Autoencoder/One-class SVM 보다 훨씬 빠름
</a:t>
            </a:r>
            <a:pPr indent="0" marL="0">
              <a:buNone/>
            </a:pPr>
            <a:r>
              <a:rPr lang="en-US" sz="1100" b="1" dirty="0">
                <a:solidFill>
                  <a:srgbClr val="1E88E5"/>
                </a:solidFill>
                <a:latin typeface="Malgun Gothic" pitchFamily="34" charset="0"/>
                <a:ea typeface="Malgun Gothic" pitchFamily="34" charset="-122"/>
                <a:cs typeface="Malgun Gothic" pitchFamily="34" charset="-120"/>
              </a:rPr>
              <a:t>🧠 직관적 </a:t>
            </a:r>
            <a:pPr indent="0" marL="0">
              <a:buNone/>
            </a:pPr>
            <a:r>
              <a:rPr lang="en-US" sz="1000" dirty="0">
                <a:solidFill>
                  <a:srgbClr val="37474F"/>
                </a:solidFill>
                <a:latin typeface="Malgun Gothic" pitchFamily="34" charset="0"/>
                <a:ea typeface="Malgun Gothic" pitchFamily="34" charset="-122"/>
                <a:cs typeface="Malgun Gothic" pitchFamily="34" charset="-120"/>
              </a:rPr>
              <a:t>· path length 가 곧 anomaly score — 해석 가능</a:t>
            </a:r>
            <a:endParaRPr lang="en-US" sz="1100" dirty="0"/>
          </a:p>
        </p:txBody>
      </p:sp>
      <p:sp>
        <p:nvSpPr>
          <p:cNvPr id="19" name="Shape 17"/>
          <p:cNvSpPr/>
          <p:nvPr/>
        </p:nvSpPr>
        <p:spPr>
          <a:xfrm>
            <a:off x="0" y="4892040"/>
            <a:ext cx="9144000" cy="256032"/>
          </a:xfrm>
          <a:prstGeom prst="rect">
            <a:avLst/>
          </a:prstGeom>
          <a:solidFill>
            <a:srgbClr val="0B1F3A"/>
          </a:solidFill>
          <a:ln w="12700">
            <a:solidFill>
              <a:srgbClr val="0B1F3A"/>
            </a:solidFill>
            <a:prstDash val="solid"/>
          </a:ln>
        </p:spPr>
      </p:sp>
      <p:sp>
        <p:nvSpPr>
          <p:cNvPr id="20" name="Text 18"/>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21" name="Text 19"/>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24 / 30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07 · MODELS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Per-phase IF × 7 — 단계별 분리</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Why 7 models instead of 1?</a:t>
            </a:r>
            <a:endParaRPr lang="en-US" sz="1050" dirty="0"/>
          </a:p>
        </p:txBody>
      </p:sp>
      <p:sp>
        <p:nvSpPr>
          <p:cNvPr id="7" name="Shape 5"/>
          <p:cNvSpPr/>
          <p:nvPr/>
        </p:nvSpPr>
        <p:spPr>
          <a:xfrm>
            <a:off x="457200" y="960120"/>
            <a:ext cx="8138160" cy="1188720"/>
          </a:xfrm>
          <a:prstGeom prst="roundRect">
            <a:avLst>
              <a:gd name="adj" fmla="val 6154"/>
            </a:avLst>
          </a:prstGeom>
          <a:solidFill>
            <a:srgbClr val="FFFFFF"/>
          </a:solidFill>
          <a:ln w="19050">
            <a:solidFill>
              <a:srgbClr val="EF5350"/>
            </a:solidFill>
            <a:prstDash val="solid"/>
          </a:ln>
        </p:spPr>
      </p:sp>
      <p:sp>
        <p:nvSpPr>
          <p:cNvPr id="8" name="Text 6"/>
          <p:cNvSpPr/>
          <p:nvPr/>
        </p:nvSpPr>
        <p:spPr>
          <a:xfrm>
            <a:off x="640080" y="1005840"/>
            <a:ext cx="7863840" cy="274320"/>
          </a:xfrm>
          <a:prstGeom prst="rect">
            <a:avLst/>
          </a:prstGeom>
          <a:noFill/>
          <a:ln/>
        </p:spPr>
        <p:txBody>
          <a:bodyPr wrap="square" lIns="0" tIns="0" rIns="0" bIns="0" rtlCol="0" anchor="ctr"/>
          <a:lstStyle/>
          <a:p>
            <a:pPr indent="0" marL="0">
              <a:buNone/>
            </a:pPr>
            <a:r>
              <a:rPr lang="en-US" sz="1200" b="1" dirty="0">
                <a:solidFill>
                  <a:srgbClr val="EF5350"/>
                </a:solidFill>
                <a:latin typeface="Malgun Gothic" pitchFamily="34" charset="0"/>
                <a:ea typeface="Malgun Gothic" pitchFamily="34" charset="-122"/>
                <a:cs typeface="Malgun Gothic" pitchFamily="34" charset="-120"/>
              </a:rPr>
              <a:t>❌ 단일 모델의 혼동 (single-model confusion)</a:t>
            </a:r>
            <a:endParaRPr lang="en-US" sz="1200" dirty="0"/>
          </a:p>
        </p:txBody>
      </p:sp>
      <p:sp>
        <p:nvSpPr>
          <p:cNvPr id="9" name="Text 7"/>
          <p:cNvSpPr/>
          <p:nvPr/>
        </p:nvSpPr>
        <p:spPr>
          <a:xfrm>
            <a:off x="640080" y="1280160"/>
            <a:ext cx="7863840" cy="868680"/>
          </a:xfrm>
          <a:prstGeom prst="rect">
            <a:avLst/>
          </a:prstGeom>
          <a:noFill/>
          <a:ln/>
        </p:spPr>
        <p:txBody>
          <a:bodyPr wrap="square" lIns="0" tIns="0" rIns="0" bIns="0" rtlCol="0" anchor="ctr"/>
          <a:lstStyle/>
          <a:p>
            <a:pPr indent="0" marL="0">
              <a:buNone/>
            </a:pPr>
            <a:r>
              <a:rPr lang="en-US" sz="1100" dirty="0">
                <a:solidFill>
                  <a:srgbClr val="37474F"/>
                </a:solidFill>
                <a:latin typeface="Malgun Gothic" pitchFamily="34" charset="0"/>
                <a:ea typeface="Malgun Gothic" pitchFamily="34" charset="-122"/>
                <a:cs typeface="Malgun Gothic" pitchFamily="34" charset="-120"/>
              </a:rPr>
              <a:t>CRUISE 중 30,000 ft 는 </a:t>
            </a:r>
            <a:pPr indent="0" marL="0">
              <a:buNone/>
            </a:pPr>
            <a:r>
              <a:rPr lang="en-US" sz="1100" b="1" dirty="0">
                <a:solidFill>
                  <a:srgbClr val="43A047"/>
                </a:solidFill>
                <a:latin typeface="Malgun Gothic" pitchFamily="34" charset="0"/>
                <a:ea typeface="Malgun Gothic" pitchFamily="34" charset="-122"/>
                <a:cs typeface="Malgun Gothic" pitchFamily="34" charset="-120"/>
              </a:rPr>
              <a:t>정상</a:t>
            </a:r>
            <a:pPr indent="0" marL="0">
              <a:buNone/>
            </a:pPr>
            <a:r>
              <a:rPr lang="en-US" sz="1100" dirty="0">
                <a:solidFill>
                  <a:srgbClr val="37474F"/>
                </a:solidFill>
                <a:latin typeface="Malgun Gothic" pitchFamily="34" charset="0"/>
                <a:ea typeface="Malgun Gothic" pitchFamily="34" charset="-122"/>
                <a:cs typeface="Malgun Gothic" pitchFamily="34" charset="-120"/>
              </a:rPr>
              <a:t>인데, LANDING 중 30,000 ft 는 </a:t>
            </a:r>
            <a:pPr indent="0" marL="0">
              <a:buNone/>
            </a:pPr>
            <a:r>
              <a:rPr lang="en-US" sz="1100" b="1" dirty="0">
                <a:solidFill>
                  <a:srgbClr val="EF5350"/>
                </a:solidFill>
                <a:latin typeface="Malgun Gothic" pitchFamily="34" charset="0"/>
                <a:ea typeface="Malgun Gothic" pitchFamily="34" charset="-122"/>
                <a:cs typeface="Malgun Gothic" pitchFamily="34" charset="-120"/>
              </a:rPr>
              <a:t>완전 비정상</a:t>
            </a:r>
            <a:pPr indent="0" marL="0">
              <a:buNone/>
            </a:pPr>
            <a:r>
              <a:rPr lang="en-US" sz="1100" dirty="0">
                <a:solidFill>
                  <a:srgbClr val="37474F"/>
                </a:solidFill>
                <a:latin typeface="Malgun Gothic" pitchFamily="34" charset="0"/>
                <a:ea typeface="Malgun Gothic" pitchFamily="34" charset="-122"/>
                <a:cs typeface="Malgun Gothic" pitchFamily="34" charset="-120"/>
              </a:rPr>
              <a:t>.
단일 모델은 둘을 구분 못해 → TAXI 급가속 = CRUISE threshold 위반 → false positive
</a:t>
            </a:r>
            <a:pPr indent="0" marL="0">
              <a:buNone/>
            </a:pPr>
            <a:r>
              <a:rPr lang="en-US" sz="950" i="1" dirty="0">
                <a:solidFill>
                  <a:srgbClr val="78909C"/>
                </a:solidFill>
                <a:latin typeface="Malgun Gothic" pitchFamily="34" charset="0"/>
                <a:ea typeface="Malgun Gothic" pitchFamily="34" charset="-122"/>
                <a:cs typeface="Malgun Gothic" pitchFamily="34" charset="-120"/>
              </a:rPr>
              <a:t>30,000 ft during CRUISE = normal, but same altitude during LANDING = abnormal. Single model can't tell them apart → alert fatigue.</a:t>
            </a:r>
            <a:endParaRPr lang="en-US" sz="1100" dirty="0"/>
          </a:p>
        </p:txBody>
      </p:sp>
      <p:sp>
        <p:nvSpPr>
          <p:cNvPr id="10" name="Text 8"/>
          <p:cNvSpPr/>
          <p:nvPr/>
        </p:nvSpPr>
        <p:spPr>
          <a:xfrm>
            <a:off x="457200" y="2286000"/>
            <a:ext cx="8229600" cy="274320"/>
          </a:xfrm>
          <a:prstGeom prst="rect">
            <a:avLst/>
          </a:prstGeom>
          <a:noFill/>
          <a:ln/>
        </p:spPr>
        <p:txBody>
          <a:bodyPr wrap="square" lIns="0" tIns="0" rIns="0" bIns="0" rtlCol="0" anchor="ctr"/>
          <a:lstStyle/>
          <a:p>
            <a:pPr indent="0" marL="0">
              <a:buNone/>
            </a:pPr>
            <a:r>
              <a:rPr lang="en-US" sz="1200" b="1" dirty="0">
                <a:solidFill>
                  <a:srgbClr val="43A047"/>
                </a:solidFill>
                <a:latin typeface="Malgun Gothic" pitchFamily="34" charset="0"/>
                <a:ea typeface="Malgun Gothic" pitchFamily="34" charset="-122"/>
                <a:cs typeface="Malgun Gothic" pitchFamily="34" charset="-120"/>
              </a:rPr>
              <a:t>✅ 해결: 단계별로 7개 모델 + contamination 별도 튜닝</a:t>
            </a:r>
            <a:endParaRPr lang="en-US" sz="1200" dirty="0"/>
          </a:p>
        </p:txBody>
      </p:sp>
      <p:sp>
        <p:nvSpPr>
          <p:cNvPr id="11" name="Shape 9"/>
          <p:cNvSpPr/>
          <p:nvPr/>
        </p:nvSpPr>
        <p:spPr>
          <a:xfrm>
            <a:off x="457200" y="2606040"/>
            <a:ext cx="1097280" cy="1097280"/>
          </a:xfrm>
          <a:prstGeom prst="roundRect">
            <a:avLst>
              <a:gd name="adj" fmla="val 6667"/>
            </a:avLst>
          </a:prstGeom>
          <a:solidFill>
            <a:srgbClr val="FFFFFF"/>
          </a:solidFill>
          <a:ln w="25400">
            <a:solidFill>
              <a:srgbClr val="37474F"/>
            </a:solidFill>
            <a:prstDash val="solid"/>
          </a:ln>
        </p:spPr>
      </p:sp>
      <p:sp>
        <p:nvSpPr>
          <p:cNvPr id="12" name="Shape 10"/>
          <p:cNvSpPr/>
          <p:nvPr/>
        </p:nvSpPr>
        <p:spPr>
          <a:xfrm>
            <a:off x="457200" y="2606040"/>
            <a:ext cx="1097280" cy="292608"/>
          </a:xfrm>
          <a:prstGeom prst="rect">
            <a:avLst/>
          </a:prstGeom>
          <a:solidFill>
            <a:srgbClr val="37474F"/>
          </a:solidFill>
          <a:ln w="12700">
            <a:solidFill>
              <a:srgbClr val="37474F"/>
            </a:solidFill>
            <a:prstDash val="solid"/>
          </a:ln>
        </p:spPr>
      </p:sp>
      <p:sp>
        <p:nvSpPr>
          <p:cNvPr id="13" name="Text 11"/>
          <p:cNvSpPr/>
          <p:nvPr/>
        </p:nvSpPr>
        <p:spPr>
          <a:xfrm>
            <a:off x="457200" y="2606040"/>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TAXI</a:t>
            </a:r>
            <a:endParaRPr lang="en-US" sz="850" dirty="0"/>
          </a:p>
        </p:txBody>
      </p:sp>
      <p:sp>
        <p:nvSpPr>
          <p:cNvPr id="14" name="Text 12"/>
          <p:cNvSpPr/>
          <p:nvPr/>
        </p:nvSpPr>
        <p:spPr>
          <a:xfrm>
            <a:off x="457200" y="2926080"/>
            <a:ext cx="10972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Malgun Gothic" pitchFamily="34" charset="0"/>
                <a:ea typeface="Malgun Gothic" pitchFamily="34" charset="-122"/>
                <a:cs typeface="Malgun Gothic" pitchFamily="34" charset="-120"/>
              </a:rPr>
              <a:t>🌳</a:t>
            </a:r>
            <a:endParaRPr lang="en-US" sz="2200" dirty="0"/>
          </a:p>
        </p:txBody>
      </p:sp>
      <p:sp>
        <p:nvSpPr>
          <p:cNvPr id="15" name="Text 13"/>
          <p:cNvSpPr/>
          <p:nvPr/>
        </p:nvSpPr>
        <p:spPr>
          <a:xfrm>
            <a:off x="457200" y="3337560"/>
            <a:ext cx="1097280" cy="164592"/>
          </a:xfrm>
          <a:prstGeom prst="rect">
            <a:avLst/>
          </a:prstGeom>
          <a:noFill/>
          <a:ln/>
        </p:spPr>
        <p:txBody>
          <a:bodyPr wrap="square" lIns="0" tIns="0" rIns="0" bIns="0" rtlCol="0" anchor="ctr"/>
          <a:lstStyle/>
          <a:p>
            <a:pPr algn="ctr" indent="0" marL="0">
              <a:buNone/>
            </a:pPr>
            <a:r>
              <a:rPr lang="en-US" sz="800" i="1" dirty="0">
                <a:solidFill>
                  <a:srgbClr val="78909C"/>
                </a:solidFill>
                <a:latin typeface="Malgun Gothic" pitchFamily="34" charset="0"/>
                <a:ea typeface="Malgun Gothic" pitchFamily="34" charset="-122"/>
                <a:cs typeface="Malgun Gothic" pitchFamily="34" charset="-120"/>
              </a:rPr>
              <a:t>contam</a:t>
            </a:r>
            <a:endParaRPr lang="en-US" sz="800" dirty="0"/>
          </a:p>
        </p:txBody>
      </p:sp>
      <p:sp>
        <p:nvSpPr>
          <p:cNvPr id="16" name="Text 14"/>
          <p:cNvSpPr/>
          <p:nvPr/>
        </p:nvSpPr>
        <p:spPr>
          <a:xfrm>
            <a:off x="457200" y="3493008"/>
            <a:ext cx="1097280" cy="182880"/>
          </a:xfrm>
          <a:prstGeom prst="rect">
            <a:avLst/>
          </a:prstGeom>
          <a:noFill/>
          <a:ln/>
        </p:spPr>
        <p:txBody>
          <a:bodyPr wrap="square" lIns="0" tIns="0" rIns="0" bIns="0" rtlCol="0" anchor="ctr"/>
          <a:lstStyle/>
          <a:p>
            <a:pPr algn="ctr" indent="0" marL="0">
              <a:buNone/>
            </a:pPr>
            <a:r>
              <a:rPr lang="en-US" sz="1100" b="1" dirty="0">
                <a:solidFill>
                  <a:srgbClr val="37474F"/>
                </a:solidFill>
                <a:latin typeface="Consolas" pitchFamily="34" charset="0"/>
                <a:ea typeface="Consolas" pitchFamily="34" charset="-122"/>
                <a:cs typeface="Consolas" pitchFamily="34" charset="-120"/>
              </a:rPr>
              <a:t>0.02</a:t>
            </a:r>
            <a:endParaRPr lang="en-US" sz="1100" dirty="0"/>
          </a:p>
        </p:txBody>
      </p:sp>
      <p:sp>
        <p:nvSpPr>
          <p:cNvPr id="17" name="Shape 15"/>
          <p:cNvSpPr/>
          <p:nvPr/>
        </p:nvSpPr>
        <p:spPr>
          <a:xfrm>
            <a:off x="1627632" y="2606040"/>
            <a:ext cx="1097280" cy="1097280"/>
          </a:xfrm>
          <a:prstGeom prst="roundRect">
            <a:avLst>
              <a:gd name="adj" fmla="val 6667"/>
            </a:avLst>
          </a:prstGeom>
          <a:solidFill>
            <a:srgbClr val="FFFFFF"/>
          </a:solidFill>
          <a:ln w="25400">
            <a:solidFill>
              <a:srgbClr val="FFB300"/>
            </a:solidFill>
            <a:prstDash val="solid"/>
          </a:ln>
        </p:spPr>
      </p:sp>
      <p:sp>
        <p:nvSpPr>
          <p:cNvPr id="18" name="Shape 16"/>
          <p:cNvSpPr/>
          <p:nvPr/>
        </p:nvSpPr>
        <p:spPr>
          <a:xfrm>
            <a:off x="1627632" y="2606040"/>
            <a:ext cx="1097280" cy="292608"/>
          </a:xfrm>
          <a:prstGeom prst="rect">
            <a:avLst/>
          </a:prstGeom>
          <a:solidFill>
            <a:srgbClr val="FFB300"/>
          </a:solidFill>
          <a:ln w="12700">
            <a:solidFill>
              <a:srgbClr val="FFB300"/>
            </a:solidFill>
            <a:prstDash val="solid"/>
          </a:ln>
        </p:spPr>
      </p:sp>
      <p:sp>
        <p:nvSpPr>
          <p:cNvPr id="19" name="Text 17"/>
          <p:cNvSpPr/>
          <p:nvPr/>
        </p:nvSpPr>
        <p:spPr>
          <a:xfrm>
            <a:off x="1627632" y="2606040"/>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TAKEOFF</a:t>
            </a:r>
            <a:endParaRPr lang="en-US" sz="850" dirty="0"/>
          </a:p>
        </p:txBody>
      </p:sp>
      <p:sp>
        <p:nvSpPr>
          <p:cNvPr id="20" name="Text 18"/>
          <p:cNvSpPr/>
          <p:nvPr/>
        </p:nvSpPr>
        <p:spPr>
          <a:xfrm>
            <a:off x="1627632" y="2926080"/>
            <a:ext cx="10972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Malgun Gothic" pitchFamily="34" charset="0"/>
                <a:ea typeface="Malgun Gothic" pitchFamily="34" charset="-122"/>
                <a:cs typeface="Malgun Gothic" pitchFamily="34" charset="-120"/>
              </a:rPr>
              <a:t>🌳</a:t>
            </a:r>
            <a:endParaRPr lang="en-US" sz="2200" dirty="0"/>
          </a:p>
        </p:txBody>
      </p:sp>
      <p:sp>
        <p:nvSpPr>
          <p:cNvPr id="21" name="Text 19"/>
          <p:cNvSpPr/>
          <p:nvPr/>
        </p:nvSpPr>
        <p:spPr>
          <a:xfrm>
            <a:off x="1627632" y="3337560"/>
            <a:ext cx="1097280" cy="164592"/>
          </a:xfrm>
          <a:prstGeom prst="rect">
            <a:avLst/>
          </a:prstGeom>
          <a:noFill/>
          <a:ln/>
        </p:spPr>
        <p:txBody>
          <a:bodyPr wrap="square" lIns="0" tIns="0" rIns="0" bIns="0" rtlCol="0" anchor="ctr"/>
          <a:lstStyle/>
          <a:p>
            <a:pPr algn="ctr" indent="0" marL="0">
              <a:buNone/>
            </a:pPr>
            <a:r>
              <a:rPr lang="en-US" sz="800" i="1" dirty="0">
                <a:solidFill>
                  <a:srgbClr val="78909C"/>
                </a:solidFill>
                <a:latin typeface="Malgun Gothic" pitchFamily="34" charset="0"/>
                <a:ea typeface="Malgun Gothic" pitchFamily="34" charset="-122"/>
                <a:cs typeface="Malgun Gothic" pitchFamily="34" charset="-120"/>
              </a:rPr>
              <a:t>contam</a:t>
            </a:r>
            <a:endParaRPr lang="en-US" sz="800" dirty="0"/>
          </a:p>
        </p:txBody>
      </p:sp>
      <p:sp>
        <p:nvSpPr>
          <p:cNvPr id="22" name="Text 20"/>
          <p:cNvSpPr/>
          <p:nvPr/>
        </p:nvSpPr>
        <p:spPr>
          <a:xfrm>
            <a:off x="1627632" y="3493008"/>
            <a:ext cx="1097280" cy="182880"/>
          </a:xfrm>
          <a:prstGeom prst="rect">
            <a:avLst/>
          </a:prstGeom>
          <a:noFill/>
          <a:ln/>
        </p:spPr>
        <p:txBody>
          <a:bodyPr wrap="square" lIns="0" tIns="0" rIns="0" bIns="0" rtlCol="0" anchor="ctr"/>
          <a:lstStyle/>
          <a:p>
            <a:pPr algn="ctr" indent="0" marL="0">
              <a:buNone/>
            </a:pPr>
            <a:r>
              <a:rPr lang="en-US" sz="1100" b="1" dirty="0">
                <a:solidFill>
                  <a:srgbClr val="FFB300"/>
                </a:solidFill>
                <a:latin typeface="Consolas" pitchFamily="34" charset="0"/>
                <a:ea typeface="Consolas" pitchFamily="34" charset="-122"/>
                <a:cs typeface="Consolas" pitchFamily="34" charset="-120"/>
              </a:rPr>
              <a:t>0.03</a:t>
            </a:r>
            <a:endParaRPr lang="en-US" sz="1100" dirty="0"/>
          </a:p>
        </p:txBody>
      </p:sp>
      <p:sp>
        <p:nvSpPr>
          <p:cNvPr id="23" name="Shape 21"/>
          <p:cNvSpPr/>
          <p:nvPr/>
        </p:nvSpPr>
        <p:spPr>
          <a:xfrm>
            <a:off x="2798064" y="2606040"/>
            <a:ext cx="1097280" cy="1097280"/>
          </a:xfrm>
          <a:prstGeom prst="roundRect">
            <a:avLst>
              <a:gd name="adj" fmla="val 6667"/>
            </a:avLst>
          </a:prstGeom>
          <a:solidFill>
            <a:srgbClr val="FFFFFF"/>
          </a:solidFill>
          <a:ln w="25400">
            <a:solidFill>
              <a:srgbClr val="00897B"/>
            </a:solidFill>
            <a:prstDash val="solid"/>
          </a:ln>
        </p:spPr>
      </p:sp>
      <p:sp>
        <p:nvSpPr>
          <p:cNvPr id="24" name="Shape 22"/>
          <p:cNvSpPr/>
          <p:nvPr/>
        </p:nvSpPr>
        <p:spPr>
          <a:xfrm>
            <a:off x="2798064" y="2606040"/>
            <a:ext cx="1097280" cy="292608"/>
          </a:xfrm>
          <a:prstGeom prst="rect">
            <a:avLst/>
          </a:prstGeom>
          <a:solidFill>
            <a:srgbClr val="00897B"/>
          </a:solidFill>
          <a:ln w="12700">
            <a:solidFill>
              <a:srgbClr val="00897B"/>
            </a:solidFill>
            <a:prstDash val="solid"/>
          </a:ln>
        </p:spPr>
      </p:sp>
      <p:sp>
        <p:nvSpPr>
          <p:cNvPr id="25" name="Text 23"/>
          <p:cNvSpPr/>
          <p:nvPr/>
        </p:nvSpPr>
        <p:spPr>
          <a:xfrm>
            <a:off x="2798064" y="2606040"/>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CLIMB</a:t>
            </a:r>
            <a:endParaRPr lang="en-US" sz="850" dirty="0"/>
          </a:p>
        </p:txBody>
      </p:sp>
      <p:sp>
        <p:nvSpPr>
          <p:cNvPr id="26" name="Text 24"/>
          <p:cNvSpPr/>
          <p:nvPr/>
        </p:nvSpPr>
        <p:spPr>
          <a:xfrm>
            <a:off x="2798064" y="2926080"/>
            <a:ext cx="10972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Malgun Gothic" pitchFamily="34" charset="0"/>
                <a:ea typeface="Malgun Gothic" pitchFamily="34" charset="-122"/>
                <a:cs typeface="Malgun Gothic" pitchFamily="34" charset="-120"/>
              </a:rPr>
              <a:t>🌳</a:t>
            </a:r>
            <a:endParaRPr lang="en-US" sz="2200" dirty="0"/>
          </a:p>
        </p:txBody>
      </p:sp>
      <p:sp>
        <p:nvSpPr>
          <p:cNvPr id="27" name="Text 25"/>
          <p:cNvSpPr/>
          <p:nvPr/>
        </p:nvSpPr>
        <p:spPr>
          <a:xfrm>
            <a:off x="2798064" y="3337560"/>
            <a:ext cx="1097280" cy="164592"/>
          </a:xfrm>
          <a:prstGeom prst="rect">
            <a:avLst/>
          </a:prstGeom>
          <a:noFill/>
          <a:ln/>
        </p:spPr>
        <p:txBody>
          <a:bodyPr wrap="square" lIns="0" tIns="0" rIns="0" bIns="0" rtlCol="0" anchor="ctr"/>
          <a:lstStyle/>
          <a:p>
            <a:pPr algn="ctr" indent="0" marL="0">
              <a:buNone/>
            </a:pPr>
            <a:r>
              <a:rPr lang="en-US" sz="800" i="1" dirty="0">
                <a:solidFill>
                  <a:srgbClr val="78909C"/>
                </a:solidFill>
                <a:latin typeface="Malgun Gothic" pitchFamily="34" charset="0"/>
                <a:ea typeface="Malgun Gothic" pitchFamily="34" charset="-122"/>
                <a:cs typeface="Malgun Gothic" pitchFamily="34" charset="-120"/>
              </a:rPr>
              <a:t>contam</a:t>
            </a:r>
            <a:endParaRPr lang="en-US" sz="800" dirty="0"/>
          </a:p>
        </p:txBody>
      </p:sp>
      <p:sp>
        <p:nvSpPr>
          <p:cNvPr id="28" name="Text 26"/>
          <p:cNvSpPr/>
          <p:nvPr/>
        </p:nvSpPr>
        <p:spPr>
          <a:xfrm>
            <a:off x="2798064" y="3493008"/>
            <a:ext cx="1097280" cy="182880"/>
          </a:xfrm>
          <a:prstGeom prst="rect">
            <a:avLst/>
          </a:prstGeom>
          <a:noFill/>
          <a:ln/>
        </p:spPr>
        <p:txBody>
          <a:bodyPr wrap="square" lIns="0" tIns="0" rIns="0" bIns="0" rtlCol="0" anchor="ctr"/>
          <a:lstStyle/>
          <a:p>
            <a:pPr algn="ctr" indent="0" marL="0">
              <a:buNone/>
            </a:pPr>
            <a:r>
              <a:rPr lang="en-US" sz="1100" b="1" dirty="0">
                <a:solidFill>
                  <a:srgbClr val="00897B"/>
                </a:solidFill>
                <a:latin typeface="Consolas" pitchFamily="34" charset="0"/>
                <a:ea typeface="Consolas" pitchFamily="34" charset="-122"/>
                <a:cs typeface="Consolas" pitchFamily="34" charset="-120"/>
              </a:rPr>
              <a:t>0.04</a:t>
            </a:r>
            <a:endParaRPr lang="en-US" sz="1100" dirty="0"/>
          </a:p>
        </p:txBody>
      </p:sp>
      <p:sp>
        <p:nvSpPr>
          <p:cNvPr id="29" name="Shape 27"/>
          <p:cNvSpPr/>
          <p:nvPr/>
        </p:nvSpPr>
        <p:spPr>
          <a:xfrm>
            <a:off x="3968496" y="2606040"/>
            <a:ext cx="1097280" cy="1097280"/>
          </a:xfrm>
          <a:prstGeom prst="roundRect">
            <a:avLst>
              <a:gd name="adj" fmla="val 6667"/>
            </a:avLst>
          </a:prstGeom>
          <a:solidFill>
            <a:srgbClr val="FFFFFF"/>
          </a:solidFill>
          <a:ln w="25400">
            <a:solidFill>
              <a:srgbClr val="1E88E5"/>
            </a:solidFill>
            <a:prstDash val="solid"/>
          </a:ln>
        </p:spPr>
      </p:sp>
      <p:sp>
        <p:nvSpPr>
          <p:cNvPr id="30" name="Shape 28"/>
          <p:cNvSpPr/>
          <p:nvPr/>
        </p:nvSpPr>
        <p:spPr>
          <a:xfrm>
            <a:off x="3968496" y="2606040"/>
            <a:ext cx="1097280" cy="292608"/>
          </a:xfrm>
          <a:prstGeom prst="rect">
            <a:avLst/>
          </a:prstGeom>
          <a:solidFill>
            <a:srgbClr val="1E88E5"/>
          </a:solidFill>
          <a:ln w="12700">
            <a:solidFill>
              <a:srgbClr val="1E88E5"/>
            </a:solidFill>
            <a:prstDash val="solid"/>
          </a:ln>
        </p:spPr>
      </p:sp>
      <p:sp>
        <p:nvSpPr>
          <p:cNvPr id="31" name="Text 29"/>
          <p:cNvSpPr/>
          <p:nvPr/>
        </p:nvSpPr>
        <p:spPr>
          <a:xfrm>
            <a:off x="3968496" y="2606040"/>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CRUISE</a:t>
            </a:r>
            <a:endParaRPr lang="en-US" sz="850" dirty="0"/>
          </a:p>
        </p:txBody>
      </p:sp>
      <p:sp>
        <p:nvSpPr>
          <p:cNvPr id="32" name="Text 30"/>
          <p:cNvSpPr/>
          <p:nvPr/>
        </p:nvSpPr>
        <p:spPr>
          <a:xfrm>
            <a:off x="3968496" y="2926080"/>
            <a:ext cx="10972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Malgun Gothic" pitchFamily="34" charset="0"/>
                <a:ea typeface="Malgun Gothic" pitchFamily="34" charset="-122"/>
                <a:cs typeface="Malgun Gothic" pitchFamily="34" charset="-120"/>
              </a:rPr>
              <a:t>🌳</a:t>
            </a:r>
            <a:endParaRPr lang="en-US" sz="2200" dirty="0"/>
          </a:p>
        </p:txBody>
      </p:sp>
      <p:sp>
        <p:nvSpPr>
          <p:cNvPr id="33" name="Text 31"/>
          <p:cNvSpPr/>
          <p:nvPr/>
        </p:nvSpPr>
        <p:spPr>
          <a:xfrm>
            <a:off x="3968496" y="3337560"/>
            <a:ext cx="1097280" cy="164592"/>
          </a:xfrm>
          <a:prstGeom prst="rect">
            <a:avLst/>
          </a:prstGeom>
          <a:noFill/>
          <a:ln/>
        </p:spPr>
        <p:txBody>
          <a:bodyPr wrap="square" lIns="0" tIns="0" rIns="0" bIns="0" rtlCol="0" anchor="ctr"/>
          <a:lstStyle/>
          <a:p>
            <a:pPr algn="ctr" indent="0" marL="0">
              <a:buNone/>
            </a:pPr>
            <a:r>
              <a:rPr lang="en-US" sz="800" i="1" dirty="0">
                <a:solidFill>
                  <a:srgbClr val="78909C"/>
                </a:solidFill>
                <a:latin typeface="Malgun Gothic" pitchFamily="34" charset="0"/>
                <a:ea typeface="Malgun Gothic" pitchFamily="34" charset="-122"/>
                <a:cs typeface="Malgun Gothic" pitchFamily="34" charset="-120"/>
              </a:rPr>
              <a:t>contam</a:t>
            </a:r>
            <a:endParaRPr lang="en-US" sz="800" dirty="0"/>
          </a:p>
        </p:txBody>
      </p:sp>
      <p:sp>
        <p:nvSpPr>
          <p:cNvPr id="34" name="Text 32"/>
          <p:cNvSpPr/>
          <p:nvPr/>
        </p:nvSpPr>
        <p:spPr>
          <a:xfrm>
            <a:off x="3968496" y="3493008"/>
            <a:ext cx="1097280" cy="182880"/>
          </a:xfrm>
          <a:prstGeom prst="rect">
            <a:avLst/>
          </a:prstGeom>
          <a:noFill/>
          <a:ln/>
        </p:spPr>
        <p:txBody>
          <a:bodyPr wrap="square" lIns="0" tIns="0" rIns="0" bIns="0" rtlCol="0" anchor="ctr"/>
          <a:lstStyle/>
          <a:p>
            <a:pPr algn="ctr" indent="0" marL="0">
              <a:buNone/>
            </a:pPr>
            <a:r>
              <a:rPr lang="en-US" sz="1100" b="1" dirty="0">
                <a:solidFill>
                  <a:srgbClr val="1E88E5"/>
                </a:solidFill>
                <a:latin typeface="Consolas" pitchFamily="34" charset="0"/>
                <a:ea typeface="Consolas" pitchFamily="34" charset="-122"/>
                <a:cs typeface="Consolas" pitchFamily="34" charset="-120"/>
              </a:rPr>
              <a:t>0.05</a:t>
            </a:r>
            <a:endParaRPr lang="en-US" sz="1100" dirty="0"/>
          </a:p>
        </p:txBody>
      </p:sp>
      <p:sp>
        <p:nvSpPr>
          <p:cNvPr id="35" name="Shape 33"/>
          <p:cNvSpPr/>
          <p:nvPr/>
        </p:nvSpPr>
        <p:spPr>
          <a:xfrm>
            <a:off x="5138928" y="2606040"/>
            <a:ext cx="1097280" cy="1097280"/>
          </a:xfrm>
          <a:prstGeom prst="roundRect">
            <a:avLst>
              <a:gd name="adj" fmla="val 6667"/>
            </a:avLst>
          </a:prstGeom>
          <a:solidFill>
            <a:srgbClr val="FFFFFF"/>
          </a:solidFill>
          <a:ln w="25400">
            <a:solidFill>
              <a:srgbClr val="8E24AA"/>
            </a:solidFill>
            <a:prstDash val="solid"/>
          </a:ln>
        </p:spPr>
      </p:sp>
      <p:sp>
        <p:nvSpPr>
          <p:cNvPr id="36" name="Shape 34"/>
          <p:cNvSpPr/>
          <p:nvPr/>
        </p:nvSpPr>
        <p:spPr>
          <a:xfrm>
            <a:off x="5138928" y="2606040"/>
            <a:ext cx="1097280" cy="292608"/>
          </a:xfrm>
          <a:prstGeom prst="rect">
            <a:avLst/>
          </a:prstGeom>
          <a:solidFill>
            <a:srgbClr val="8E24AA"/>
          </a:solidFill>
          <a:ln w="12700">
            <a:solidFill>
              <a:srgbClr val="8E24AA"/>
            </a:solidFill>
            <a:prstDash val="solid"/>
          </a:ln>
        </p:spPr>
      </p:sp>
      <p:sp>
        <p:nvSpPr>
          <p:cNvPr id="37" name="Text 35"/>
          <p:cNvSpPr/>
          <p:nvPr/>
        </p:nvSpPr>
        <p:spPr>
          <a:xfrm>
            <a:off x="5138928" y="2606040"/>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DESCENT</a:t>
            </a:r>
            <a:endParaRPr lang="en-US" sz="850" dirty="0"/>
          </a:p>
        </p:txBody>
      </p:sp>
      <p:sp>
        <p:nvSpPr>
          <p:cNvPr id="38" name="Text 36"/>
          <p:cNvSpPr/>
          <p:nvPr/>
        </p:nvSpPr>
        <p:spPr>
          <a:xfrm>
            <a:off x="5138928" y="2926080"/>
            <a:ext cx="10972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Malgun Gothic" pitchFamily="34" charset="0"/>
                <a:ea typeface="Malgun Gothic" pitchFamily="34" charset="-122"/>
                <a:cs typeface="Malgun Gothic" pitchFamily="34" charset="-120"/>
              </a:rPr>
              <a:t>🌳</a:t>
            </a:r>
            <a:endParaRPr lang="en-US" sz="2200" dirty="0"/>
          </a:p>
        </p:txBody>
      </p:sp>
      <p:sp>
        <p:nvSpPr>
          <p:cNvPr id="39" name="Text 37"/>
          <p:cNvSpPr/>
          <p:nvPr/>
        </p:nvSpPr>
        <p:spPr>
          <a:xfrm>
            <a:off x="5138928" y="3337560"/>
            <a:ext cx="1097280" cy="164592"/>
          </a:xfrm>
          <a:prstGeom prst="rect">
            <a:avLst/>
          </a:prstGeom>
          <a:noFill/>
          <a:ln/>
        </p:spPr>
        <p:txBody>
          <a:bodyPr wrap="square" lIns="0" tIns="0" rIns="0" bIns="0" rtlCol="0" anchor="ctr"/>
          <a:lstStyle/>
          <a:p>
            <a:pPr algn="ctr" indent="0" marL="0">
              <a:buNone/>
            </a:pPr>
            <a:r>
              <a:rPr lang="en-US" sz="800" i="1" dirty="0">
                <a:solidFill>
                  <a:srgbClr val="78909C"/>
                </a:solidFill>
                <a:latin typeface="Malgun Gothic" pitchFamily="34" charset="0"/>
                <a:ea typeface="Malgun Gothic" pitchFamily="34" charset="-122"/>
                <a:cs typeface="Malgun Gothic" pitchFamily="34" charset="-120"/>
              </a:rPr>
              <a:t>contam</a:t>
            </a:r>
            <a:endParaRPr lang="en-US" sz="800" dirty="0"/>
          </a:p>
        </p:txBody>
      </p:sp>
      <p:sp>
        <p:nvSpPr>
          <p:cNvPr id="40" name="Text 38"/>
          <p:cNvSpPr/>
          <p:nvPr/>
        </p:nvSpPr>
        <p:spPr>
          <a:xfrm>
            <a:off x="5138928" y="3493008"/>
            <a:ext cx="1097280" cy="182880"/>
          </a:xfrm>
          <a:prstGeom prst="rect">
            <a:avLst/>
          </a:prstGeom>
          <a:noFill/>
          <a:ln/>
        </p:spPr>
        <p:txBody>
          <a:bodyPr wrap="square" lIns="0" tIns="0" rIns="0" bIns="0" rtlCol="0" anchor="ctr"/>
          <a:lstStyle/>
          <a:p>
            <a:pPr algn="ctr" indent="0" marL="0">
              <a:buNone/>
            </a:pPr>
            <a:r>
              <a:rPr lang="en-US" sz="1100" b="1" dirty="0">
                <a:solidFill>
                  <a:srgbClr val="8E24AA"/>
                </a:solidFill>
                <a:latin typeface="Consolas" pitchFamily="34" charset="0"/>
                <a:ea typeface="Consolas" pitchFamily="34" charset="-122"/>
                <a:cs typeface="Consolas" pitchFamily="34" charset="-120"/>
              </a:rPr>
              <a:t>0.04</a:t>
            </a:r>
            <a:endParaRPr lang="en-US" sz="1100" dirty="0"/>
          </a:p>
        </p:txBody>
      </p:sp>
      <p:sp>
        <p:nvSpPr>
          <p:cNvPr id="41" name="Shape 39"/>
          <p:cNvSpPr/>
          <p:nvPr/>
        </p:nvSpPr>
        <p:spPr>
          <a:xfrm>
            <a:off x="6309360" y="2606040"/>
            <a:ext cx="1097280" cy="1097280"/>
          </a:xfrm>
          <a:prstGeom prst="roundRect">
            <a:avLst>
              <a:gd name="adj" fmla="val 6667"/>
            </a:avLst>
          </a:prstGeom>
          <a:solidFill>
            <a:srgbClr val="FFFFFF"/>
          </a:solidFill>
          <a:ln w="25400">
            <a:solidFill>
              <a:srgbClr val="EF5350"/>
            </a:solidFill>
            <a:prstDash val="solid"/>
          </a:ln>
        </p:spPr>
      </p:sp>
      <p:sp>
        <p:nvSpPr>
          <p:cNvPr id="42" name="Shape 40"/>
          <p:cNvSpPr/>
          <p:nvPr/>
        </p:nvSpPr>
        <p:spPr>
          <a:xfrm>
            <a:off x="6309360" y="2606040"/>
            <a:ext cx="1097280" cy="292608"/>
          </a:xfrm>
          <a:prstGeom prst="rect">
            <a:avLst/>
          </a:prstGeom>
          <a:solidFill>
            <a:srgbClr val="EF5350"/>
          </a:solidFill>
          <a:ln w="12700">
            <a:solidFill>
              <a:srgbClr val="EF5350"/>
            </a:solidFill>
            <a:prstDash val="solid"/>
          </a:ln>
        </p:spPr>
      </p:sp>
      <p:sp>
        <p:nvSpPr>
          <p:cNvPr id="43" name="Text 41"/>
          <p:cNvSpPr/>
          <p:nvPr/>
        </p:nvSpPr>
        <p:spPr>
          <a:xfrm>
            <a:off x="6309360" y="2606040"/>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APPROACH</a:t>
            </a:r>
            <a:endParaRPr lang="en-US" sz="850" dirty="0"/>
          </a:p>
        </p:txBody>
      </p:sp>
      <p:sp>
        <p:nvSpPr>
          <p:cNvPr id="44" name="Text 42"/>
          <p:cNvSpPr/>
          <p:nvPr/>
        </p:nvSpPr>
        <p:spPr>
          <a:xfrm>
            <a:off x="6309360" y="2926080"/>
            <a:ext cx="10972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Malgun Gothic" pitchFamily="34" charset="0"/>
                <a:ea typeface="Malgun Gothic" pitchFamily="34" charset="-122"/>
                <a:cs typeface="Malgun Gothic" pitchFamily="34" charset="-120"/>
              </a:rPr>
              <a:t>🌳</a:t>
            </a:r>
            <a:endParaRPr lang="en-US" sz="2200" dirty="0"/>
          </a:p>
        </p:txBody>
      </p:sp>
      <p:sp>
        <p:nvSpPr>
          <p:cNvPr id="45" name="Text 43"/>
          <p:cNvSpPr/>
          <p:nvPr/>
        </p:nvSpPr>
        <p:spPr>
          <a:xfrm>
            <a:off x="6309360" y="3337560"/>
            <a:ext cx="1097280" cy="164592"/>
          </a:xfrm>
          <a:prstGeom prst="rect">
            <a:avLst/>
          </a:prstGeom>
          <a:noFill/>
          <a:ln/>
        </p:spPr>
        <p:txBody>
          <a:bodyPr wrap="square" lIns="0" tIns="0" rIns="0" bIns="0" rtlCol="0" anchor="ctr"/>
          <a:lstStyle/>
          <a:p>
            <a:pPr algn="ctr" indent="0" marL="0">
              <a:buNone/>
            </a:pPr>
            <a:r>
              <a:rPr lang="en-US" sz="800" i="1" dirty="0">
                <a:solidFill>
                  <a:srgbClr val="78909C"/>
                </a:solidFill>
                <a:latin typeface="Malgun Gothic" pitchFamily="34" charset="0"/>
                <a:ea typeface="Malgun Gothic" pitchFamily="34" charset="-122"/>
                <a:cs typeface="Malgun Gothic" pitchFamily="34" charset="-120"/>
              </a:rPr>
              <a:t>contam</a:t>
            </a:r>
            <a:endParaRPr lang="en-US" sz="800" dirty="0"/>
          </a:p>
        </p:txBody>
      </p:sp>
      <p:sp>
        <p:nvSpPr>
          <p:cNvPr id="46" name="Text 44"/>
          <p:cNvSpPr/>
          <p:nvPr/>
        </p:nvSpPr>
        <p:spPr>
          <a:xfrm>
            <a:off x="6309360" y="3493008"/>
            <a:ext cx="1097280" cy="182880"/>
          </a:xfrm>
          <a:prstGeom prst="rect">
            <a:avLst/>
          </a:prstGeom>
          <a:noFill/>
          <a:ln/>
        </p:spPr>
        <p:txBody>
          <a:bodyPr wrap="square" lIns="0" tIns="0" rIns="0" bIns="0" rtlCol="0" anchor="ctr"/>
          <a:lstStyle/>
          <a:p>
            <a:pPr algn="ctr" indent="0" marL="0">
              <a:buNone/>
            </a:pPr>
            <a:r>
              <a:rPr lang="en-US" sz="1100" b="1" dirty="0">
                <a:solidFill>
                  <a:srgbClr val="EF5350"/>
                </a:solidFill>
                <a:latin typeface="Consolas" pitchFamily="34" charset="0"/>
                <a:ea typeface="Consolas" pitchFamily="34" charset="-122"/>
                <a:cs typeface="Consolas" pitchFamily="34" charset="-120"/>
              </a:rPr>
              <a:t>0.06</a:t>
            </a:r>
            <a:endParaRPr lang="en-US" sz="1100" dirty="0"/>
          </a:p>
        </p:txBody>
      </p:sp>
      <p:sp>
        <p:nvSpPr>
          <p:cNvPr id="47" name="Shape 45"/>
          <p:cNvSpPr/>
          <p:nvPr/>
        </p:nvSpPr>
        <p:spPr>
          <a:xfrm>
            <a:off x="7479792" y="2606040"/>
            <a:ext cx="1097280" cy="1097280"/>
          </a:xfrm>
          <a:prstGeom prst="roundRect">
            <a:avLst>
              <a:gd name="adj" fmla="val 6667"/>
            </a:avLst>
          </a:prstGeom>
          <a:solidFill>
            <a:srgbClr val="FFFFFF"/>
          </a:solidFill>
          <a:ln w="25400">
            <a:solidFill>
              <a:srgbClr val="EF5350"/>
            </a:solidFill>
            <a:prstDash val="solid"/>
          </a:ln>
        </p:spPr>
      </p:sp>
      <p:sp>
        <p:nvSpPr>
          <p:cNvPr id="48" name="Shape 46"/>
          <p:cNvSpPr/>
          <p:nvPr/>
        </p:nvSpPr>
        <p:spPr>
          <a:xfrm>
            <a:off x="7479792" y="2606040"/>
            <a:ext cx="1097280" cy="292608"/>
          </a:xfrm>
          <a:prstGeom prst="rect">
            <a:avLst/>
          </a:prstGeom>
          <a:solidFill>
            <a:srgbClr val="EF5350"/>
          </a:solidFill>
          <a:ln w="12700">
            <a:solidFill>
              <a:srgbClr val="EF5350"/>
            </a:solidFill>
            <a:prstDash val="solid"/>
          </a:ln>
        </p:spPr>
      </p:sp>
      <p:sp>
        <p:nvSpPr>
          <p:cNvPr id="49" name="Text 47"/>
          <p:cNvSpPr/>
          <p:nvPr/>
        </p:nvSpPr>
        <p:spPr>
          <a:xfrm>
            <a:off x="7479792" y="2606040"/>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LANDING</a:t>
            </a:r>
            <a:endParaRPr lang="en-US" sz="850" dirty="0"/>
          </a:p>
        </p:txBody>
      </p:sp>
      <p:sp>
        <p:nvSpPr>
          <p:cNvPr id="50" name="Text 48"/>
          <p:cNvSpPr/>
          <p:nvPr/>
        </p:nvSpPr>
        <p:spPr>
          <a:xfrm>
            <a:off x="7479792" y="2926080"/>
            <a:ext cx="10972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Malgun Gothic" pitchFamily="34" charset="0"/>
                <a:ea typeface="Malgun Gothic" pitchFamily="34" charset="-122"/>
                <a:cs typeface="Malgun Gothic" pitchFamily="34" charset="-120"/>
              </a:rPr>
              <a:t>🌳</a:t>
            </a:r>
            <a:endParaRPr lang="en-US" sz="2200" dirty="0"/>
          </a:p>
        </p:txBody>
      </p:sp>
      <p:sp>
        <p:nvSpPr>
          <p:cNvPr id="51" name="Text 49"/>
          <p:cNvSpPr/>
          <p:nvPr/>
        </p:nvSpPr>
        <p:spPr>
          <a:xfrm>
            <a:off x="7479792" y="3337560"/>
            <a:ext cx="1097280" cy="164592"/>
          </a:xfrm>
          <a:prstGeom prst="rect">
            <a:avLst/>
          </a:prstGeom>
          <a:noFill/>
          <a:ln/>
        </p:spPr>
        <p:txBody>
          <a:bodyPr wrap="square" lIns="0" tIns="0" rIns="0" bIns="0" rtlCol="0" anchor="ctr"/>
          <a:lstStyle/>
          <a:p>
            <a:pPr algn="ctr" indent="0" marL="0">
              <a:buNone/>
            </a:pPr>
            <a:r>
              <a:rPr lang="en-US" sz="800" i="1" dirty="0">
                <a:solidFill>
                  <a:srgbClr val="78909C"/>
                </a:solidFill>
                <a:latin typeface="Malgun Gothic" pitchFamily="34" charset="0"/>
                <a:ea typeface="Malgun Gothic" pitchFamily="34" charset="-122"/>
                <a:cs typeface="Malgun Gothic" pitchFamily="34" charset="-120"/>
              </a:rPr>
              <a:t>contam</a:t>
            </a:r>
            <a:endParaRPr lang="en-US" sz="800" dirty="0"/>
          </a:p>
        </p:txBody>
      </p:sp>
      <p:sp>
        <p:nvSpPr>
          <p:cNvPr id="52" name="Text 50"/>
          <p:cNvSpPr/>
          <p:nvPr/>
        </p:nvSpPr>
        <p:spPr>
          <a:xfrm>
            <a:off x="7479792" y="3493008"/>
            <a:ext cx="1097280" cy="182880"/>
          </a:xfrm>
          <a:prstGeom prst="rect">
            <a:avLst/>
          </a:prstGeom>
          <a:noFill/>
          <a:ln/>
        </p:spPr>
        <p:txBody>
          <a:bodyPr wrap="square" lIns="0" tIns="0" rIns="0" bIns="0" rtlCol="0" anchor="ctr"/>
          <a:lstStyle/>
          <a:p>
            <a:pPr algn="ctr" indent="0" marL="0">
              <a:buNone/>
            </a:pPr>
            <a:r>
              <a:rPr lang="en-US" sz="1100" b="1" dirty="0">
                <a:solidFill>
                  <a:srgbClr val="EF5350"/>
                </a:solidFill>
                <a:latin typeface="Consolas" pitchFamily="34" charset="0"/>
                <a:ea typeface="Consolas" pitchFamily="34" charset="-122"/>
                <a:cs typeface="Consolas" pitchFamily="34" charset="-120"/>
              </a:rPr>
              <a:t>0.06</a:t>
            </a:r>
            <a:endParaRPr lang="en-US" sz="1100" dirty="0"/>
          </a:p>
        </p:txBody>
      </p:sp>
      <p:sp>
        <p:nvSpPr>
          <p:cNvPr id="53" name="Shape 51"/>
          <p:cNvSpPr/>
          <p:nvPr/>
        </p:nvSpPr>
        <p:spPr>
          <a:xfrm>
            <a:off x="457200" y="3840480"/>
            <a:ext cx="8138160" cy="749808"/>
          </a:xfrm>
          <a:prstGeom prst="roundRect">
            <a:avLst>
              <a:gd name="adj" fmla="val 9756"/>
            </a:avLst>
          </a:prstGeom>
          <a:solidFill>
            <a:srgbClr val="0B1F3A"/>
          </a:solidFill>
          <a:ln w="12700">
            <a:solidFill>
              <a:srgbClr val="0B1F3A"/>
            </a:solidFill>
            <a:prstDash val="solid"/>
          </a:ln>
        </p:spPr>
      </p:sp>
      <p:sp>
        <p:nvSpPr>
          <p:cNvPr id="54" name="Text 52"/>
          <p:cNvSpPr/>
          <p:nvPr/>
        </p:nvSpPr>
        <p:spPr>
          <a:xfrm>
            <a:off x="640080" y="3913632"/>
            <a:ext cx="7863840" cy="594360"/>
          </a:xfrm>
          <a:prstGeom prst="rect">
            <a:avLst/>
          </a:prstGeom>
          <a:noFill/>
          <a:ln/>
        </p:spPr>
        <p:txBody>
          <a:bodyPr wrap="square" lIns="0" tIns="0" rIns="0" bIns="0" rtlCol="0" anchor="ctr"/>
          <a:lstStyle/>
          <a:p>
            <a:pPr indent="0" marL="0">
              <a:buNone/>
            </a:pPr>
            <a:r>
              <a:rPr lang="en-US" sz="1200" b="1" dirty="0">
                <a:solidFill>
                  <a:srgbClr val="FFB300"/>
                </a:solidFill>
                <a:latin typeface="Malgun Gothic" pitchFamily="34" charset="0"/>
                <a:ea typeface="Malgun Gothic" pitchFamily="34" charset="-122"/>
                <a:cs typeface="Malgun Gothic" pitchFamily="34" charset="-120"/>
              </a:rPr>
              <a:t>📉 결과: </a:t>
            </a:r>
            <a:pPr indent="0" marL="0">
              <a:buNone/>
            </a:pPr>
            <a:r>
              <a:rPr lang="en-US" sz="1200" dirty="0">
                <a:solidFill>
                  <a:srgbClr val="FFFFFF"/>
                </a:solidFill>
                <a:latin typeface="Malgun Gothic" pitchFamily="34" charset="0"/>
                <a:ea typeface="Malgun Gothic" pitchFamily="34" charset="-122"/>
                <a:cs typeface="Malgun Gothic" pitchFamily="34" charset="-120"/>
              </a:rPr>
              <a:t>False Positive </a:t>
            </a:r>
            <a:pPr indent="0" marL="0">
              <a:buNone/>
            </a:pPr>
            <a:r>
              <a:rPr lang="en-US" sz="1600" b="1" dirty="0">
                <a:solidFill>
                  <a:srgbClr val="43A047"/>
                </a:solidFill>
                <a:latin typeface="Malgun Gothic" pitchFamily="34" charset="0"/>
                <a:ea typeface="Malgun Gothic" pitchFamily="34" charset="-122"/>
                <a:cs typeface="Malgun Gothic" pitchFamily="34" charset="-120"/>
              </a:rPr>
              <a:t>−67 %</a:t>
            </a:r>
            <a:pPr indent="0" marL="0">
              <a:buNone/>
            </a:pPr>
            <a:r>
              <a:rPr lang="en-US" sz="1100" dirty="0">
                <a:solidFill>
                  <a:srgbClr val="FFFFFF"/>
                </a:solidFill>
                <a:latin typeface="Malgun Gothic" pitchFamily="34" charset="0"/>
                <a:ea typeface="Malgun Gothic" pitchFamily="34" charset="-122"/>
                <a:cs typeface="Malgun Gothic" pitchFamily="34" charset="-120"/>
              </a:rPr>
              <a:t>  ·  alert fatigue 대폭 완화  ·  v2.1.10 serving 에 실제 wire-up (ADR-006)</a:t>
            </a:r>
            <a:endParaRPr lang="en-US" sz="1200" dirty="0"/>
          </a:p>
        </p:txBody>
      </p:sp>
      <p:sp>
        <p:nvSpPr>
          <p:cNvPr id="55" name="Shape 53"/>
          <p:cNvSpPr/>
          <p:nvPr/>
        </p:nvSpPr>
        <p:spPr>
          <a:xfrm>
            <a:off x="0" y="4892040"/>
            <a:ext cx="9144000" cy="256032"/>
          </a:xfrm>
          <a:prstGeom prst="rect">
            <a:avLst/>
          </a:prstGeom>
          <a:solidFill>
            <a:srgbClr val="0B1F3A"/>
          </a:solidFill>
          <a:ln w="12700">
            <a:solidFill>
              <a:srgbClr val="0B1F3A"/>
            </a:solidFill>
            <a:prstDash val="solid"/>
          </a:ln>
        </p:spPr>
      </p:sp>
      <p:sp>
        <p:nvSpPr>
          <p:cNvPr id="56" name="Text 54"/>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57" name="Text 55"/>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07 · MODELS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Conformal Prediction — 점 vs 구간</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Point estimate vs Interval prediction</a:t>
            </a:r>
            <a:endParaRPr lang="en-US" sz="1050" dirty="0"/>
          </a:p>
        </p:txBody>
      </p:sp>
      <p:sp>
        <p:nvSpPr>
          <p:cNvPr id="7" name="Shape 5"/>
          <p:cNvSpPr/>
          <p:nvPr/>
        </p:nvSpPr>
        <p:spPr>
          <a:xfrm>
            <a:off x="457200" y="960120"/>
            <a:ext cx="3931920" cy="3566160"/>
          </a:xfrm>
          <a:prstGeom prst="roundRect">
            <a:avLst>
              <a:gd name="adj" fmla="val 2564"/>
            </a:avLst>
          </a:prstGeom>
          <a:solidFill>
            <a:srgbClr val="FFFFFF"/>
          </a:solidFill>
          <a:ln w="25400">
            <a:solidFill>
              <a:srgbClr val="EF5350"/>
            </a:solidFill>
            <a:prstDash val="solid"/>
          </a:ln>
        </p:spPr>
      </p:sp>
      <p:sp>
        <p:nvSpPr>
          <p:cNvPr id="8" name="Shape 6"/>
          <p:cNvSpPr/>
          <p:nvPr/>
        </p:nvSpPr>
        <p:spPr>
          <a:xfrm>
            <a:off x="457200" y="960120"/>
            <a:ext cx="3931920" cy="411480"/>
          </a:xfrm>
          <a:prstGeom prst="rect">
            <a:avLst/>
          </a:prstGeom>
          <a:solidFill>
            <a:srgbClr val="EF5350"/>
          </a:solidFill>
          <a:ln w="12700">
            <a:solidFill>
              <a:srgbClr val="EF5350"/>
            </a:solidFill>
            <a:prstDash val="solid"/>
          </a:ln>
        </p:spPr>
      </p:sp>
      <p:sp>
        <p:nvSpPr>
          <p:cNvPr id="9" name="Text 7"/>
          <p:cNvSpPr/>
          <p:nvPr/>
        </p:nvSpPr>
        <p:spPr>
          <a:xfrm>
            <a:off x="457200" y="960120"/>
            <a:ext cx="39319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BEFORE  ·  점 예측만</a:t>
            </a:r>
            <a:endParaRPr lang="en-US" sz="1200" dirty="0"/>
          </a:p>
        </p:txBody>
      </p:sp>
      <p:sp>
        <p:nvSpPr>
          <p:cNvPr id="10" name="Text 8"/>
          <p:cNvSpPr/>
          <p:nvPr/>
        </p:nvSpPr>
        <p:spPr>
          <a:xfrm>
            <a:off x="457200" y="1554480"/>
            <a:ext cx="3931920" cy="731520"/>
          </a:xfrm>
          <a:prstGeom prst="rect">
            <a:avLst/>
          </a:prstGeom>
          <a:noFill/>
          <a:ln/>
        </p:spPr>
        <p:txBody>
          <a:bodyPr wrap="square" lIns="0" tIns="0" rIns="0" bIns="0" rtlCol="0" anchor="ctr"/>
          <a:lstStyle/>
          <a:p>
            <a:pPr algn="ctr" indent="0" marL="0">
              <a:buNone/>
            </a:pPr>
            <a:r>
              <a:rPr lang="en-US" sz="5000" dirty="0">
                <a:solidFill>
                  <a:srgbClr val="000000"/>
                </a:solidFill>
                <a:latin typeface="Malgun Gothic" pitchFamily="34" charset="0"/>
                <a:ea typeface="Malgun Gothic" pitchFamily="34" charset="-122"/>
                <a:cs typeface="Malgun Gothic" pitchFamily="34" charset="-120"/>
              </a:rPr>
              <a:t>🎯</a:t>
            </a:r>
            <a:endParaRPr lang="en-US" sz="5000" dirty="0"/>
          </a:p>
        </p:txBody>
      </p:sp>
      <p:sp>
        <p:nvSpPr>
          <p:cNvPr id="11" name="Text 9"/>
          <p:cNvSpPr/>
          <p:nvPr/>
        </p:nvSpPr>
        <p:spPr>
          <a:xfrm>
            <a:off x="457200" y="2377440"/>
            <a:ext cx="3931920" cy="457200"/>
          </a:xfrm>
          <a:prstGeom prst="rect">
            <a:avLst/>
          </a:prstGeom>
          <a:noFill/>
          <a:ln/>
        </p:spPr>
        <p:txBody>
          <a:bodyPr wrap="square" lIns="0" tIns="0" rIns="0" bIns="0" rtlCol="0" anchor="ctr"/>
          <a:lstStyle/>
          <a:p>
            <a:pPr algn="ctr" indent="0" marL="0">
              <a:buNone/>
            </a:pPr>
            <a:r>
              <a:rPr lang="en-US" sz="2200" b="1" dirty="0">
                <a:solidFill>
                  <a:srgbClr val="0B1F3A"/>
                </a:solidFill>
                <a:latin typeface="Malgun Gothic" pitchFamily="34" charset="0"/>
                <a:ea typeface="Malgun Gothic" pitchFamily="34" charset="-122"/>
                <a:cs typeface="Malgun Gothic" pitchFamily="34" charset="-120"/>
              </a:rPr>
              <a:t>"15 분 지연"</a:t>
            </a:r>
            <a:endParaRPr lang="en-US" sz="2200" dirty="0"/>
          </a:p>
        </p:txBody>
      </p:sp>
      <p:sp>
        <p:nvSpPr>
          <p:cNvPr id="12" name="Text 10"/>
          <p:cNvSpPr/>
          <p:nvPr/>
        </p:nvSpPr>
        <p:spPr>
          <a:xfrm>
            <a:off x="457200" y="2834640"/>
            <a:ext cx="3931920" cy="256032"/>
          </a:xfrm>
          <a:prstGeom prst="rect">
            <a:avLst/>
          </a:prstGeom>
          <a:noFill/>
          <a:ln/>
        </p:spPr>
        <p:txBody>
          <a:bodyPr wrap="square" lIns="0" tIns="0" rIns="0" bIns="0" rtlCol="0" anchor="ctr"/>
          <a:lstStyle/>
          <a:p>
            <a:pPr algn="ctr" indent="0" marL="0">
              <a:buNone/>
            </a:pPr>
            <a:r>
              <a:rPr lang="en-US" sz="1100" i="1" dirty="0">
                <a:solidFill>
                  <a:srgbClr val="78909C"/>
                </a:solidFill>
                <a:latin typeface="Malgun Gothic" pitchFamily="34" charset="0"/>
                <a:ea typeface="Malgun Gothic" pitchFamily="34" charset="-122"/>
                <a:cs typeface="Malgun Gothic" pitchFamily="34" charset="-120"/>
              </a:rPr>
              <a:t>"15 min delay"</a:t>
            </a:r>
            <a:endParaRPr lang="en-US" sz="1100" dirty="0"/>
          </a:p>
        </p:txBody>
      </p:sp>
      <p:sp>
        <p:nvSpPr>
          <p:cNvPr id="13" name="Text 11"/>
          <p:cNvSpPr/>
          <p:nvPr/>
        </p:nvSpPr>
        <p:spPr>
          <a:xfrm>
            <a:off x="640080" y="3246120"/>
            <a:ext cx="3566160" cy="1188720"/>
          </a:xfrm>
          <a:prstGeom prst="rect">
            <a:avLst/>
          </a:prstGeom>
          <a:noFill/>
          <a:ln/>
        </p:spPr>
        <p:txBody>
          <a:bodyPr wrap="square" lIns="0" tIns="0" rIns="0" bIns="0" rtlCol="0" anchor="ctr"/>
          <a:lstStyle/>
          <a:p>
            <a:pPr algn="ctr" indent="0" marL="0">
              <a:buNone/>
            </a:pPr>
            <a:r>
              <a:rPr lang="en-US" sz="1050" b="1" dirty="0">
                <a:solidFill>
                  <a:srgbClr val="EF5350"/>
                </a:solidFill>
                <a:latin typeface="Malgun Gothic" pitchFamily="34" charset="0"/>
                <a:ea typeface="Malgun Gothic" pitchFamily="34" charset="-122"/>
                <a:cs typeface="Malgun Gothic" pitchFamily="34" charset="-120"/>
              </a:rPr>
              <a:t>💭 얼마나 믿어야 할까?
</a:t>
            </a:r>
            <a:pPr algn="ctr" indent="0" marL="0">
              <a:buNone/>
            </a:pPr>
            <a:r>
              <a:rPr lang="en-US" sz="1000" dirty="0">
                <a:solidFill>
                  <a:srgbClr val="37474F"/>
                </a:solidFill>
                <a:latin typeface="Malgun Gothic" pitchFamily="34" charset="0"/>
                <a:ea typeface="Malgun Gothic" pitchFamily="34" charset="-122"/>
                <a:cs typeface="Malgun Gothic" pitchFamily="34" charset="-120"/>
              </a:rPr>
              <a:t>실제: 5분일 수도 40분일 수도
</a:t>
            </a:r>
            <a:pPr algn="ctr" indent="0" marL="0">
              <a:buNone/>
            </a:pPr>
            <a:r>
              <a:rPr lang="en-US" sz="900" i="1" dirty="0">
                <a:solidFill>
                  <a:srgbClr val="78909C"/>
                </a:solidFill>
                <a:latin typeface="Malgun Gothic" pitchFamily="34" charset="0"/>
                <a:ea typeface="Malgun Gothic" pitchFamily="34" charset="-122"/>
                <a:cs typeface="Malgun Gothic" pitchFamily="34" charset="-120"/>
              </a:rPr>
              <a:t>actually could be 5 or 40 min — 근거 없음</a:t>
            </a:r>
            <a:endParaRPr lang="en-US" sz="1050" dirty="0"/>
          </a:p>
        </p:txBody>
      </p:sp>
      <p:sp>
        <p:nvSpPr>
          <p:cNvPr id="14" name="Shape 12"/>
          <p:cNvSpPr/>
          <p:nvPr/>
        </p:nvSpPr>
        <p:spPr>
          <a:xfrm>
            <a:off x="4754880" y="960120"/>
            <a:ext cx="3931920" cy="3566160"/>
          </a:xfrm>
          <a:prstGeom prst="roundRect">
            <a:avLst>
              <a:gd name="adj" fmla="val 2564"/>
            </a:avLst>
          </a:prstGeom>
          <a:solidFill>
            <a:srgbClr val="FFFFFF"/>
          </a:solidFill>
          <a:ln w="25400">
            <a:solidFill>
              <a:srgbClr val="43A047"/>
            </a:solidFill>
            <a:prstDash val="solid"/>
          </a:ln>
        </p:spPr>
      </p:sp>
      <p:sp>
        <p:nvSpPr>
          <p:cNvPr id="15" name="Shape 13"/>
          <p:cNvSpPr/>
          <p:nvPr/>
        </p:nvSpPr>
        <p:spPr>
          <a:xfrm>
            <a:off x="4754880" y="960120"/>
            <a:ext cx="3931920" cy="411480"/>
          </a:xfrm>
          <a:prstGeom prst="rect">
            <a:avLst/>
          </a:prstGeom>
          <a:solidFill>
            <a:srgbClr val="43A047"/>
          </a:solidFill>
          <a:ln w="12700">
            <a:solidFill>
              <a:srgbClr val="43A047"/>
            </a:solidFill>
            <a:prstDash val="solid"/>
          </a:ln>
        </p:spPr>
      </p:sp>
      <p:sp>
        <p:nvSpPr>
          <p:cNvPr id="16" name="Text 14"/>
          <p:cNvSpPr/>
          <p:nvPr/>
        </p:nvSpPr>
        <p:spPr>
          <a:xfrm>
            <a:off x="4754880" y="960120"/>
            <a:ext cx="39319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AFTER  ·  신뢰구간 (Conformal)</a:t>
            </a:r>
            <a:endParaRPr lang="en-US" sz="1200" dirty="0"/>
          </a:p>
        </p:txBody>
      </p:sp>
      <p:sp>
        <p:nvSpPr>
          <p:cNvPr id="17" name="Shape 15"/>
          <p:cNvSpPr/>
          <p:nvPr/>
        </p:nvSpPr>
        <p:spPr>
          <a:xfrm>
            <a:off x="5029200" y="1737360"/>
            <a:ext cx="3383280" cy="548640"/>
          </a:xfrm>
          <a:prstGeom prst="rect">
            <a:avLst/>
          </a:prstGeom>
          <a:solidFill>
            <a:srgbClr val="E3F2FD"/>
          </a:solidFill>
          <a:ln w="12700">
            <a:solidFill>
              <a:srgbClr val="43A047"/>
            </a:solidFill>
            <a:prstDash val="solid"/>
          </a:ln>
        </p:spPr>
      </p:sp>
      <p:sp>
        <p:nvSpPr>
          <p:cNvPr id="18" name="Shape 16"/>
          <p:cNvSpPr/>
          <p:nvPr/>
        </p:nvSpPr>
        <p:spPr>
          <a:xfrm>
            <a:off x="5394960" y="1828800"/>
            <a:ext cx="2651760" cy="365760"/>
          </a:xfrm>
          <a:prstGeom prst="rect">
            <a:avLst/>
          </a:prstGeom>
          <a:solidFill>
            <a:srgbClr val="43A047"/>
          </a:solidFill>
          <a:ln w="12700">
            <a:solidFill>
              <a:srgbClr val="43A047"/>
            </a:solidFill>
            <a:prstDash val="solid"/>
          </a:ln>
        </p:spPr>
      </p:sp>
      <p:sp>
        <p:nvSpPr>
          <p:cNvPr id="19" name="Text 17"/>
          <p:cNvSpPr/>
          <p:nvPr/>
        </p:nvSpPr>
        <p:spPr>
          <a:xfrm>
            <a:off x="5212080" y="2286000"/>
            <a:ext cx="365760" cy="228600"/>
          </a:xfrm>
          <a:prstGeom prst="rect">
            <a:avLst/>
          </a:prstGeom>
          <a:noFill/>
          <a:ln/>
        </p:spPr>
        <p:txBody>
          <a:bodyPr wrap="square" lIns="0" tIns="0" rIns="0" bIns="0" rtlCol="0" anchor="ctr"/>
          <a:lstStyle/>
          <a:p>
            <a:pPr algn="ctr" indent="0" marL="0">
              <a:buNone/>
            </a:pPr>
            <a:r>
              <a:rPr lang="en-US" sz="1100" b="1" dirty="0">
                <a:solidFill>
                  <a:srgbClr val="43A047"/>
                </a:solidFill>
                <a:latin typeface="Consolas" pitchFamily="34" charset="0"/>
                <a:ea typeface="Consolas" pitchFamily="34" charset="-122"/>
                <a:cs typeface="Consolas" pitchFamily="34" charset="-120"/>
              </a:rPr>
              <a:t>6</a:t>
            </a:r>
            <a:endParaRPr lang="en-US" sz="1100" dirty="0"/>
          </a:p>
        </p:txBody>
      </p:sp>
      <p:sp>
        <p:nvSpPr>
          <p:cNvPr id="20" name="Text 18"/>
          <p:cNvSpPr/>
          <p:nvPr/>
        </p:nvSpPr>
        <p:spPr>
          <a:xfrm>
            <a:off x="7818120" y="2286000"/>
            <a:ext cx="365760" cy="228600"/>
          </a:xfrm>
          <a:prstGeom prst="rect">
            <a:avLst/>
          </a:prstGeom>
          <a:noFill/>
          <a:ln/>
        </p:spPr>
        <p:txBody>
          <a:bodyPr wrap="square" lIns="0" tIns="0" rIns="0" bIns="0" rtlCol="0" anchor="ctr"/>
          <a:lstStyle/>
          <a:p>
            <a:pPr algn="ctr" indent="0" marL="0">
              <a:buNone/>
            </a:pPr>
            <a:r>
              <a:rPr lang="en-US" sz="1100" b="1" dirty="0">
                <a:solidFill>
                  <a:srgbClr val="43A047"/>
                </a:solidFill>
                <a:latin typeface="Consolas" pitchFamily="34" charset="0"/>
                <a:ea typeface="Consolas" pitchFamily="34" charset="-122"/>
                <a:cs typeface="Consolas" pitchFamily="34" charset="-120"/>
              </a:rPr>
              <a:t>41</a:t>
            </a:r>
            <a:endParaRPr lang="en-US" sz="1100" dirty="0"/>
          </a:p>
        </p:txBody>
      </p:sp>
      <p:sp>
        <p:nvSpPr>
          <p:cNvPr id="21" name="Text 19"/>
          <p:cNvSpPr/>
          <p:nvPr/>
        </p:nvSpPr>
        <p:spPr>
          <a:xfrm>
            <a:off x="5486400" y="2606040"/>
            <a:ext cx="2560320" cy="201168"/>
          </a:xfrm>
          <a:prstGeom prst="rect">
            <a:avLst/>
          </a:prstGeom>
          <a:noFill/>
          <a:ln/>
        </p:spPr>
        <p:txBody>
          <a:bodyPr wrap="square" lIns="0" tIns="0" rIns="0" bIns="0" rtlCol="0" anchor="ctr"/>
          <a:lstStyle/>
          <a:p>
            <a:pPr algn="ctr" indent="0" marL="0">
              <a:buNone/>
            </a:pPr>
            <a:r>
              <a:rPr lang="en-US" sz="900" i="1" dirty="0">
                <a:solidFill>
                  <a:srgbClr val="78909C"/>
                </a:solidFill>
                <a:latin typeface="Malgun Gothic" pitchFamily="34" charset="0"/>
                <a:ea typeface="Malgun Gothic" pitchFamily="34" charset="-122"/>
                <a:cs typeface="Malgun Gothic" pitchFamily="34" charset="-120"/>
              </a:rPr>
              <a:t>min</a:t>
            </a:r>
            <a:endParaRPr lang="en-US" sz="900" dirty="0"/>
          </a:p>
        </p:txBody>
      </p:sp>
      <p:sp>
        <p:nvSpPr>
          <p:cNvPr id="22" name="Text 20"/>
          <p:cNvSpPr/>
          <p:nvPr/>
        </p:nvSpPr>
        <p:spPr>
          <a:xfrm>
            <a:off x="4754880" y="2880360"/>
            <a:ext cx="3931920" cy="411480"/>
          </a:xfrm>
          <a:prstGeom prst="rect">
            <a:avLst/>
          </a:prstGeom>
          <a:noFill/>
          <a:ln/>
        </p:spPr>
        <p:txBody>
          <a:bodyPr wrap="square" lIns="0" tIns="0" rIns="0" bIns="0" rtlCol="0" anchor="ctr"/>
          <a:lstStyle/>
          <a:p>
            <a:pPr algn="ctr" indent="0" marL="0">
              <a:buNone/>
            </a:pPr>
            <a:r>
              <a:rPr lang="en-US" sz="1900" b="1" dirty="0">
                <a:solidFill>
                  <a:srgbClr val="0B1F3A"/>
                </a:solidFill>
                <a:latin typeface="Malgun Gothic" pitchFamily="34" charset="0"/>
                <a:ea typeface="Malgun Gothic" pitchFamily="34" charset="-122"/>
                <a:cs typeface="Malgun Gothic" pitchFamily="34" charset="-120"/>
              </a:rPr>
              <a:t>"6 ~ 41 분 지연"</a:t>
            </a:r>
            <a:endParaRPr lang="en-US" sz="1900" dirty="0"/>
          </a:p>
        </p:txBody>
      </p:sp>
      <p:sp>
        <p:nvSpPr>
          <p:cNvPr id="23" name="Text 21"/>
          <p:cNvSpPr/>
          <p:nvPr/>
        </p:nvSpPr>
        <p:spPr>
          <a:xfrm>
            <a:off x="4754880" y="3310128"/>
            <a:ext cx="3931920" cy="256032"/>
          </a:xfrm>
          <a:prstGeom prst="rect">
            <a:avLst/>
          </a:prstGeom>
          <a:noFill/>
          <a:ln/>
        </p:spPr>
        <p:txBody>
          <a:bodyPr wrap="square" lIns="0" tIns="0" rIns="0" bIns="0" rtlCol="0" anchor="ctr"/>
          <a:lstStyle/>
          <a:p>
            <a:pPr algn="ctr" indent="0" marL="0">
              <a:buNone/>
            </a:pPr>
            <a:r>
              <a:rPr lang="en-US" sz="1000" i="1" dirty="0">
                <a:solidFill>
                  <a:srgbClr val="43A047"/>
                </a:solidFill>
                <a:latin typeface="Malgun Gothic" pitchFamily="34" charset="0"/>
                <a:ea typeface="Malgun Gothic" pitchFamily="34" charset="-122"/>
                <a:cs typeface="Malgun Gothic" pitchFamily="34" charset="-120"/>
              </a:rPr>
              <a:t>at 90% confidence · MAPIE empirical 90.00%</a:t>
            </a:r>
            <a:endParaRPr lang="en-US" sz="1000" dirty="0"/>
          </a:p>
        </p:txBody>
      </p:sp>
      <p:sp>
        <p:nvSpPr>
          <p:cNvPr id="24" name="Text 22"/>
          <p:cNvSpPr/>
          <p:nvPr/>
        </p:nvSpPr>
        <p:spPr>
          <a:xfrm>
            <a:off x="4937760" y="3703320"/>
            <a:ext cx="3566160" cy="777240"/>
          </a:xfrm>
          <a:prstGeom prst="rect">
            <a:avLst/>
          </a:prstGeom>
          <a:noFill/>
          <a:ln/>
        </p:spPr>
        <p:txBody>
          <a:bodyPr wrap="square" lIns="0" tIns="0" rIns="0" bIns="0" rtlCol="0" anchor="ctr"/>
          <a:lstStyle/>
          <a:p>
            <a:pPr algn="ctr" indent="0" marL="0">
              <a:buNone/>
            </a:pPr>
            <a:r>
              <a:rPr lang="en-US" sz="1050" b="1" dirty="0">
                <a:solidFill>
                  <a:srgbClr val="43A047"/>
                </a:solidFill>
                <a:latin typeface="Malgun Gothic" pitchFamily="34" charset="0"/>
                <a:ea typeface="Malgun Gothic" pitchFamily="34" charset="-122"/>
                <a:cs typeface="Malgun Gothic" pitchFamily="34" charset="-120"/>
              </a:rPr>
              <a:t>🎯 수학적으로 보장된 커버리지
</a:t>
            </a:r>
            <a:pPr algn="ctr" indent="0" marL="0">
              <a:buNone/>
            </a:pPr>
            <a:r>
              <a:rPr lang="en-US" sz="1000" dirty="0">
                <a:solidFill>
                  <a:srgbClr val="37474F"/>
                </a:solidFill>
                <a:latin typeface="Malgun Gothic" pitchFamily="34" charset="0"/>
                <a:ea typeface="Malgun Gothic" pitchFamily="34" charset="-122"/>
                <a:cs typeface="Malgun Gothic" pitchFamily="34" charset="-120"/>
              </a:rPr>
              <a:t>관제사: "최악의 경우 41분까지 가능"
</a:t>
            </a:r>
            <a:pPr algn="ctr" indent="0" marL="0">
              <a:buNone/>
            </a:pPr>
            <a:r>
              <a:rPr lang="en-US" sz="900" i="1" dirty="0">
                <a:solidFill>
                  <a:srgbClr val="78909C"/>
                </a:solidFill>
                <a:latin typeface="Malgun Gothic" pitchFamily="34" charset="0"/>
                <a:ea typeface="Malgun Gothic" pitchFamily="34" charset="-122"/>
                <a:cs typeface="Malgun Gothic" pitchFamily="34" charset="-120"/>
              </a:rPr>
              <a:t>ATC can plan for worst case → quantified decision</a:t>
            </a:r>
            <a:endParaRPr lang="en-US" sz="1050" dirty="0"/>
          </a:p>
        </p:txBody>
      </p:sp>
      <p:sp>
        <p:nvSpPr>
          <p:cNvPr id="25" name="Shape 23"/>
          <p:cNvSpPr/>
          <p:nvPr/>
        </p:nvSpPr>
        <p:spPr>
          <a:xfrm>
            <a:off x="0" y="4892040"/>
            <a:ext cx="9144000" cy="256032"/>
          </a:xfrm>
          <a:prstGeom prst="rect">
            <a:avLst/>
          </a:prstGeom>
          <a:solidFill>
            <a:srgbClr val="0B1F3A"/>
          </a:solidFill>
          <a:ln w="12700">
            <a:solidFill>
              <a:srgbClr val="0B1F3A"/>
            </a:solidFill>
            <a:prstDash val="solid"/>
          </a:ln>
        </p:spPr>
      </p:sp>
      <p:sp>
        <p:nvSpPr>
          <p:cNvPr id="26" name="Text 24"/>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27" name="Text 25"/>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26 / 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08 · END-TO-END</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데이터 → 의사결정</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Data to Decision — a live example</a:t>
            </a:r>
            <a:endParaRPr lang="en-US" sz="1050" dirty="0"/>
          </a:p>
        </p:txBody>
      </p:sp>
      <p:sp>
        <p:nvSpPr>
          <p:cNvPr id="7" name="Shape 5"/>
          <p:cNvSpPr/>
          <p:nvPr/>
        </p:nvSpPr>
        <p:spPr>
          <a:xfrm>
            <a:off x="457200" y="1005840"/>
            <a:ext cx="1920240" cy="1600200"/>
          </a:xfrm>
          <a:prstGeom prst="roundRect">
            <a:avLst>
              <a:gd name="adj" fmla="val 4571"/>
            </a:avLst>
          </a:prstGeom>
          <a:solidFill>
            <a:srgbClr val="FFFFFF"/>
          </a:solidFill>
          <a:ln w="19050">
            <a:solidFill>
              <a:srgbClr val="1E88E5"/>
            </a:solidFill>
            <a:prstDash val="solid"/>
          </a:ln>
        </p:spPr>
      </p:sp>
      <p:sp>
        <p:nvSpPr>
          <p:cNvPr id="8" name="Shape 6"/>
          <p:cNvSpPr/>
          <p:nvPr/>
        </p:nvSpPr>
        <p:spPr>
          <a:xfrm>
            <a:off x="548640" y="1097280"/>
            <a:ext cx="502920" cy="502920"/>
          </a:xfrm>
          <a:prstGeom prst="ellipse">
            <a:avLst/>
          </a:prstGeom>
          <a:solidFill>
            <a:srgbClr val="1E88E5"/>
          </a:solidFill>
          <a:ln w="12700">
            <a:solidFill>
              <a:srgbClr val="1E88E5"/>
            </a:solidFill>
            <a:prstDash val="solid"/>
          </a:ln>
        </p:spPr>
      </p:sp>
      <p:sp>
        <p:nvSpPr>
          <p:cNvPr id="9" name="Text 7"/>
          <p:cNvSpPr/>
          <p:nvPr/>
        </p:nvSpPr>
        <p:spPr>
          <a:xfrm>
            <a:off x="548640" y="10972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a:t>
            </a:r>
            <a:endParaRPr lang="en-US" sz="2200" dirty="0"/>
          </a:p>
        </p:txBody>
      </p:sp>
      <p:sp>
        <p:nvSpPr>
          <p:cNvPr id="10" name="Text 8"/>
          <p:cNvSpPr/>
          <p:nvPr/>
        </p:nvSpPr>
        <p:spPr>
          <a:xfrm>
            <a:off x="457200" y="1097280"/>
            <a:ext cx="1920240" cy="640080"/>
          </a:xfrm>
          <a:prstGeom prst="rect">
            <a:avLst/>
          </a:prstGeom>
          <a:noFill/>
          <a:ln/>
        </p:spPr>
        <p:txBody>
          <a:bodyPr wrap="square" lIns="0" tIns="0" rIns="0" bIns="0" rtlCol="0" anchor="ctr"/>
          <a:lstStyle/>
          <a:p>
            <a:pPr algn="ctr" indent="0" marL="0">
              <a:buNone/>
            </a:pPr>
            <a:r>
              <a:rPr lang="en-US" sz="3200" dirty="0">
                <a:solidFill>
                  <a:srgbClr val="000000"/>
                </a:solidFill>
                <a:latin typeface="Malgun Gothic" pitchFamily="34" charset="0"/>
                <a:ea typeface="Malgun Gothic" pitchFamily="34" charset="-122"/>
                <a:cs typeface="Malgun Gothic" pitchFamily="34" charset="-120"/>
              </a:rPr>
              <a:t>✈️</a:t>
            </a:r>
            <a:endParaRPr lang="en-US" sz="3200" dirty="0"/>
          </a:p>
        </p:txBody>
      </p:sp>
      <p:sp>
        <p:nvSpPr>
          <p:cNvPr id="11" name="Text 9"/>
          <p:cNvSpPr/>
          <p:nvPr/>
        </p:nvSpPr>
        <p:spPr>
          <a:xfrm>
            <a:off x="457200" y="173736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ADS-B 수신</a:t>
            </a:r>
            <a:endParaRPr lang="en-US" sz="1200" dirty="0"/>
          </a:p>
        </p:txBody>
      </p:sp>
      <p:sp>
        <p:nvSpPr>
          <p:cNvPr id="12" name="Shape 10"/>
          <p:cNvSpPr/>
          <p:nvPr/>
        </p:nvSpPr>
        <p:spPr>
          <a:xfrm>
            <a:off x="548640" y="2103120"/>
            <a:ext cx="1737360" cy="457200"/>
          </a:xfrm>
          <a:prstGeom prst="rect">
            <a:avLst/>
          </a:prstGeom>
          <a:solidFill>
            <a:srgbClr val="E3F2FD"/>
          </a:solidFill>
          <a:ln w="6350">
            <a:solidFill>
              <a:srgbClr val="1E88E5"/>
            </a:solidFill>
            <a:prstDash val="solid"/>
          </a:ln>
        </p:spPr>
      </p:sp>
      <p:sp>
        <p:nvSpPr>
          <p:cNvPr id="13" name="Text 11"/>
          <p:cNvSpPr/>
          <p:nvPr/>
        </p:nvSpPr>
        <p:spPr>
          <a:xfrm>
            <a:off x="594360" y="2121408"/>
            <a:ext cx="1645920" cy="438912"/>
          </a:xfrm>
          <a:prstGeom prst="rect">
            <a:avLst/>
          </a:prstGeom>
          <a:noFill/>
          <a:ln/>
        </p:spPr>
        <p:txBody>
          <a:bodyPr wrap="square" lIns="0" tIns="0" rIns="0" bIns="0" rtlCol="0" anchor="ctr"/>
          <a:lstStyle/>
          <a:p>
            <a:pPr algn="ctr" indent="0" marL="0">
              <a:buNone/>
            </a:pPr>
            <a:r>
              <a:rPr lang="en-US" sz="850" dirty="0">
                <a:solidFill>
                  <a:srgbClr val="1E88E5"/>
                </a:solidFill>
                <a:latin typeface="Consolas" pitchFamily="34" charset="0"/>
                <a:ea typeface="Consolas" pitchFamily="34" charset="-122"/>
                <a:cs typeface="Consolas" pitchFamily="34" charset="-120"/>
              </a:rPr>
              <a:t>icao=a1b2c3</a:t>
            </a:r>
            <a:endParaRPr lang="en-US" sz="850" dirty="0"/>
          </a:p>
          <a:p>
            <a:pPr algn="ctr" indent="0" marL="0">
              <a:buNone/>
            </a:pPr>
            <a:r>
              <a:rPr lang="en-US" sz="850" dirty="0">
                <a:solidFill>
                  <a:srgbClr val="1E88E5"/>
                </a:solidFill>
                <a:latin typeface="Consolas" pitchFamily="34" charset="0"/>
                <a:ea typeface="Consolas" pitchFamily="34" charset="-122"/>
                <a:cs typeface="Consolas" pitchFamily="34" charset="-120"/>
              </a:rPr>
              <a:t>alt=10668 m</a:t>
            </a:r>
            <a:endParaRPr lang="en-US" sz="850" dirty="0"/>
          </a:p>
        </p:txBody>
      </p:sp>
      <p:sp>
        <p:nvSpPr>
          <p:cNvPr id="14" name="Text 12"/>
          <p:cNvSpPr/>
          <p:nvPr/>
        </p:nvSpPr>
        <p:spPr>
          <a:xfrm>
            <a:off x="2377440" y="1005840"/>
            <a:ext cx="182880" cy="1600200"/>
          </a:xfrm>
          <a:prstGeom prst="rect">
            <a:avLst/>
          </a:prstGeom>
          <a:noFill/>
          <a:ln/>
        </p:spPr>
        <p:txBody>
          <a:bodyPr wrap="square" lIns="0" tIns="0" rIns="0" bIns="0" rtlCol="0" anchor="ctr"/>
          <a:lstStyle/>
          <a:p>
            <a:pPr algn="ctr" indent="0" marL="0">
              <a:buNone/>
            </a:pPr>
            <a:r>
              <a:rPr lang="en-US" sz="2000" b="1" dirty="0">
                <a:solidFill>
                  <a:srgbClr val="FFB300"/>
                </a:solidFill>
              </a:rPr>
              <a:t>→</a:t>
            </a:r>
            <a:endParaRPr lang="en-US" sz="2000" dirty="0"/>
          </a:p>
        </p:txBody>
      </p:sp>
      <p:sp>
        <p:nvSpPr>
          <p:cNvPr id="15" name="Shape 13"/>
          <p:cNvSpPr/>
          <p:nvPr/>
        </p:nvSpPr>
        <p:spPr>
          <a:xfrm>
            <a:off x="2514600" y="1005840"/>
            <a:ext cx="1920240" cy="1600200"/>
          </a:xfrm>
          <a:prstGeom prst="roundRect">
            <a:avLst>
              <a:gd name="adj" fmla="val 4571"/>
            </a:avLst>
          </a:prstGeom>
          <a:solidFill>
            <a:srgbClr val="FFFFFF"/>
          </a:solidFill>
          <a:ln w="19050">
            <a:solidFill>
              <a:srgbClr val="00897B"/>
            </a:solidFill>
            <a:prstDash val="solid"/>
          </a:ln>
        </p:spPr>
      </p:sp>
      <p:sp>
        <p:nvSpPr>
          <p:cNvPr id="16" name="Shape 14"/>
          <p:cNvSpPr/>
          <p:nvPr/>
        </p:nvSpPr>
        <p:spPr>
          <a:xfrm>
            <a:off x="2606040" y="1097280"/>
            <a:ext cx="502920" cy="502920"/>
          </a:xfrm>
          <a:prstGeom prst="ellipse">
            <a:avLst/>
          </a:prstGeom>
          <a:solidFill>
            <a:srgbClr val="00897B"/>
          </a:solidFill>
          <a:ln w="12700">
            <a:solidFill>
              <a:srgbClr val="00897B"/>
            </a:solidFill>
            <a:prstDash val="solid"/>
          </a:ln>
        </p:spPr>
      </p:sp>
      <p:sp>
        <p:nvSpPr>
          <p:cNvPr id="17" name="Text 15"/>
          <p:cNvSpPr/>
          <p:nvPr/>
        </p:nvSpPr>
        <p:spPr>
          <a:xfrm>
            <a:off x="2606040" y="10972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2</a:t>
            </a:r>
            <a:endParaRPr lang="en-US" sz="2200" dirty="0"/>
          </a:p>
        </p:txBody>
      </p:sp>
      <p:sp>
        <p:nvSpPr>
          <p:cNvPr id="18" name="Text 16"/>
          <p:cNvSpPr/>
          <p:nvPr/>
        </p:nvSpPr>
        <p:spPr>
          <a:xfrm>
            <a:off x="2514600" y="1097280"/>
            <a:ext cx="1920240" cy="640080"/>
          </a:xfrm>
          <a:prstGeom prst="rect">
            <a:avLst/>
          </a:prstGeom>
          <a:noFill/>
          <a:ln/>
        </p:spPr>
        <p:txBody>
          <a:bodyPr wrap="square" lIns="0" tIns="0" rIns="0" bIns="0" rtlCol="0" anchor="ctr"/>
          <a:lstStyle/>
          <a:p>
            <a:pPr algn="ctr" indent="0" marL="0">
              <a:buNone/>
            </a:pPr>
            <a:r>
              <a:rPr lang="en-US" sz="3200" dirty="0">
                <a:solidFill>
                  <a:srgbClr val="000000"/>
                </a:solidFill>
                <a:latin typeface="Malgun Gothic" pitchFamily="34" charset="0"/>
                <a:ea typeface="Malgun Gothic" pitchFamily="34" charset="-122"/>
                <a:cs typeface="Malgun Gothic" pitchFamily="34" charset="-120"/>
              </a:rPr>
              <a:t>📨</a:t>
            </a:r>
            <a:endParaRPr lang="en-US" sz="3200" dirty="0"/>
          </a:p>
        </p:txBody>
      </p:sp>
      <p:sp>
        <p:nvSpPr>
          <p:cNvPr id="19" name="Text 17"/>
          <p:cNvSpPr/>
          <p:nvPr/>
        </p:nvSpPr>
        <p:spPr>
          <a:xfrm>
            <a:off x="2514600" y="173736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Kafka 도착</a:t>
            </a:r>
            <a:endParaRPr lang="en-US" sz="1200" dirty="0"/>
          </a:p>
        </p:txBody>
      </p:sp>
      <p:sp>
        <p:nvSpPr>
          <p:cNvPr id="20" name="Shape 18"/>
          <p:cNvSpPr/>
          <p:nvPr/>
        </p:nvSpPr>
        <p:spPr>
          <a:xfrm>
            <a:off x="2606040" y="2103120"/>
            <a:ext cx="1737360" cy="457200"/>
          </a:xfrm>
          <a:prstGeom prst="rect">
            <a:avLst/>
          </a:prstGeom>
          <a:solidFill>
            <a:srgbClr val="E3F2FD"/>
          </a:solidFill>
          <a:ln w="6350">
            <a:solidFill>
              <a:srgbClr val="00897B"/>
            </a:solidFill>
            <a:prstDash val="solid"/>
          </a:ln>
        </p:spPr>
      </p:sp>
      <p:sp>
        <p:nvSpPr>
          <p:cNvPr id="21" name="Text 19"/>
          <p:cNvSpPr/>
          <p:nvPr/>
        </p:nvSpPr>
        <p:spPr>
          <a:xfrm>
            <a:off x="2651760" y="2121408"/>
            <a:ext cx="1645920" cy="438912"/>
          </a:xfrm>
          <a:prstGeom prst="rect">
            <a:avLst/>
          </a:prstGeom>
          <a:noFill/>
          <a:ln/>
        </p:spPr>
        <p:txBody>
          <a:bodyPr wrap="square" lIns="0" tIns="0" rIns="0" bIns="0" rtlCol="0" anchor="ctr"/>
          <a:lstStyle/>
          <a:p>
            <a:pPr algn="ctr" indent="0" marL="0">
              <a:buNone/>
            </a:pPr>
            <a:r>
              <a:rPr lang="en-US" sz="850" dirty="0">
                <a:solidFill>
                  <a:srgbClr val="00897B"/>
                </a:solidFill>
                <a:latin typeface="Consolas" pitchFamily="34" charset="0"/>
                <a:ea typeface="Consolas" pitchFamily="34" charset="-122"/>
                <a:cs typeface="Consolas" pitchFamily="34" charset="-120"/>
              </a:rPr>
              <a:t>flight-position</a:t>
            </a:r>
            <a:endParaRPr lang="en-US" sz="850" dirty="0"/>
          </a:p>
          <a:p>
            <a:pPr algn="ctr" indent="0" marL="0">
              <a:buNone/>
            </a:pPr>
            <a:r>
              <a:rPr lang="en-US" sz="850" dirty="0">
                <a:solidFill>
                  <a:srgbClr val="00897B"/>
                </a:solidFill>
                <a:latin typeface="Consolas" pitchFamily="34" charset="0"/>
                <a:ea typeface="Consolas" pitchFamily="34" charset="-122"/>
                <a:cs typeface="Consolas" pitchFamily="34" charset="-120"/>
              </a:rPr>
              <a:t>Avro v2.0</a:t>
            </a:r>
            <a:endParaRPr lang="en-US" sz="850" dirty="0"/>
          </a:p>
        </p:txBody>
      </p:sp>
      <p:sp>
        <p:nvSpPr>
          <p:cNvPr id="22" name="Text 20"/>
          <p:cNvSpPr/>
          <p:nvPr/>
        </p:nvSpPr>
        <p:spPr>
          <a:xfrm>
            <a:off x="4434840" y="1005840"/>
            <a:ext cx="182880" cy="1600200"/>
          </a:xfrm>
          <a:prstGeom prst="rect">
            <a:avLst/>
          </a:prstGeom>
          <a:noFill/>
          <a:ln/>
        </p:spPr>
        <p:txBody>
          <a:bodyPr wrap="square" lIns="0" tIns="0" rIns="0" bIns="0" rtlCol="0" anchor="ctr"/>
          <a:lstStyle/>
          <a:p>
            <a:pPr algn="ctr" indent="0" marL="0">
              <a:buNone/>
            </a:pPr>
            <a:r>
              <a:rPr lang="en-US" sz="2000" b="1" dirty="0">
                <a:solidFill>
                  <a:srgbClr val="FFB300"/>
                </a:solidFill>
              </a:rPr>
              <a:t>→</a:t>
            </a:r>
            <a:endParaRPr lang="en-US" sz="2000" dirty="0"/>
          </a:p>
        </p:txBody>
      </p:sp>
      <p:sp>
        <p:nvSpPr>
          <p:cNvPr id="23" name="Shape 21"/>
          <p:cNvSpPr/>
          <p:nvPr/>
        </p:nvSpPr>
        <p:spPr>
          <a:xfrm>
            <a:off x="4572000" y="1005840"/>
            <a:ext cx="1920240" cy="1600200"/>
          </a:xfrm>
          <a:prstGeom prst="roundRect">
            <a:avLst>
              <a:gd name="adj" fmla="val 4571"/>
            </a:avLst>
          </a:prstGeom>
          <a:solidFill>
            <a:srgbClr val="FFFFFF"/>
          </a:solidFill>
          <a:ln w="19050">
            <a:solidFill>
              <a:srgbClr val="37474F"/>
            </a:solidFill>
            <a:prstDash val="solid"/>
          </a:ln>
        </p:spPr>
      </p:sp>
      <p:sp>
        <p:nvSpPr>
          <p:cNvPr id="24" name="Shape 22"/>
          <p:cNvSpPr/>
          <p:nvPr/>
        </p:nvSpPr>
        <p:spPr>
          <a:xfrm>
            <a:off x="4663440" y="1097280"/>
            <a:ext cx="502920" cy="502920"/>
          </a:xfrm>
          <a:prstGeom prst="ellipse">
            <a:avLst/>
          </a:prstGeom>
          <a:solidFill>
            <a:srgbClr val="37474F"/>
          </a:solidFill>
          <a:ln w="12700">
            <a:solidFill>
              <a:srgbClr val="37474F"/>
            </a:solidFill>
            <a:prstDash val="solid"/>
          </a:ln>
        </p:spPr>
      </p:sp>
      <p:sp>
        <p:nvSpPr>
          <p:cNvPr id="25" name="Text 23"/>
          <p:cNvSpPr/>
          <p:nvPr/>
        </p:nvSpPr>
        <p:spPr>
          <a:xfrm>
            <a:off x="4663440" y="10972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3</a:t>
            </a:r>
            <a:endParaRPr lang="en-US" sz="2200" dirty="0"/>
          </a:p>
        </p:txBody>
      </p:sp>
      <p:sp>
        <p:nvSpPr>
          <p:cNvPr id="26" name="Text 24"/>
          <p:cNvSpPr/>
          <p:nvPr/>
        </p:nvSpPr>
        <p:spPr>
          <a:xfrm>
            <a:off x="4572000" y="1097280"/>
            <a:ext cx="1920240" cy="640080"/>
          </a:xfrm>
          <a:prstGeom prst="rect">
            <a:avLst/>
          </a:prstGeom>
          <a:noFill/>
          <a:ln/>
        </p:spPr>
        <p:txBody>
          <a:bodyPr wrap="square" lIns="0" tIns="0" rIns="0" bIns="0" rtlCol="0" anchor="ctr"/>
          <a:lstStyle/>
          <a:p>
            <a:pPr algn="ctr" indent="0" marL="0">
              <a:buNone/>
            </a:pPr>
            <a:r>
              <a:rPr lang="en-US" sz="3200" dirty="0">
                <a:solidFill>
                  <a:srgbClr val="000000"/>
                </a:solidFill>
                <a:latin typeface="Malgun Gothic" pitchFamily="34" charset="0"/>
                <a:ea typeface="Malgun Gothic" pitchFamily="34" charset="-122"/>
                <a:cs typeface="Malgun Gothic" pitchFamily="34" charset="-120"/>
              </a:rPr>
              <a:t>🧊</a:t>
            </a:r>
            <a:endParaRPr lang="en-US" sz="3200" dirty="0"/>
          </a:p>
        </p:txBody>
      </p:sp>
      <p:sp>
        <p:nvSpPr>
          <p:cNvPr id="27" name="Text 25"/>
          <p:cNvSpPr/>
          <p:nvPr/>
        </p:nvSpPr>
        <p:spPr>
          <a:xfrm>
            <a:off x="4572000" y="173736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Iceberg Silver</a:t>
            </a:r>
            <a:endParaRPr lang="en-US" sz="1200" dirty="0"/>
          </a:p>
        </p:txBody>
      </p:sp>
      <p:sp>
        <p:nvSpPr>
          <p:cNvPr id="28" name="Shape 26"/>
          <p:cNvSpPr/>
          <p:nvPr/>
        </p:nvSpPr>
        <p:spPr>
          <a:xfrm>
            <a:off x="4663440" y="2103120"/>
            <a:ext cx="1737360" cy="457200"/>
          </a:xfrm>
          <a:prstGeom prst="rect">
            <a:avLst/>
          </a:prstGeom>
          <a:solidFill>
            <a:srgbClr val="E3F2FD"/>
          </a:solidFill>
          <a:ln w="6350">
            <a:solidFill>
              <a:srgbClr val="37474F"/>
            </a:solidFill>
            <a:prstDash val="solid"/>
          </a:ln>
        </p:spPr>
      </p:sp>
      <p:sp>
        <p:nvSpPr>
          <p:cNvPr id="29" name="Text 27"/>
          <p:cNvSpPr/>
          <p:nvPr/>
        </p:nvSpPr>
        <p:spPr>
          <a:xfrm>
            <a:off x="4709160" y="2121408"/>
            <a:ext cx="1645920" cy="438912"/>
          </a:xfrm>
          <a:prstGeom prst="rect">
            <a:avLst/>
          </a:prstGeom>
          <a:noFill/>
          <a:ln/>
        </p:spPr>
        <p:txBody>
          <a:bodyPr wrap="square" lIns="0" tIns="0" rIns="0" bIns="0" rtlCol="0" anchor="ctr"/>
          <a:lstStyle/>
          <a:p>
            <a:pPr algn="ctr" indent="0" marL="0">
              <a:buNone/>
            </a:pPr>
            <a:r>
              <a:rPr lang="en-US" sz="850" dirty="0">
                <a:solidFill>
                  <a:srgbClr val="37474F"/>
                </a:solidFill>
                <a:latin typeface="Consolas" pitchFamily="34" charset="0"/>
                <a:ea typeface="Consolas" pitchFamily="34" charset="-122"/>
                <a:cs typeface="Consolas" pitchFamily="34" charset="-120"/>
              </a:rPr>
              <a:t>flight_features</a:t>
            </a:r>
            <a:endParaRPr lang="en-US" sz="850" dirty="0"/>
          </a:p>
          <a:p>
            <a:pPr algn="ctr" indent="0" marL="0">
              <a:buNone/>
            </a:pPr>
            <a:r>
              <a:rPr lang="en-US" sz="850" dirty="0">
                <a:solidFill>
                  <a:srgbClr val="37474F"/>
                </a:solidFill>
                <a:latin typeface="Consolas" pitchFamily="34" charset="0"/>
                <a:ea typeface="Consolas" pitchFamily="34" charset="-122"/>
                <a:cs typeface="Consolas" pitchFamily="34" charset="-120"/>
              </a:rPr>
              <a:t>25 cols</a:t>
            </a:r>
            <a:endParaRPr lang="en-US" sz="850" dirty="0"/>
          </a:p>
        </p:txBody>
      </p:sp>
      <p:sp>
        <p:nvSpPr>
          <p:cNvPr id="30" name="Text 28"/>
          <p:cNvSpPr/>
          <p:nvPr/>
        </p:nvSpPr>
        <p:spPr>
          <a:xfrm>
            <a:off x="6492240" y="1005840"/>
            <a:ext cx="182880" cy="1600200"/>
          </a:xfrm>
          <a:prstGeom prst="rect">
            <a:avLst/>
          </a:prstGeom>
          <a:noFill/>
          <a:ln/>
        </p:spPr>
        <p:txBody>
          <a:bodyPr wrap="square" lIns="0" tIns="0" rIns="0" bIns="0" rtlCol="0" anchor="ctr"/>
          <a:lstStyle/>
          <a:p>
            <a:pPr algn="ctr" indent="0" marL="0">
              <a:buNone/>
            </a:pPr>
            <a:r>
              <a:rPr lang="en-US" sz="2000" b="1" dirty="0">
                <a:solidFill>
                  <a:srgbClr val="FFB300"/>
                </a:solidFill>
              </a:rPr>
              <a:t>→</a:t>
            </a:r>
            <a:endParaRPr lang="en-US" sz="2000" dirty="0"/>
          </a:p>
        </p:txBody>
      </p:sp>
      <p:sp>
        <p:nvSpPr>
          <p:cNvPr id="31" name="Shape 29"/>
          <p:cNvSpPr/>
          <p:nvPr/>
        </p:nvSpPr>
        <p:spPr>
          <a:xfrm>
            <a:off x="6629400" y="1005840"/>
            <a:ext cx="1920240" cy="1600200"/>
          </a:xfrm>
          <a:prstGeom prst="roundRect">
            <a:avLst>
              <a:gd name="adj" fmla="val 4571"/>
            </a:avLst>
          </a:prstGeom>
          <a:solidFill>
            <a:srgbClr val="FFFFFF"/>
          </a:solidFill>
          <a:ln w="19050">
            <a:solidFill>
              <a:srgbClr val="FFB300"/>
            </a:solidFill>
            <a:prstDash val="solid"/>
          </a:ln>
        </p:spPr>
      </p:sp>
      <p:sp>
        <p:nvSpPr>
          <p:cNvPr id="32" name="Shape 30"/>
          <p:cNvSpPr/>
          <p:nvPr/>
        </p:nvSpPr>
        <p:spPr>
          <a:xfrm>
            <a:off x="6720840" y="1097280"/>
            <a:ext cx="502920" cy="502920"/>
          </a:xfrm>
          <a:prstGeom prst="ellipse">
            <a:avLst/>
          </a:prstGeom>
          <a:solidFill>
            <a:srgbClr val="FFB300"/>
          </a:solidFill>
          <a:ln w="12700">
            <a:solidFill>
              <a:srgbClr val="FFB300"/>
            </a:solidFill>
            <a:prstDash val="solid"/>
          </a:ln>
        </p:spPr>
      </p:sp>
      <p:sp>
        <p:nvSpPr>
          <p:cNvPr id="33" name="Text 31"/>
          <p:cNvSpPr/>
          <p:nvPr/>
        </p:nvSpPr>
        <p:spPr>
          <a:xfrm>
            <a:off x="6720840" y="10972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4</a:t>
            </a:r>
            <a:endParaRPr lang="en-US" sz="2200" dirty="0"/>
          </a:p>
        </p:txBody>
      </p:sp>
      <p:sp>
        <p:nvSpPr>
          <p:cNvPr id="34" name="Text 32"/>
          <p:cNvSpPr/>
          <p:nvPr/>
        </p:nvSpPr>
        <p:spPr>
          <a:xfrm>
            <a:off x="6629400" y="1097280"/>
            <a:ext cx="1920240" cy="640080"/>
          </a:xfrm>
          <a:prstGeom prst="rect">
            <a:avLst/>
          </a:prstGeom>
          <a:noFill/>
          <a:ln/>
        </p:spPr>
        <p:txBody>
          <a:bodyPr wrap="square" lIns="0" tIns="0" rIns="0" bIns="0" rtlCol="0" anchor="ctr"/>
          <a:lstStyle/>
          <a:p>
            <a:pPr algn="ctr" indent="0" marL="0">
              <a:buNone/>
            </a:pPr>
            <a:r>
              <a:rPr lang="en-US" sz="3200" dirty="0">
                <a:solidFill>
                  <a:srgbClr val="000000"/>
                </a:solidFill>
                <a:latin typeface="Malgun Gothic" pitchFamily="34" charset="0"/>
                <a:ea typeface="Malgun Gothic" pitchFamily="34" charset="-122"/>
                <a:cs typeface="Malgun Gothic" pitchFamily="34" charset="-120"/>
              </a:rPr>
              <a:t>🌳</a:t>
            </a:r>
            <a:endParaRPr lang="en-US" sz="3200" dirty="0"/>
          </a:p>
        </p:txBody>
      </p:sp>
      <p:sp>
        <p:nvSpPr>
          <p:cNvPr id="35" name="Text 33"/>
          <p:cNvSpPr/>
          <p:nvPr/>
        </p:nvSpPr>
        <p:spPr>
          <a:xfrm>
            <a:off x="6629400" y="173736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XGBoost 예측</a:t>
            </a:r>
            <a:endParaRPr lang="en-US" sz="1200" dirty="0"/>
          </a:p>
        </p:txBody>
      </p:sp>
      <p:sp>
        <p:nvSpPr>
          <p:cNvPr id="36" name="Shape 34"/>
          <p:cNvSpPr/>
          <p:nvPr/>
        </p:nvSpPr>
        <p:spPr>
          <a:xfrm>
            <a:off x="6720840" y="2103120"/>
            <a:ext cx="1737360" cy="457200"/>
          </a:xfrm>
          <a:prstGeom prst="rect">
            <a:avLst/>
          </a:prstGeom>
          <a:solidFill>
            <a:srgbClr val="E3F2FD"/>
          </a:solidFill>
          <a:ln w="6350">
            <a:solidFill>
              <a:srgbClr val="FFB300"/>
            </a:solidFill>
            <a:prstDash val="solid"/>
          </a:ln>
        </p:spPr>
      </p:sp>
      <p:sp>
        <p:nvSpPr>
          <p:cNvPr id="37" name="Text 35"/>
          <p:cNvSpPr/>
          <p:nvPr/>
        </p:nvSpPr>
        <p:spPr>
          <a:xfrm>
            <a:off x="6766560" y="2121408"/>
            <a:ext cx="1645920" cy="438912"/>
          </a:xfrm>
          <a:prstGeom prst="rect">
            <a:avLst/>
          </a:prstGeom>
          <a:noFill/>
          <a:ln/>
        </p:spPr>
        <p:txBody>
          <a:bodyPr wrap="square" lIns="0" tIns="0" rIns="0" bIns="0" rtlCol="0" anchor="ctr"/>
          <a:lstStyle/>
          <a:p>
            <a:pPr algn="ctr" indent="0" marL="0">
              <a:buNone/>
            </a:pPr>
            <a:r>
              <a:rPr lang="en-US" sz="850" dirty="0">
                <a:solidFill>
                  <a:srgbClr val="FFB300"/>
                </a:solidFill>
                <a:latin typeface="Consolas" pitchFamily="34" charset="0"/>
                <a:ea typeface="Consolas" pitchFamily="34" charset="-122"/>
                <a:cs typeface="Consolas" pitchFamily="34" charset="-120"/>
              </a:rPr>
              <a:t>delay = 20 min</a:t>
            </a:r>
            <a:endParaRPr lang="en-US" sz="850" dirty="0"/>
          </a:p>
          <a:p>
            <a:pPr algn="ctr" indent="0" marL="0">
              <a:buNone/>
            </a:pPr>
            <a:r>
              <a:rPr lang="en-US" sz="850" dirty="0">
                <a:solidFill>
                  <a:srgbClr val="FFB300"/>
                </a:solidFill>
                <a:latin typeface="Consolas" pitchFamily="34" charset="0"/>
                <a:ea typeface="Consolas" pitchFamily="34" charset="-122"/>
                <a:cs typeface="Consolas" pitchFamily="34" charset="-120"/>
              </a:rPr>
              <a:t>R² 0.43</a:t>
            </a:r>
            <a:endParaRPr lang="en-US" sz="850" dirty="0"/>
          </a:p>
        </p:txBody>
      </p:sp>
      <p:sp>
        <p:nvSpPr>
          <p:cNvPr id="38" name="Shape 36"/>
          <p:cNvSpPr/>
          <p:nvPr/>
        </p:nvSpPr>
        <p:spPr>
          <a:xfrm>
            <a:off x="457200" y="2788920"/>
            <a:ext cx="1920240" cy="1600200"/>
          </a:xfrm>
          <a:prstGeom prst="roundRect">
            <a:avLst>
              <a:gd name="adj" fmla="val 4571"/>
            </a:avLst>
          </a:prstGeom>
          <a:solidFill>
            <a:srgbClr val="FFFFFF"/>
          </a:solidFill>
          <a:ln w="19050">
            <a:solidFill>
              <a:srgbClr val="43A047"/>
            </a:solidFill>
            <a:prstDash val="solid"/>
          </a:ln>
        </p:spPr>
      </p:sp>
      <p:sp>
        <p:nvSpPr>
          <p:cNvPr id="39" name="Shape 37"/>
          <p:cNvSpPr/>
          <p:nvPr/>
        </p:nvSpPr>
        <p:spPr>
          <a:xfrm>
            <a:off x="548640" y="2880360"/>
            <a:ext cx="502920" cy="502920"/>
          </a:xfrm>
          <a:prstGeom prst="ellipse">
            <a:avLst/>
          </a:prstGeom>
          <a:solidFill>
            <a:srgbClr val="43A047"/>
          </a:solidFill>
          <a:ln w="12700">
            <a:solidFill>
              <a:srgbClr val="43A047"/>
            </a:solidFill>
            <a:prstDash val="solid"/>
          </a:ln>
        </p:spPr>
      </p:sp>
      <p:sp>
        <p:nvSpPr>
          <p:cNvPr id="40" name="Text 38"/>
          <p:cNvSpPr/>
          <p:nvPr/>
        </p:nvSpPr>
        <p:spPr>
          <a:xfrm>
            <a:off x="548640" y="28803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5</a:t>
            </a:r>
            <a:endParaRPr lang="en-US" sz="2200" dirty="0"/>
          </a:p>
        </p:txBody>
      </p:sp>
      <p:sp>
        <p:nvSpPr>
          <p:cNvPr id="41" name="Text 39"/>
          <p:cNvSpPr/>
          <p:nvPr/>
        </p:nvSpPr>
        <p:spPr>
          <a:xfrm>
            <a:off x="457200" y="2880360"/>
            <a:ext cx="1920240" cy="640080"/>
          </a:xfrm>
          <a:prstGeom prst="rect">
            <a:avLst/>
          </a:prstGeom>
          <a:noFill/>
          <a:ln/>
        </p:spPr>
        <p:txBody>
          <a:bodyPr wrap="square" lIns="0" tIns="0" rIns="0" bIns="0" rtlCol="0" anchor="ctr"/>
          <a:lstStyle/>
          <a:p>
            <a:pPr algn="ctr" indent="0" marL="0">
              <a:buNone/>
            </a:pPr>
            <a:r>
              <a:rPr lang="en-US" sz="3200" dirty="0">
                <a:solidFill>
                  <a:srgbClr val="000000"/>
                </a:solidFill>
                <a:latin typeface="Malgun Gothic" pitchFamily="34" charset="0"/>
                <a:ea typeface="Malgun Gothic" pitchFamily="34" charset="-122"/>
                <a:cs typeface="Malgun Gothic" pitchFamily="34" charset="-120"/>
              </a:rPr>
              <a:t>🎯</a:t>
            </a:r>
            <a:endParaRPr lang="en-US" sz="3200" dirty="0"/>
          </a:p>
        </p:txBody>
      </p:sp>
      <p:sp>
        <p:nvSpPr>
          <p:cNvPr id="42" name="Text 40"/>
          <p:cNvSpPr/>
          <p:nvPr/>
        </p:nvSpPr>
        <p:spPr>
          <a:xfrm>
            <a:off x="457200" y="352044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Conformal 구간</a:t>
            </a:r>
            <a:endParaRPr lang="en-US" sz="1200" dirty="0"/>
          </a:p>
        </p:txBody>
      </p:sp>
      <p:sp>
        <p:nvSpPr>
          <p:cNvPr id="43" name="Shape 41"/>
          <p:cNvSpPr/>
          <p:nvPr/>
        </p:nvSpPr>
        <p:spPr>
          <a:xfrm>
            <a:off x="548640" y="3886200"/>
            <a:ext cx="1737360" cy="457200"/>
          </a:xfrm>
          <a:prstGeom prst="rect">
            <a:avLst/>
          </a:prstGeom>
          <a:solidFill>
            <a:srgbClr val="E3F2FD"/>
          </a:solidFill>
          <a:ln w="6350">
            <a:solidFill>
              <a:srgbClr val="43A047"/>
            </a:solidFill>
            <a:prstDash val="solid"/>
          </a:ln>
        </p:spPr>
      </p:sp>
      <p:sp>
        <p:nvSpPr>
          <p:cNvPr id="44" name="Text 42"/>
          <p:cNvSpPr/>
          <p:nvPr/>
        </p:nvSpPr>
        <p:spPr>
          <a:xfrm>
            <a:off x="594360" y="3904488"/>
            <a:ext cx="1645920" cy="438912"/>
          </a:xfrm>
          <a:prstGeom prst="rect">
            <a:avLst/>
          </a:prstGeom>
          <a:noFill/>
          <a:ln/>
        </p:spPr>
        <p:txBody>
          <a:bodyPr wrap="square" lIns="0" tIns="0" rIns="0" bIns="0" rtlCol="0" anchor="ctr"/>
          <a:lstStyle/>
          <a:p>
            <a:pPr algn="ctr" indent="0" marL="0">
              <a:buNone/>
            </a:pPr>
            <a:r>
              <a:rPr lang="en-US" sz="850" dirty="0">
                <a:solidFill>
                  <a:srgbClr val="43A047"/>
                </a:solidFill>
                <a:latin typeface="Consolas" pitchFamily="34" charset="0"/>
                <a:ea typeface="Consolas" pitchFamily="34" charset="-122"/>
                <a:cs typeface="Consolas" pitchFamily="34" charset="-120"/>
              </a:rPr>
              <a:t>[12, 40] min</a:t>
            </a:r>
            <a:endParaRPr lang="en-US" sz="850" dirty="0"/>
          </a:p>
          <a:p>
            <a:pPr algn="ctr" indent="0" marL="0">
              <a:buNone/>
            </a:pPr>
            <a:r>
              <a:rPr lang="en-US" sz="850" dirty="0">
                <a:solidFill>
                  <a:srgbClr val="43A047"/>
                </a:solidFill>
                <a:latin typeface="Consolas" pitchFamily="34" charset="0"/>
                <a:ea typeface="Consolas" pitchFamily="34" charset="-122"/>
                <a:cs typeface="Consolas" pitchFamily="34" charset="-120"/>
              </a:rPr>
              <a:t>90% conf</a:t>
            </a:r>
            <a:endParaRPr lang="en-US" sz="850" dirty="0"/>
          </a:p>
        </p:txBody>
      </p:sp>
      <p:sp>
        <p:nvSpPr>
          <p:cNvPr id="45" name="Text 43"/>
          <p:cNvSpPr/>
          <p:nvPr/>
        </p:nvSpPr>
        <p:spPr>
          <a:xfrm>
            <a:off x="2377440" y="2788920"/>
            <a:ext cx="182880" cy="1600200"/>
          </a:xfrm>
          <a:prstGeom prst="rect">
            <a:avLst/>
          </a:prstGeom>
          <a:noFill/>
          <a:ln/>
        </p:spPr>
        <p:txBody>
          <a:bodyPr wrap="square" lIns="0" tIns="0" rIns="0" bIns="0" rtlCol="0" anchor="ctr"/>
          <a:lstStyle/>
          <a:p>
            <a:pPr algn="ctr" indent="0" marL="0">
              <a:buNone/>
            </a:pPr>
            <a:r>
              <a:rPr lang="en-US" sz="2000" b="1" dirty="0">
                <a:solidFill>
                  <a:srgbClr val="FFB300"/>
                </a:solidFill>
              </a:rPr>
              <a:t>→</a:t>
            </a:r>
            <a:endParaRPr lang="en-US" sz="2000" dirty="0"/>
          </a:p>
        </p:txBody>
      </p:sp>
      <p:sp>
        <p:nvSpPr>
          <p:cNvPr id="46" name="Shape 44"/>
          <p:cNvSpPr/>
          <p:nvPr/>
        </p:nvSpPr>
        <p:spPr>
          <a:xfrm>
            <a:off x="2514600" y="2788920"/>
            <a:ext cx="1920240" cy="1600200"/>
          </a:xfrm>
          <a:prstGeom prst="roundRect">
            <a:avLst>
              <a:gd name="adj" fmla="val 4571"/>
            </a:avLst>
          </a:prstGeom>
          <a:solidFill>
            <a:srgbClr val="FFFFFF"/>
          </a:solidFill>
          <a:ln w="19050">
            <a:solidFill>
              <a:srgbClr val="8E24AA"/>
            </a:solidFill>
            <a:prstDash val="solid"/>
          </a:ln>
        </p:spPr>
      </p:sp>
      <p:sp>
        <p:nvSpPr>
          <p:cNvPr id="47" name="Shape 45"/>
          <p:cNvSpPr/>
          <p:nvPr/>
        </p:nvSpPr>
        <p:spPr>
          <a:xfrm>
            <a:off x="2606040" y="2880360"/>
            <a:ext cx="502920" cy="502920"/>
          </a:xfrm>
          <a:prstGeom prst="ellipse">
            <a:avLst/>
          </a:prstGeom>
          <a:solidFill>
            <a:srgbClr val="8E24AA"/>
          </a:solidFill>
          <a:ln w="12700">
            <a:solidFill>
              <a:srgbClr val="8E24AA"/>
            </a:solidFill>
            <a:prstDash val="solid"/>
          </a:ln>
        </p:spPr>
      </p:sp>
      <p:sp>
        <p:nvSpPr>
          <p:cNvPr id="48" name="Text 46"/>
          <p:cNvSpPr/>
          <p:nvPr/>
        </p:nvSpPr>
        <p:spPr>
          <a:xfrm>
            <a:off x="2606040" y="28803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6</a:t>
            </a:r>
            <a:endParaRPr lang="en-US" sz="2200" dirty="0"/>
          </a:p>
        </p:txBody>
      </p:sp>
      <p:sp>
        <p:nvSpPr>
          <p:cNvPr id="49" name="Text 47"/>
          <p:cNvSpPr/>
          <p:nvPr/>
        </p:nvSpPr>
        <p:spPr>
          <a:xfrm>
            <a:off x="2514600" y="2880360"/>
            <a:ext cx="1920240" cy="640080"/>
          </a:xfrm>
          <a:prstGeom prst="rect">
            <a:avLst/>
          </a:prstGeom>
          <a:noFill/>
          <a:ln/>
        </p:spPr>
        <p:txBody>
          <a:bodyPr wrap="square" lIns="0" tIns="0" rIns="0" bIns="0" rtlCol="0" anchor="ctr"/>
          <a:lstStyle/>
          <a:p>
            <a:pPr algn="ctr" indent="0" marL="0">
              <a:buNone/>
            </a:pPr>
            <a:r>
              <a:rPr lang="en-US" sz="3200" dirty="0">
                <a:solidFill>
                  <a:srgbClr val="000000"/>
                </a:solidFill>
                <a:latin typeface="Malgun Gothic" pitchFamily="34" charset="0"/>
                <a:ea typeface="Malgun Gothic" pitchFamily="34" charset="-122"/>
                <a:cs typeface="Malgun Gothic" pitchFamily="34" charset="-120"/>
              </a:rPr>
              <a:t>🤖</a:t>
            </a:r>
            <a:endParaRPr lang="en-US" sz="3200" dirty="0"/>
          </a:p>
        </p:txBody>
      </p:sp>
      <p:sp>
        <p:nvSpPr>
          <p:cNvPr id="50" name="Text 48"/>
          <p:cNvSpPr/>
          <p:nvPr/>
        </p:nvSpPr>
        <p:spPr>
          <a:xfrm>
            <a:off x="2514600" y="352044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RAG + LLM 조언</a:t>
            </a:r>
            <a:endParaRPr lang="en-US" sz="1200" dirty="0"/>
          </a:p>
        </p:txBody>
      </p:sp>
      <p:sp>
        <p:nvSpPr>
          <p:cNvPr id="51" name="Shape 49"/>
          <p:cNvSpPr/>
          <p:nvPr/>
        </p:nvSpPr>
        <p:spPr>
          <a:xfrm>
            <a:off x="2606040" y="3886200"/>
            <a:ext cx="1737360" cy="457200"/>
          </a:xfrm>
          <a:prstGeom prst="rect">
            <a:avLst/>
          </a:prstGeom>
          <a:solidFill>
            <a:srgbClr val="E3F2FD"/>
          </a:solidFill>
          <a:ln w="6350">
            <a:solidFill>
              <a:srgbClr val="8E24AA"/>
            </a:solidFill>
            <a:prstDash val="solid"/>
          </a:ln>
        </p:spPr>
      </p:sp>
      <p:sp>
        <p:nvSpPr>
          <p:cNvPr id="52" name="Text 50"/>
          <p:cNvSpPr/>
          <p:nvPr/>
        </p:nvSpPr>
        <p:spPr>
          <a:xfrm>
            <a:off x="2651760" y="3904488"/>
            <a:ext cx="1645920" cy="438912"/>
          </a:xfrm>
          <a:prstGeom prst="rect">
            <a:avLst/>
          </a:prstGeom>
          <a:noFill/>
          <a:ln/>
        </p:spPr>
        <p:txBody>
          <a:bodyPr wrap="square" lIns="0" tIns="0" rIns="0" bIns="0" rtlCol="0" anchor="ctr"/>
          <a:lstStyle/>
          <a:p>
            <a:pPr algn="ctr" indent="0" marL="0">
              <a:buNone/>
            </a:pPr>
            <a:r>
              <a:rPr lang="en-US" sz="850" dirty="0">
                <a:solidFill>
                  <a:srgbClr val="8E24AA"/>
                </a:solidFill>
                <a:latin typeface="Consolas" pitchFamily="34" charset="0"/>
                <a:ea typeface="Consolas" pitchFamily="34" charset="-122"/>
                <a:cs typeface="Consolas" pitchFamily="34" charset="-120"/>
              </a:rPr>
              <a:t>"승객 안내 준비</a:t>
            </a:r>
            <a:endParaRPr lang="en-US" sz="850" dirty="0"/>
          </a:p>
          <a:p>
            <a:pPr algn="ctr" indent="0" marL="0">
              <a:buNone/>
            </a:pPr>
            <a:r>
              <a:rPr lang="en-US" sz="850" dirty="0">
                <a:solidFill>
                  <a:srgbClr val="8E24AA"/>
                </a:solidFill>
                <a:latin typeface="Consolas" pitchFamily="34" charset="0"/>
                <a:ea typeface="Consolas" pitchFamily="34" charset="-122"/>
                <a:cs typeface="Consolas" pitchFamily="34" charset="-120"/>
              </a:rPr>
              <a:t>FAA AIM 7-1"</a:t>
            </a:r>
            <a:endParaRPr lang="en-US" sz="850" dirty="0"/>
          </a:p>
        </p:txBody>
      </p:sp>
      <p:sp>
        <p:nvSpPr>
          <p:cNvPr id="53" name="Text 51"/>
          <p:cNvSpPr/>
          <p:nvPr/>
        </p:nvSpPr>
        <p:spPr>
          <a:xfrm>
            <a:off x="4434840" y="2788920"/>
            <a:ext cx="182880" cy="1600200"/>
          </a:xfrm>
          <a:prstGeom prst="rect">
            <a:avLst/>
          </a:prstGeom>
          <a:noFill/>
          <a:ln/>
        </p:spPr>
        <p:txBody>
          <a:bodyPr wrap="square" lIns="0" tIns="0" rIns="0" bIns="0" rtlCol="0" anchor="ctr"/>
          <a:lstStyle/>
          <a:p>
            <a:pPr algn="ctr" indent="0" marL="0">
              <a:buNone/>
            </a:pPr>
            <a:r>
              <a:rPr lang="en-US" sz="2000" b="1" dirty="0">
                <a:solidFill>
                  <a:srgbClr val="FFB300"/>
                </a:solidFill>
              </a:rPr>
              <a:t>→</a:t>
            </a:r>
            <a:endParaRPr lang="en-US" sz="2000" dirty="0"/>
          </a:p>
        </p:txBody>
      </p:sp>
      <p:sp>
        <p:nvSpPr>
          <p:cNvPr id="54" name="Shape 52"/>
          <p:cNvSpPr/>
          <p:nvPr/>
        </p:nvSpPr>
        <p:spPr>
          <a:xfrm>
            <a:off x="4572000" y="2788920"/>
            <a:ext cx="1920240" cy="1600200"/>
          </a:xfrm>
          <a:prstGeom prst="roundRect">
            <a:avLst>
              <a:gd name="adj" fmla="val 4571"/>
            </a:avLst>
          </a:prstGeom>
          <a:solidFill>
            <a:srgbClr val="FFFFFF"/>
          </a:solidFill>
          <a:ln w="19050">
            <a:solidFill>
              <a:srgbClr val="EF5350"/>
            </a:solidFill>
            <a:prstDash val="solid"/>
          </a:ln>
        </p:spPr>
      </p:sp>
      <p:sp>
        <p:nvSpPr>
          <p:cNvPr id="55" name="Shape 53"/>
          <p:cNvSpPr/>
          <p:nvPr/>
        </p:nvSpPr>
        <p:spPr>
          <a:xfrm>
            <a:off x="4663440" y="2880360"/>
            <a:ext cx="502920" cy="502920"/>
          </a:xfrm>
          <a:prstGeom prst="ellipse">
            <a:avLst/>
          </a:prstGeom>
          <a:solidFill>
            <a:srgbClr val="EF5350"/>
          </a:solidFill>
          <a:ln w="12700">
            <a:solidFill>
              <a:srgbClr val="EF5350"/>
            </a:solidFill>
            <a:prstDash val="solid"/>
          </a:ln>
        </p:spPr>
      </p:sp>
      <p:sp>
        <p:nvSpPr>
          <p:cNvPr id="56" name="Text 54"/>
          <p:cNvSpPr/>
          <p:nvPr/>
        </p:nvSpPr>
        <p:spPr>
          <a:xfrm>
            <a:off x="4663440" y="28803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7</a:t>
            </a:r>
            <a:endParaRPr lang="en-US" sz="2200" dirty="0"/>
          </a:p>
        </p:txBody>
      </p:sp>
      <p:sp>
        <p:nvSpPr>
          <p:cNvPr id="57" name="Text 55"/>
          <p:cNvSpPr/>
          <p:nvPr/>
        </p:nvSpPr>
        <p:spPr>
          <a:xfrm>
            <a:off x="4572000" y="2880360"/>
            <a:ext cx="1920240" cy="640080"/>
          </a:xfrm>
          <a:prstGeom prst="rect">
            <a:avLst/>
          </a:prstGeom>
          <a:noFill/>
          <a:ln/>
        </p:spPr>
        <p:txBody>
          <a:bodyPr wrap="square" lIns="0" tIns="0" rIns="0" bIns="0" rtlCol="0" anchor="ctr"/>
          <a:lstStyle/>
          <a:p>
            <a:pPr algn="ctr" indent="0" marL="0">
              <a:buNone/>
            </a:pPr>
            <a:r>
              <a:rPr lang="en-US" sz="3200" dirty="0">
                <a:solidFill>
                  <a:srgbClr val="000000"/>
                </a:solidFill>
                <a:latin typeface="Malgun Gothic" pitchFamily="34" charset="0"/>
                <a:ea typeface="Malgun Gothic" pitchFamily="34" charset="-122"/>
                <a:cs typeface="Malgun Gothic" pitchFamily="34" charset="-120"/>
              </a:rPr>
              <a:t>🖥</a:t>
            </a:r>
            <a:endParaRPr lang="en-US" sz="3200" dirty="0"/>
          </a:p>
        </p:txBody>
      </p:sp>
      <p:sp>
        <p:nvSpPr>
          <p:cNvPr id="58" name="Text 56"/>
          <p:cNvSpPr/>
          <p:nvPr/>
        </p:nvSpPr>
        <p:spPr>
          <a:xfrm>
            <a:off x="4572000" y="3520440"/>
            <a:ext cx="1920240" cy="320040"/>
          </a:xfrm>
          <a:prstGeom prst="rect">
            <a:avLst/>
          </a:prstGeom>
          <a:noFill/>
          <a:ln/>
        </p:spPr>
        <p:txBody>
          <a:bodyPr wrap="square" lIns="0" tIns="0" rIns="0" bIns="0" rtlCol="0" anchor="ctr"/>
          <a:lstStyle/>
          <a:p>
            <a:pPr algn="ctr" indent="0" marL="0">
              <a:buNone/>
            </a:pPr>
            <a:r>
              <a:rPr lang="en-US" sz="1200" b="1" dirty="0">
                <a:solidFill>
                  <a:srgbClr val="0B1F3A"/>
                </a:solidFill>
                <a:latin typeface="Malgun Gothic" pitchFamily="34" charset="0"/>
                <a:ea typeface="Malgun Gothic" pitchFamily="34" charset="-122"/>
                <a:cs typeface="Malgun Gothic" pitchFamily="34" charset="-120"/>
              </a:rPr>
              <a:t>관제사 대시보드</a:t>
            </a:r>
            <a:endParaRPr lang="en-US" sz="1200" dirty="0"/>
          </a:p>
        </p:txBody>
      </p:sp>
      <p:sp>
        <p:nvSpPr>
          <p:cNvPr id="59" name="Shape 57"/>
          <p:cNvSpPr/>
          <p:nvPr/>
        </p:nvSpPr>
        <p:spPr>
          <a:xfrm>
            <a:off x="4663440" y="3886200"/>
            <a:ext cx="1737360" cy="457200"/>
          </a:xfrm>
          <a:prstGeom prst="rect">
            <a:avLst/>
          </a:prstGeom>
          <a:solidFill>
            <a:srgbClr val="E3F2FD"/>
          </a:solidFill>
          <a:ln w="6350">
            <a:solidFill>
              <a:srgbClr val="EF5350"/>
            </a:solidFill>
            <a:prstDash val="solid"/>
          </a:ln>
        </p:spPr>
      </p:sp>
      <p:sp>
        <p:nvSpPr>
          <p:cNvPr id="60" name="Text 58"/>
          <p:cNvSpPr/>
          <p:nvPr/>
        </p:nvSpPr>
        <p:spPr>
          <a:xfrm>
            <a:off x="4709160" y="3904488"/>
            <a:ext cx="1645920" cy="438912"/>
          </a:xfrm>
          <a:prstGeom prst="rect">
            <a:avLst/>
          </a:prstGeom>
          <a:noFill/>
          <a:ln/>
        </p:spPr>
        <p:txBody>
          <a:bodyPr wrap="square" lIns="0" tIns="0" rIns="0" bIns="0" rtlCol="0" anchor="ctr"/>
          <a:lstStyle/>
          <a:p>
            <a:pPr algn="ctr" indent="0" marL="0">
              <a:buNone/>
            </a:pPr>
            <a:r>
              <a:rPr lang="en-US" sz="850" dirty="0">
                <a:solidFill>
                  <a:srgbClr val="EF5350"/>
                </a:solidFill>
                <a:latin typeface="Consolas" pitchFamily="34" charset="0"/>
                <a:ea typeface="Consolas" pitchFamily="34" charset="-122"/>
                <a:cs typeface="Consolas" pitchFamily="34" charset="-120"/>
              </a:rPr>
              <a:t>&lt;5s 전체 지연</a:t>
            </a:r>
            <a:endParaRPr lang="en-US" sz="850" dirty="0"/>
          </a:p>
          <a:p>
            <a:pPr algn="ctr" indent="0" marL="0">
              <a:buNone/>
            </a:pPr>
            <a:r>
              <a:rPr lang="en-US" sz="850" dirty="0">
                <a:solidFill>
                  <a:srgbClr val="EF5350"/>
                </a:solidFill>
                <a:latin typeface="Consolas" pitchFamily="34" charset="0"/>
                <a:ea typeface="Consolas" pitchFamily="34" charset="-122"/>
                <a:cs typeface="Consolas" pitchFamily="34" charset="-120"/>
              </a:rPr>
              <a:t>&lt;42ms 서빙</a:t>
            </a:r>
            <a:endParaRPr lang="en-US" sz="850" dirty="0"/>
          </a:p>
        </p:txBody>
      </p:sp>
      <p:sp>
        <p:nvSpPr>
          <p:cNvPr id="61" name="Shape 59"/>
          <p:cNvSpPr/>
          <p:nvPr/>
        </p:nvSpPr>
        <p:spPr>
          <a:xfrm>
            <a:off x="0" y="4892040"/>
            <a:ext cx="9144000" cy="256032"/>
          </a:xfrm>
          <a:prstGeom prst="rect">
            <a:avLst/>
          </a:prstGeom>
          <a:solidFill>
            <a:srgbClr val="0B1F3A"/>
          </a:solidFill>
          <a:ln w="12700">
            <a:solidFill>
              <a:srgbClr val="0B1F3A"/>
            </a:solidFill>
            <a:prstDash val="solid"/>
          </a:ln>
        </p:spPr>
      </p:sp>
      <p:sp>
        <p:nvSpPr>
          <p:cNvPr id="62" name="Text 60"/>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63" name="Text 61"/>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09 · TAKEAWAYS</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학생을 위한 핵심 교훈</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Key Takeaways for Students</a:t>
            </a:r>
            <a:endParaRPr lang="en-US" sz="1050" dirty="0"/>
          </a:p>
        </p:txBody>
      </p:sp>
      <p:sp>
        <p:nvSpPr>
          <p:cNvPr id="7" name="Shape 5"/>
          <p:cNvSpPr/>
          <p:nvPr/>
        </p:nvSpPr>
        <p:spPr>
          <a:xfrm>
            <a:off x="502920" y="1097280"/>
            <a:ext cx="502920" cy="502920"/>
          </a:xfrm>
          <a:prstGeom prst="ellipse">
            <a:avLst/>
          </a:prstGeom>
          <a:solidFill>
            <a:srgbClr val="EF5350"/>
          </a:solidFill>
          <a:ln w="12700">
            <a:solidFill>
              <a:srgbClr val="EF5350"/>
            </a:solidFill>
            <a:prstDash val="solid"/>
          </a:ln>
        </p:spPr>
      </p:sp>
      <p:sp>
        <p:nvSpPr>
          <p:cNvPr id="8" name="Text 6"/>
          <p:cNvSpPr/>
          <p:nvPr/>
        </p:nvSpPr>
        <p:spPr>
          <a:xfrm>
            <a:off x="502920" y="109728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1</a:t>
            </a:r>
            <a:endParaRPr lang="en-US" sz="2200" dirty="0"/>
          </a:p>
        </p:txBody>
      </p:sp>
      <p:sp>
        <p:nvSpPr>
          <p:cNvPr id="9" name="Shape 7"/>
          <p:cNvSpPr/>
          <p:nvPr/>
        </p:nvSpPr>
        <p:spPr>
          <a:xfrm>
            <a:off x="1234440" y="1051560"/>
            <a:ext cx="7452360" cy="594360"/>
          </a:xfrm>
          <a:prstGeom prst="roundRect">
            <a:avLst>
              <a:gd name="adj" fmla="val 12308"/>
            </a:avLst>
          </a:prstGeom>
          <a:solidFill>
            <a:srgbClr val="FFFFFF"/>
          </a:solidFill>
          <a:ln w="19050">
            <a:solidFill>
              <a:srgbClr val="EF5350"/>
            </a:solidFill>
            <a:prstDash val="solid"/>
          </a:ln>
        </p:spPr>
      </p:sp>
      <p:sp>
        <p:nvSpPr>
          <p:cNvPr id="10" name="Text 8"/>
          <p:cNvSpPr/>
          <p:nvPr/>
        </p:nvSpPr>
        <p:spPr>
          <a:xfrm>
            <a:off x="1371600" y="1069848"/>
            <a:ext cx="7315200" cy="274320"/>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데이터는 raw 부터 완벽하지 않다</a:t>
            </a:r>
            <a:endParaRPr lang="en-US" sz="1300" dirty="0"/>
          </a:p>
        </p:txBody>
      </p:sp>
      <p:sp>
        <p:nvSpPr>
          <p:cNvPr id="11" name="Text 9"/>
          <p:cNvSpPr/>
          <p:nvPr/>
        </p:nvSpPr>
        <p:spPr>
          <a:xfrm>
            <a:off x="1371600" y="1353312"/>
            <a:ext cx="7315200" cy="274320"/>
          </a:xfrm>
          <a:prstGeom prst="rect">
            <a:avLst/>
          </a:prstGeom>
          <a:noFill/>
          <a:ln/>
        </p:spPr>
        <p:txBody>
          <a:bodyPr wrap="square" lIns="0" tIns="0" rIns="0" bIns="0" rtlCol="0" anchor="ctr"/>
          <a:lstStyle/>
          <a:p>
            <a:pPr indent="0" marL="0">
              <a:buNone/>
            </a:pPr>
            <a:r>
              <a:rPr lang="en-US" sz="1000" b="1" i="1" dirty="0">
                <a:solidFill>
                  <a:srgbClr val="EF5350"/>
                </a:solidFill>
                <a:latin typeface="Malgun Gothic" pitchFamily="34" charset="0"/>
                <a:ea typeface="Malgun Gothic" pitchFamily="34" charset="-122"/>
                <a:cs typeface="Malgun Gothic" pitchFamily="34" charset="-120"/>
              </a:rPr>
              <a:t>Raw data is never clean</a:t>
            </a:r>
            <a:pPr indent="0" marL="0">
              <a:buNone/>
            </a:pPr>
            <a:r>
              <a:rPr lang="en-US" sz="1000" i="1" dirty="0">
                <a:solidFill>
                  <a:srgbClr val="78909C"/>
                </a:solidFill>
                <a:latin typeface="Malgun Gothic" pitchFamily="34" charset="0"/>
                <a:ea typeface="Malgun Gothic" pitchFamily="34" charset="-122"/>
                <a:cs typeface="Malgun Gothic" pitchFamily="34" charset="-120"/>
              </a:rPr>
              <a:t>  —  cleaning 단계를 절대 건너뛰지 마라</a:t>
            </a:r>
            <a:endParaRPr lang="en-US" sz="1000" dirty="0"/>
          </a:p>
        </p:txBody>
      </p:sp>
      <p:sp>
        <p:nvSpPr>
          <p:cNvPr id="12" name="Shape 10"/>
          <p:cNvSpPr/>
          <p:nvPr/>
        </p:nvSpPr>
        <p:spPr>
          <a:xfrm>
            <a:off x="502920" y="1801368"/>
            <a:ext cx="502920" cy="502920"/>
          </a:xfrm>
          <a:prstGeom prst="ellipse">
            <a:avLst/>
          </a:prstGeom>
          <a:solidFill>
            <a:srgbClr val="FFB300"/>
          </a:solidFill>
          <a:ln w="12700">
            <a:solidFill>
              <a:srgbClr val="FFB300"/>
            </a:solidFill>
            <a:prstDash val="solid"/>
          </a:ln>
        </p:spPr>
      </p:sp>
      <p:sp>
        <p:nvSpPr>
          <p:cNvPr id="13" name="Text 11"/>
          <p:cNvSpPr/>
          <p:nvPr/>
        </p:nvSpPr>
        <p:spPr>
          <a:xfrm>
            <a:off x="502920" y="180136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2</a:t>
            </a:r>
            <a:endParaRPr lang="en-US" sz="2200" dirty="0"/>
          </a:p>
        </p:txBody>
      </p:sp>
      <p:sp>
        <p:nvSpPr>
          <p:cNvPr id="14" name="Shape 12"/>
          <p:cNvSpPr/>
          <p:nvPr/>
        </p:nvSpPr>
        <p:spPr>
          <a:xfrm>
            <a:off x="1234440" y="1755648"/>
            <a:ext cx="7452360" cy="594360"/>
          </a:xfrm>
          <a:prstGeom prst="roundRect">
            <a:avLst>
              <a:gd name="adj" fmla="val 12308"/>
            </a:avLst>
          </a:prstGeom>
          <a:solidFill>
            <a:srgbClr val="FFFFFF"/>
          </a:solidFill>
          <a:ln w="19050">
            <a:solidFill>
              <a:srgbClr val="FFB300"/>
            </a:solidFill>
            <a:prstDash val="solid"/>
          </a:ln>
        </p:spPr>
      </p:sp>
      <p:sp>
        <p:nvSpPr>
          <p:cNvPr id="15" name="Text 13"/>
          <p:cNvSpPr/>
          <p:nvPr/>
        </p:nvSpPr>
        <p:spPr>
          <a:xfrm>
            <a:off x="1371600" y="1773936"/>
            <a:ext cx="7315200" cy="274320"/>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Feature engineering &gt; 모델 크기</a:t>
            </a:r>
            <a:endParaRPr lang="en-US" sz="1300" dirty="0"/>
          </a:p>
        </p:txBody>
      </p:sp>
      <p:sp>
        <p:nvSpPr>
          <p:cNvPr id="16" name="Text 14"/>
          <p:cNvSpPr/>
          <p:nvPr/>
        </p:nvSpPr>
        <p:spPr>
          <a:xfrm>
            <a:off x="1371600" y="2057400"/>
            <a:ext cx="7315200" cy="274320"/>
          </a:xfrm>
          <a:prstGeom prst="rect">
            <a:avLst/>
          </a:prstGeom>
          <a:noFill/>
          <a:ln/>
        </p:spPr>
        <p:txBody>
          <a:bodyPr wrap="square" lIns="0" tIns="0" rIns="0" bIns="0" rtlCol="0" anchor="ctr"/>
          <a:lstStyle/>
          <a:p>
            <a:pPr indent="0" marL="0">
              <a:buNone/>
            </a:pPr>
            <a:r>
              <a:rPr lang="en-US" sz="1000" b="1" i="1" dirty="0">
                <a:solidFill>
                  <a:srgbClr val="FFB300"/>
                </a:solidFill>
                <a:latin typeface="Malgun Gothic" pitchFamily="34" charset="0"/>
                <a:ea typeface="Malgun Gothic" pitchFamily="34" charset="-122"/>
                <a:cs typeface="Malgun Gothic" pitchFamily="34" charset="-120"/>
              </a:rPr>
              <a:t>Features &gt; Model size</a:t>
            </a:r>
            <a:pPr indent="0" marL="0">
              <a:buNone/>
            </a:pPr>
            <a:r>
              <a:rPr lang="en-US" sz="1000" i="1" dirty="0">
                <a:solidFill>
                  <a:srgbClr val="78909C"/>
                </a:solidFill>
                <a:latin typeface="Malgun Gothic" pitchFamily="34" charset="0"/>
                <a:ea typeface="Malgun Gothic" pitchFamily="34" charset="-122"/>
                <a:cs typeface="Malgun Gothic" pitchFamily="34" charset="-120"/>
              </a:rPr>
              <a:t>  —  실제: 5 features 추가로 R² +335% (P1)</a:t>
            </a:r>
            <a:endParaRPr lang="en-US" sz="1000" dirty="0"/>
          </a:p>
        </p:txBody>
      </p:sp>
      <p:sp>
        <p:nvSpPr>
          <p:cNvPr id="17" name="Shape 15"/>
          <p:cNvSpPr/>
          <p:nvPr/>
        </p:nvSpPr>
        <p:spPr>
          <a:xfrm>
            <a:off x="502920" y="2505456"/>
            <a:ext cx="502920" cy="502920"/>
          </a:xfrm>
          <a:prstGeom prst="ellipse">
            <a:avLst/>
          </a:prstGeom>
          <a:solidFill>
            <a:srgbClr val="00897B"/>
          </a:solidFill>
          <a:ln w="12700">
            <a:solidFill>
              <a:srgbClr val="00897B"/>
            </a:solidFill>
            <a:prstDash val="solid"/>
          </a:ln>
        </p:spPr>
      </p:sp>
      <p:sp>
        <p:nvSpPr>
          <p:cNvPr id="18" name="Text 16"/>
          <p:cNvSpPr/>
          <p:nvPr/>
        </p:nvSpPr>
        <p:spPr>
          <a:xfrm>
            <a:off x="502920" y="2505456"/>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3</a:t>
            </a:r>
            <a:endParaRPr lang="en-US" sz="2200" dirty="0"/>
          </a:p>
        </p:txBody>
      </p:sp>
      <p:sp>
        <p:nvSpPr>
          <p:cNvPr id="19" name="Shape 17"/>
          <p:cNvSpPr/>
          <p:nvPr/>
        </p:nvSpPr>
        <p:spPr>
          <a:xfrm>
            <a:off x="1234440" y="2459736"/>
            <a:ext cx="7452360" cy="594360"/>
          </a:xfrm>
          <a:prstGeom prst="roundRect">
            <a:avLst>
              <a:gd name="adj" fmla="val 12308"/>
            </a:avLst>
          </a:prstGeom>
          <a:solidFill>
            <a:srgbClr val="FFFFFF"/>
          </a:solidFill>
          <a:ln w="19050">
            <a:solidFill>
              <a:srgbClr val="00897B"/>
            </a:solidFill>
            <a:prstDash val="solid"/>
          </a:ln>
        </p:spPr>
      </p:sp>
      <p:sp>
        <p:nvSpPr>
          <p:cNvPr id="20" name="Text 18"/>
          <p:cNvSpPr/>
          <p:nvPr/>
        </p:nvSpPr>
        <p:spPr>
          <a:xfrm>
            <a:off x="1371600" y="2478024"/>
            <a:ext cx="7315200" cy="274320"/>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시계열은 절대 shuffle 하지 마라</a:t>
            </a:r>
            <a:endParaRPr lang="en-US" sz="1300" dirty="0"/>
          </a:p>
        </p:txBody>
      </p:sp>
      <p:sp>
        <p:nvSpPr>
          <p:cNvPr id="21" name="Text 19"/>
          <p:cNvSpPr/>
          <p:nvPr/>
        </p:nvSpPr>
        <p:spPr>
          <a:xfrm>
            <a:off x="1371600" y="2761488"/>
            <a:ext cx="7315200" cy="274320"/>
          </a:xfrm>
          <a:prstGeom prst="rect">
            <a:avLst/>
          </a:prstGeom>
          <a:noFill/>
          <a:ln/>
        </p:spPr>
        <p:txBody>
          <a:bodyPr wrap="square" lIns="0" tIns="0" rIns="0" bIns="0" rtlCol="0" anchor="ctr"/>
          <a:lstStyle/>
          <a:p>
            <a:pPr indent="0" marL="0">
              <a:buNone/>
            </a:pPr>
            <a:r>
              <a:rPr lang="en-US" sz="1000" b="1" i="1" dirty="0">
                <a:solidFill>
                  <a:srgbClr val="00897B"/>
                </a:solidFill>
                <a:latin typeface="Malgun Gothic" pitchFamily="34" charset="0"/>
                <a:ea typeface="Malgun Gothic" pitchFamily="34" charset="-122"/>
                <a:cs typeface="Malgun Gothic" pitchFamily="34" charset="-120"/>
              </a:rPr>
              <a:t>Never shuffle time-series</a:t>
            </a:r>
            <a:pPr indent="0" marL="0">
              <a:buNone/>
            </a:pPr>
            <a:r>
              <a:rPr lang="en-US" sz="1000" i="1" dirty="0">
                <a:solidFill>
                  <a:srgbClr val="78909C"/>
                </a:solidFill>
                <a:latin typeface="Malgun Gothic" pitchFamily="34" charset="0"/>
                <a:ea typeface="Malgun Gothic" pitchFamily="34" charset="-122"/>
                <a:cs typeface="Malgun Gothic" pitchFamily="34" charset="-120"/>
              </a:rPr>
              <a:t>  —  Temporal leakage 는 가장 흔한 치명적 실수</a:t>
            </a:r>
            <a:endParaRPr lang="en-US" sz="1000" dirty="0"/>
          </a:p>
        </p:txBody>
      </p:sp>
      <p:sp>
        <p:nvSpPr>
          <p:cNvPr id="22" name="Shape 20"/>
          <p:cNvSpPr/>
          <p:nvPr/>
        </p:nvSpPr>
        <p:spPr>
          <a:xfrm>
            <a:off x="502920" y="3209544"/>
            <a:ext cx="502920" cy="502920"/>
          </a:xfrm>
          <a:prstGeom prst="ellipse">
            <a:avLst/>
          </a:prstGeom>
          <a:solidFill>
            <a:srgbClr val="1E88E5"/>
          </a:solidFill>
          <a:ln w="12700">
            <a:solidFill>
              <a:srgbClr val="1E88E5"/>
            </a:solidFill>
            <a:prstDash val="solid"/>
          </a:ln>
        </p:spPr>
      </p:sp>
      <p:sp>
        <p:nvSpPr>
          <p:cNvPr id="23" name="Text 21"/>
          <p:cNvSpPr/>
          <p:nvPr/>
        </p:nvSpPr>
        <p:spPr>
          <a:xfrm>
            <a:off x="502920" y="3209544"/>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4</a:t>
            </a:r>
            <a:endParaRPr lang="en-US" sz="2200" dirty="0"/>
          </a:p>
        </p:txBody>
      </p:sp>
      <p:sp>
        <p:nvSpPr>
          <p:cNvPr id="24" name="Shape 22"/>
          <p:cNvSpPr/>
          <p:nvPr/>
        </p:nvSpPr>
        <p:spPr>
          <a:xfrm>
            <a:off x="1234440" y="3163824"/>
            <a:ext cx="7452360" cy="594360"/>
          </a:xfrm>
          <a:prstGeom prst="roundRect">
            <a:avLst>
              <a:gd name="adj" fmla="val 12308"/>
            </a:avLst>
          </a:prstGeom>
          <a:solidFill>
            <a:srgbClr val="FFFFFF"/>
          </a:solidFill>
          <a:ln w="19050">
            <a:solidFill>
              <a:srgbClr val="1E88E5"/>
            </a:solidFill>
            <a:prstDash val="solid"/>
          </a:ln>
        </p:spPr>
      </p:sp>
      <p:sp>
        <p:nvSpPr>
          <p:cNvPr id="25" name="Text 23"/>
          <p:cNvSpPr/>
          <p:nvPr/>
        </p:nvSpPr>
        <p:spPr>
          <a:xfrm>
            <a:off x="1371600" y="3182112"/>
            <a:ext cx="7315200" cy="274320"/>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모델 선택은 정확도만이 아니다</a:t>
            </a:r>
            <a:endParaRPr lang="en-US" sz="1300" dirty="0"/>
          </a:p>
        </p:txBody>
      </p:sp>
      <p:sp>
        <p:nvSpPr>
          <p:cNvPr id="26" name="Text 24"/>
          <p:cNvSpPr/>
          <p:nvPr/>
        </p:nvSpPr>
        <p:spPr>
          <a:xfrm>
            <a:off x="1371600" y="3465576"/>
            <a:ext cx="7315200" cy="274320"/>
          </a:xfrm>
          <a:prstGeom prst="rect">
            <a:avLst/>
          </a:prstGeom>
          <a:noFill/>
          <a:ln/>
        </p:spPr>
        <p:txBody>
          <a:bodyPr wrap="square" lIns="0" tIns="0" rIns="0" bIns="0" rtlCol="0" anchor="ctr"/>
          <a:lstStyle/>
          <a:p>
            <a:pPr indent="0" marL="0">
              <a:buNone/>
            </a:pPr>
            <a:r>
              <a:rPr lang="en-US" sz="1000" b="1" i="1" dirty="0">
                <a:solidFill>
                  <a:srgbClr val="1E88E5"/>
                </a:solidFill>
                <a:latin typeface="Malgun Gothic" pitchFamily="34" charset="0"/>
                <a:ea typeface="Malgun Gothic" pitchFamily="34" charset="-122"/>
                <a:cs typeface="Malgun Gothic" pitchFamily="34" charset="-120"/>
              </a:rPr>
              <a:t>Accuracy is not the only metric</a:t>
            </a:r>
            <a:pPr indent="0" marL="0">
              <a:buNone/>
            </a:pPr>
            <a:r>
              <a:rPr lang="en-US" sz="1000" i="1" dirty="0">
                <a:solidFill>
                  <a:srgbClr val="78909C"/>
                </a:solidFill>
                <a:latin typeface="Malgun Gothic" pitchFamily="34" charset="0"/>
                <a:ea typeface="Malgun Gothic" pitchFamily="34" charset="-122"/>
                <a:cs typeface="Malgun Gothic" pitchFamily="34" charset="-120"/>
              </a:rPr>
              <a:t>  —  해석성 · 운영성 · 유지비 모두 고려</a:t>
            </a:r>
            <a:endParaRPr lang="en-US" sz="1000" dirty="0"/>
          </a:p>
        </p:txBody>
      </p:sp>
      <p:sp>
        <p:nvSpPr>
          <p:cNvPr id="27" name="Shape 25"/>
          <p:cNvSpPr/>
          <p:nvPr/>
        </p:nvSpPr>
        <p:spPr>
          <a:xfrm>
            <a:off x="502920" y="3913632"/>
            <a:ext cx="502920" cy="502920"/>
          </a:xfrm>
          <a:prstGeom prst="ellipse">
            <a:avLst/>
          </a:prstGeom>
          <a:solidFill>
            <a:srgbClr val="8E24AA"/>
          </a:solidFill>
          <a:ln w="12700">
            <a:solidFill>
              <a:srgbClr val="8E24AA"/>
            </a:solidFill>
            <a:prstDash val="solid"/>
          </a:ln>
        </p:spPr>
      </p:sp>
      <p:sp>
        <p:nvSpPr>
          <p:cNvPr id="28" name="Text 26"/>
          <p:cNvSpPr/>
          <p:nvPr/>
        </p:nvSpPr>
        <p:spPr>
          <a:xfrm>
            <a:off x="502920" y="391363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5</a:t>
            </a:r>
            <a:endParaRPr lang="en-US" sz="2200" dirty="0"/>
          </a:p>
        </p:txBody>
      </p:sp>
      <p:sp>
        <p:nvSpPr>
          <p:cNvPr id="29" name="Shape 27"/>
          <p:cNvSpPr/>
          <p:nvPr/>
        </p:nvSpPr>
        <p:spPr>
          <a:xfrm>
            <a:off x="1234440" y="3867912"/>
            <a:ext cx="7452360" cy="594360"/>
          </a:xfrm>
          <a:prstGeom prst="roundRect">
            <a:avLst>
              <a:gd name="adj" fmla="val 12308"/>
            </a:avLst>
          </a:prstGeom>
          <a:solidFill>
            <a:srgbClr val="FFFFFF"/>
          </a:solidFill>
          <a:ln w="19050">
            <a:solidFill>
              <a:srgbClr val="8E24AA"/>
            </a:solidFill>
            <a:prstDash val="solid"/>
          </a:ln>
        </p:spPr>
      </p:sp>
      <p:sp>
        <p:nvSpPr>
          <p:cNvPr id="30" name="Text 28"/>
          <p:cNvSpPr/>
          <p:nvPr/>
        </p:nvSpPr>
        <p:spPr>
          <a:xfrm>
            <a:off x="1371600" y="3886200"/>
            <a:ext cx="7315200" cy="274320"/>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도메인 지식이 곧 경쟁력</a:t>
            </a:r>
            <a:endParaRPr lang="en-US" sz="1300" dirty="0"/>
          </a:p>
        </p:txBody>
      </p:sp>
      <p:sp>
        <p:nvSpPr>
          <p:cNvPr id="31" name="Text 29"/>
          <p:cNvSpPr/>
          <p:nvPr/>
        </p:nvSpPr>
        <p:spPr>
          <a:xfrm>
            <a:off x="1371600" y="4169664"/>
            <a:ext cx="7315200" cy="274320"/>
          </a:xfrm>
          <a:prstGeom prst="rect">
            <a:avLst/>
          </a:prstGeom>
          <a:noFill/>
          <a:ln/>
        </p:spPr>
        <p:txBody>
          <a:bodyPr wrap="square" lIns="0" tIns="0" rIns="0" bIns="0" rtlCol="0" anchor="ctr"/>
          <a:lstStyle/>
          <a:p>
            <a:pPr indent="0" marL="0">
              <a:buNone/>
            </a:pPr>
            <a:r>
              <a:rPr lang="en-US" sz="1000" b="1" i="1" dirty="0">
                <a:solidFill>
                  <a:srgbClr val="8E24AA"/>
                </a:solidFill>
                <a:latin typeface="Malgun Gothic" pitchFamily="34" charset="0"/>
                <a:ea typeface="Malgun Gothic" pitchFamily="34" charset="-122"/>
                <a:cs typeface="Malgun Gothic" pitchFamily="34" charset="-120"/>
              </a:rPr>
              <a:t>Domain knowledge = competitive edge</a:t>
            </a:r>
            <a:pPr indent="0" marL="0">
              <a:buNone/>
            </a:pPr>
            <a:r>
              <a:rPr lang="en-US" sz="1000" i="1" dirty="0">
                <a:solidFill>
                  <a:srgbClr val="78909C"/>
                </a:solidFill>
                <a:latin typeface="Malgun Gothic" pitchFamily="34" charset="0"/>
                <a:ea typeface="Malgun Gothic" pitchFamily="34" charset="-122"/>
                <a:cs typeface="Malgun Gothic" pitchFamily="34" charset="-120"/>
              </a:rPr>
              <a:t>  —  EUROCONTROL 연구 → Rotation feature 설계</a:t>
            </a:r>
            <a:endParaRPr lang="en-US" sz="1000" dirty="0"/>
          </a:p>
        </p:txBody>
      </p:sp>
      <p:sp>
        <p:nvSpPr>
          <p:cNvPr id="32" name="Shape 30"/>
          <p:cNvSpPr/>
          <p:nvPr/>
        </p:nvSpPr>
        <p:spPr>
          <a:xfrm>
            <a:off x="0" y="4892040"/>
            <a:ext cx="9144000" cy="256032"/>
          </a:xfrm>
          <a:prstGeom prst="rect">
            <a:avLst/>
          </a:prstGeom>
          <a:solidFill>
            <a:srgbClr val="0B1F3A"/>
          </a:solidFill>
          <a:ln w="12700">
            <a:solidFill>
              <a:srgbClr val="0B1F3A"/>
            </a:solidFill>
            <a:prstDash val="solid"/>
          </a:ln>
        </p:spPr>
      </p:sp>
      <p:sp>
        <p:nvSpPr>
          <p:cNvPr id="33" name="Text 31"/>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34" name="Text 32"/>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AFAFA"/>
          </a:solidFill>
          <a:ln w="12700">
            <a:solidFill>
              <a:srgbClr val="FAFAFA"/>
            </a:solidFill>
            <a:prstDash val="solid"/>
          </a:ln>
        </p:spPr>
      </p:sp>
      <p:sp>
        <p:nvSpPr>
          <p:cNvPr id="3" name="Shape 1"/>
          <p:cNvSpPr/>
          <p:nvPr/>
        </p:nvSpPr>
        <p:spPr>
          <a:xfrm>
            <a:off x="0" y="0"/>
            <a:ext cx="109728" cy="777240"/>
          </a:xfrm>
          <a:prstGeom prst="rect">
            <a:avLst/>
          </a:prstGeom>
          <a:solidFill>
            <a:srgbClr val="1E88E5"/>
          </a:solidFill>
          <a:ln w="12700">
            <a:solidFill>
              <a:srgbClr val="1E88E5"/>
            </a:solidFill>
            <a:prstDash val="solid"/>
          </a:ln>
        </p:spPr>
      </p:sp>
      <p:sp>
        <p:nvSpPr>
          <p:cNvPr id="4" name="Text 2"/>
          <p:cNvSpPr/>
          <p:nvPr/>
        </p:nvSpPr>
        <p:spPr>
          <a:xfrm>
            <a:off x="274320" y="36576"/>
            <a:ext cx="8686800" cy="228600"/>
          </a:xfrm>
          <a:prstGeom prst="rect">
            <a:avLst/>
          </a:prstGeom>
          <a:noFill/>
          <a:ln/>
        </p:spPr>
        <p:txBody>
          <a:bodyPr wrap="square" lIns="0" tIns="0" rIns="0" bIns="0" rtlCol="0" anchor="ctr"/>
          <a:lstStyle/>
          <a:p>
            <a:pPr indent="0" marL="0">
              <a:buNone/>
            </a:pPr>
            <a:r>
              <a:rPr lang="en-US" sz="1000" spc="400" kern="0" dirty="0">
                <a:solidFill>
                  <a:srgbClr val="78909C"/>
                </a:solidFill>
                <a:latin typeface="Malgun Gothic" pitchFamily="34" charset="0"/>
                <a:ea typeface="Malgun Gothic" pitchFamily="34" charset="-122"/>
                <a:cs typeface="Malgun Gothic" pitchFamily="34" charset="-120"/>
              </a:rPr>
              <a:t>CHAPTER 10 · DISCUSSION</a:t>
            </a:r>
            <a:endParaRPr lang="en-US" sz="1000" dirty="0"/>
          </a:p>
        </p:txBody>
      </p:sp>
      <p:sp>
        <p:nvSpPr>
          <p:cNvPr id="5" name="Text 3"/>
          <p:cNvSpPr/>
          <p:nvPr/>
        </p:nvSpPr>
        <p:spPr>
          <a:xfrm>
            <a:off x="274320" y="246888"/>
            <a:ext cx="8686800" cy="347472"/>
          </a:xfrm>
          <a:prstGeom prst="rect">
            <a:avLst/>
          </a:prstGeom>
          <a:noFill/>
          <a:ln/>
        </p:spPr>
        <p:txBody>
          <a:bodyPr wrap="square" lIns="0" tIns="0" rIns="0" bIns="0" rtlCol="0" anchor="ctr"/>
          <a:lstStyle/>
          <a:p>
            <a:pPr indent="0" marL="0">
              <a:buNone/>
            </a:pPr>
            <a:r>
              <a:rPr lang="en-US" sz="2200" b="1" dirty="0">
                <a:solidFill>
                  <a:srgbClr val="0B1F3A"/>
                </a:solidFill>
                <a:latin typeface="Malgun Gothic" pitchFamily="34" charset="0"/>
                <a:ea typeface="Malgun Gothic" pitchFamily="34" charset="-122"/>
                <a:cs typeface="Malgun Gothic" pitchFamily="34" charset="-120"/>
              </a:rPr>
              <a:t>질문 &amp; 토론</a:t>
            </a:r>
            <a:endParaRPr lang="en-US" sz="2200" dirty="0"/>
          </a:p>
        </p:txBody>
      </p:sp>
      <p:sp>
        <p:nvSpPr>
          <p:cNvPr id="6" name="Text 4"/>
          <p:cNvSpPr/>
          <p:nvPr/>
        </p:nvSpPr>
        <p:spPr>
          <a:xfrm>
            <a:off x="274320" y="576072"/>
            <a:ext cx="8686800" cy="164592"/>
          </a:xfrm>
          <a:prstGeom prst="rect">
            <a:avLst/>
          </a:prstGeom>
          <a:noFill/>
          <a:ln/>
        </p:spPr>
        <p:txBody>
          <a:bodyPr wrap="square" lIns="0" tIns="0" rIns="0" bIns="0" rtlCol="0" anchor="ctr"/>
          <a:lstStyle/>
          <a:p>
            <a:pPr indent="0" marL="0">
              <a:buNone/>
            </a:pPr>
            <a:r>
              <a:rPr lang="en-US" sz="1050" i="1" dirty="0">
                <a:solidFill>
                  <a:srgbClr val="37474F"/>
                </a:solidFill>
                <a:latin typeface="Malgun Gothic" pitchFamily="34" charset="0"/>
                <a:ea typeface="Malgun Gothic" pitchFamily="34" charset="-122"/>
                <a:cs typeface="Malgun Gothic" pitchFamily="34" charset="-120"/>
              </a:rPr>
              <a:t>Q&amp;A — questions for discussion</a:t>
            </a:r>
            <a:endParaRPr lang="en-US" sz="1050" dirty="0"/>
          </a:p>
        </p:txBody>
      </p:sp>
      <p:sp>
        <p:nvSpPr>
          <p:cNvPr id="7" name="Text 5"/>
          <p:cNvSpPr/>
          <p:nvPr/>
        </p:nvSpPr>
        <p:spPr>
          <a:xfrm>
            <a:off x="457200" y="914400"/>
            <a:ext cx="8229600" cy="822960"/>
          </a:xfrm>
          <a:prstGeom prst="rect">
            <a:avLst/>
          </a:prstGeom>
          <a:noFill/>
          <a:ln/>
        </p:spPr>
        <p:txBody>
          <a:bodyPr wrap="square" lIns="0" tIns="0" rIns="0" bIns="0" rtlCol="0" anchor="ctr"/>
          <a:lstStyle/>
          <a:p>
            <a:pPr algn="ctr" indent="0" marL="0">
              <a:buNone/>
            </a:pPr>
            <a:r>
              <a:rPr lang="en-US" sz="6000" dirty="0">
                <a:solidFill>
                  <a:srgbClr val="FFFFFF"/>
                </a:solidFill>
                <a:latin typeface="Malgun Gothic" pitchFamily="34" charset="0"/>
                <a:ea typeface="Malgun Gothic" pitchFamily="34" charset="-122"/>
                <a:cs typeface="Malgun Gothic" pitchFamily="34" charset="-120"/>
              </a:rPr>
              <a:t>💬</a:t>
            </a:r>
            <a:endParaRPr lang="en-US" sz="6000" dirty="0"/>
          </a:p>
        </p:txBody>
      </p:sp>
      <p:sp>
        <p:nvSpPr>
          <p:cNvPr id="8" name="Shape 6"/>
          <p:cNvSpPr/>
          <p:nvPr/>
        </p:nvSpPr>
        <p:spPr>
          <a:xfrm>
            <a:off x="731520" y="1874520"/>
            <a:ext cx="7680960" cy="457200"/>
          </a:xfrm>
          <a:prstGeom prst="roundRect">
            <a:avLst>
              <a:gd name="adj" fmla="val 16000"/>
            </a:avLst>
          </a:prstGeom>
          <a:solidFill>
            <a:srgbClr val="FFFFFF"/>
          </a:solidFill>
          <a:ln w="12700">
            <a:solidFill>
              <a:srgbClr val="1E88E5"/>
            </a:solidFill>
            <a:prstDash val="solid"/>
          </a:ln>
        </p:spPr>
      </p:sp>
      <p:sp>
        <p:nvSpPr>
          <p:cNvPr id="9" name="Text 7"/>
          <p:cNvSpPr/>
          <p:nvPr/>
        </p:nvSpPr>
        <p:spPr>
          <a:xfrm>
            <a:off x="822960" y="1938528"/>
            <a:ext cx="365760" cy="329184"/>
          </a:xfrm>
          <a:prstGeom prst="rect">
            <a:avLst/>
          </a:prstGeom>
          <a:noFill/>
          <a:ln/>
        </p:spPr>
        <p:txBody>
          <a:bodyPr wrap="square" lIns="0" tIns="0" rIns="0" bIns="0" rtlCol="0" anchor="ctr"/>
          <a:lstStyle/>
          <a:p>
            <a:pPr algn="ctr" indent="0" marL="0">
              <a:buNone/>
            </a:pPr>
            <a:r>
              <a:rPr lang="en-US" sz="1400" b="1" dirty="0">
                <a:solidFill>
                  <a:srgbClr val="1E88E5"/>
                </a:solidFill>
                <a:latin typeface="Malgun Gothic" pitchFamily="34" charset="0"/>
                <a:ea typeface="Malgun Gothic" pitchFamily="34" charset="-122"/>
                <a:cs typeface="Malgun Gothic" pitchFamily="34" charset="-120"/>
              </a:rPr>
              <a:t>Q</a:t>
            </a:r>
            <a:endParaRPr lang="en-US" sz="1400" dirty="0"/>
          </a:p>
        </p:txBody>
      </p:sp>
      <p:sp>
        <p:nvSpPr>
          <p:cNvPr id="10" name="Text 8"/>
          <p:cNvSpPr/>
          <p:nvPr/>
        </p:nvSpPr>
        <p:spPr>
          <a:xfrm>
            <a:off x="1280160" y="1901952"/>
            <a:ext cx="7040880" cy="402336"/>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왜 Iceberg 가 그냥 parquet 보다 낫나요?</a:t>
            </a:r>
            <a:pPr indent="0" marL="0">
              <a:buNone/>
            </a:pPr>
            <a:r>
              <a:rPr lang="en-US" sz="900" i="1" dirty="0">
                <a:solidFill>
                  <a:srgbClr val="78909C"/>
                </a:solidFill>
                <a:latin typeface="Malgun Gothic" pitchFamily="34" charset="0"/>
                <a:ea typeface="Malgun Gothic" pitchFamily="34" charset="-122"/>
                <a:cs typeface="Malgun Gothic" pitchFamily="34" charset="-120"/>
              </a:rPr>
              <a:t>   Why Iceberg over plain parquet?</a:t>
            </a:r>
            <a:endParaRPr lang="en-US" sz="1100" dirty="0"/>
          </a:p>
        </p:txBody>
      </p:sp>
      <p:sp>
        <p:nvSpPr>
          <p:cNvPr id="11" name="Shape 9"/>
          <p:cNvSpPr/>
          <p:nvPr/>
        </p:nvSpPr>
        <p:spPr>
          <a:xfrm>
            <a:off x="731520" y="2404872"/>
            <a:ext cx="7680960" cy="457200"/>
          </a:xfrm>
          <a:prstGeom prst="roundRect">
            <a:avLst>
              <a:gd name="adj" fmla="val 16000"/>
            </a:avLst>
          </a:prstGeom>
          <a:solidFill>
            <a:srgbClr val="FFFFFF"/>
          </a:solidFill>
          <a:ln w="12700">
            <a:solidFill>
              <a:srgbClr val="00897B"/>
            </a:solidFill>
            <a:prstDash val="solid"/>
          </a:ln>
        </p:spPr>
      </p:sp>
      <p:sp>
        <p:nvSpPr>
          <p:cNvPr id="12" name="Text 10"/>
          <p:cNvSpPr/>
          <p:nvPr/>
        </p:nvSpPr>
        <p:spPr>
          <a:xfrm>
            <a:off x="822960" y="2468880"/>
            <a:ext cx="365760" cy="329184"/>
          </a:xfrm>
          <a:prstGeom prst="rect">
            <a:avLst/>
          </a:prstGeom>
          <a:noFill/>
          <a:ln/>
        </p:spPr>
        <p:txBody>
          <a:bodyPr wrap="square" lIns="0" tIns="0" rIns="0" bIns="0" rtlCol="0" anchor="ctr"/>
          <a:lstStyle/>
          <a:p>
            <a:pPr algn="ctr" indent="0" marL="0">
              <a:buNone/>
            </a:pPr>
            <a:r>
              <a:rPr lang="en-US" sz="1400" b="1" dirty="0">
                <a:solidFill>
                  <a:srgbClr val="00897B"/>
                </a:solidFill>
                <a:latin typeface="Malgun Gothic" pitchFamily="34" charset="0"/>
                <a:ea typeface="Malgun Gothic" pitchFamily="34" charset="-122"/>
                <a:cs typeface="Malgun Gothic" pitchFamily="34" charset="-120"/>
              </a:rPr>
              <a:t>Q</a:t>
            </a:r>
            <a:endParaRPr lang="en-US" sz="1400" dirty="0"/>
          </a:p>
        </p:txBody>
      </p:sp>
      <p:sp>
        <p:nvSpPr>
          <p:cNvPr id="13" name="Text 11"/>
          <p:cNvSpPr/>
          <p:nvPr/>
        </p:nvSpPr>
        <p:spPr>
          <a:xfrm>
            <a:off x="1280160" y="2432304"/>
            <a:ext cx="7040880" cy="402336"/>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Conformal 말고 Bayesian CI 는 안 되나요?</a:t>
            </a:r>
            <a:pPr indent="0" marL="0">
              <a:buNone/>
            </a:pPr>
            <a:r>
              <a:rPr lang="en-US" sz="900" i="1" dirty="0">
                <a:solidFill>
                  <a:srgbClr val="78909C"/>
                </a:solidFill>
                <a:latin typeface="Malgun Gothic" pitchFamily="34" charset="0"/>
                <a:ea typeface="Malgun Gothic" pitchFamily="34" charset="-122"/>
                <a:cs typeface="Malgun Gothic" pitchFamily="34" charset="-120"/>
              </a:rPr>
              <a:t>   Why not Bayesian credible interval?</a:t>
            </a:r>
            <a:endParaRPr lang="en-US" sz="1100" dirty="0"/>
          </a:p>
        </p:txBody>
      </p:sp>
      <p:sp>
        <p:nvSpPr>
          <p:cNvPr id="14" name="Shape 12"/>
          <p:cNvSpPr/>
          <p:nvPr/>
        </p:nvSpPr>
        <p:spPr>
          <a:xfrm>
            <a:off x="731520" y="2935224"/>
            <a:ext cx="7680960" cy="457200"/>
          </a:xfrm>
          <a:prstGeom prst="roundRect">
            <a:avLst>
              <a:gd name="adj" fmla="val 16000"/>
            </a:avLst>
          </a:prstGeom>
          <a:solidFill>
            <a:srgbClr val="FFFFFF"/>
          </a:solidFill>
          <a:ln w="12700">
            <a:solidFill>
              <a:srgbClr val="FFB300"/>
            </a:solidFill>
            <a:prstDash val="solid"/>
          </a:ln>
        </p:spPr>
      </p:sp>
      <p:sp>
        <p:nvSpPr>
          <p:cNvPr id="15" name="Text 13"/>
          <p:cNvSpPr/>
          <p:nvPr/>
        </p:nvSpPr>
        <p:spPr>
          <a:xfrm>
            <a:off x="822960" y="2999232"/>
            <a:ext cx="365760" cy="329184"/>
          </a:xfrm>
          <a:prstGeom prst="rect">
            <a:avLst/>
          </a:prstGeom>
          <a:noFill/>
          <a:ln/>
        </p:spPr>
        <p:txBody>
          <a:bodyPr wrap="square" lIns="0" tIns="0" rIns="0" bIns="0" rtlCol="0" anchor="ctr"/>
          <a:lstStyle/>
          <a:p>
            <a:pPr algn="ctr" indent="0" marL="0">
              <a:buNone/>
            </a:pPr>
            <a:r>
              <a:rPr lang="en-US" sz="1400" b="1" dirty="0">
                <a:solidFill>
                  <a:srgbClr val="FFB300"/>
                </a:solidFill>
                <a:latin typeface="Malgun Gothic" pitchFamily="34" charset="0"/>
                <a:ea typeface="Malgun Gothic" pitchFamily="34" charset="-122"/>
                <a:cs typeface="Malgun Gothic" pitchFamily="34" charset="-120"/>
              </a:rPr>
              <a:t>Q</a:t>
            </a:r>
            <a:endParaRPr lang="en-US" sz="1400" dirty="0"/>
          </a:p>
        </p:txBody>
      </p:sp>
      <p:sp>
        <p:nvSpPr>
          <p:cNvPr id="16" name="Text 14"/>
          <p:cNvSpPr/>
          <p:nvPr/>
        </p:nvSpPr>
        <p:spPr>
          <a:xfrm>
            <a:off x="1280160" y="2962656"/>
            <a:ext cx="7040880" cy="402336"/>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Per-phase 7개 대신 phase 를 feature 로 넣으면?</a:t>
            </a:r>
            <a:pPr indent="0" marL="0">
              <a:buNone/>
            </a:pPr>
            <a:r>
              <a:rPr lang="en-US" sz="900" i="1" dirty="0">
                <a:solidFill>
                  <a:srgbClr val="78909C"/>
                </a:solidFill>
                <a:latin typeface="Malgun Gothic" pitchFamily="34" charset="0"/>
                <a:ea typeface="Malgun Gothic" pitchFamily="34" charset="-122"/>
                <a:cs typeface="Malgun Gothic" pitchFamily="34" charset="-120"/>
              </a:rPr>
              <a:t>   Why not just use phase as a feature?</a:t>
            </a:r>
            <a:endParaRPr lang="en-US" sz="1100" dirty="0"/>
          </a:p>
        </p:txBody>
      </p:sp>
      <p:sp>
        <p:nvSpPr>
          <p:cNvPr id="17" name="Shape 15"/>
          <p:cNvSpPr/>
          <p:nvPr/>
        </p:nvSpPr>
        <p:spPr>
          <a:xfrm>
            <a:off x="731520" y="3465576"/>
            <a:ext cx="7680960" cy="457200"/>
          </a:xfrm>
          <a:prstGeom prst="roundRect">
            <a:avLst>
              <a:gd name="adj" fmla="val 16000"/>
            </a:avLst>
          </a:prstGeom>
          <a:solidFill>
            <a:srgbClr val="FFFFFF"/>
          </a:solidFill>
          <a:ln w="12700">
            <a:solidFill>
              <a:srgbClr val="EF5350"/>
            </a:solidFill>
            <a:prstDash val="solid"/>
          </a:ln>
        </p:spPr>
      </p:sp>
      <p:sp>
        <p:nvSpPr>
          <p:cNvPr id="18" name="Text 16"/>
          <p:cNvSpPr/>
          <p:nvPr/>
        </p:nvSpPr>
        <p:spPr>
          <a:xfrm>
            <a:off x="822960" y="3529584"/>
            <a:ext cx="365760" cy="329184"/>
          </a:xfrm>
          <a:prstGeom prst="rect">
            <a:avLst/>
          </a:prstGeom>
          <a:noFill/>
          <a:ln/>
        </p:spPr>
        <p:txBody>
          <a:bodyPr wrap="square" lIns="0" tIns="0" rIns="0" bIns="0" rtlCol="0" anchor="ctr"/>
          <a:lstStyle/>
          <a:p>
            <a:pPr algn="ctr" indent="0" marL="0">
              <a:buNone/>
            </a:pPr>
            <a:r>
              <a:rPr lang="en-US" sz="1400" b="1" dirty="0">
                <a:solidFill>
                  <a:srgbClr val="EF5350"/>
                </a:solidFill>
                <a:latin typeface="Malgun Gothic" pitchFamily="34" charset="0"/>
                <a:ea typeface="Malgun Gothic" pitchFamily="34" charset="-122"/>
                <a:cs typeface="Malgun Gothic" pitchFamily="34" charset="-120"/>
              </a:rPr>
              <a:t>Q</a:t>
            </a:r>
            <a:endParaRPr lang="en-US" sz="1400" dirty="0"/>
          </a:p>
        </p:txBody>
      </p:sp>
      <p:sp>
        <p:nvSpPr>
          <p:cNvPr id="19" name="Text 17"/>
          <p:cNvSpPr/>
          <p:nvPr/>
        </p:nvSpPr>
        <p:spPr>
          <a:xfrm>
            <a:off x="1280160" y="3493008"/>
            <a:ext cx="7040880" cy="402336"/>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5.7M 행 전부 말고 샘플만 써도 되나요?</a:t>
            </a:r>
            <a:pPr indent="0" marL="0">
              <a:buNone/>
            </a:pPr>
            <a:r>
              <a:rPr lang="en-US" sz="900" i="1" dirty="0">
                <a:solidFill>
                  <a:srgbClr val="78909C"/>
                </a:solidFill>
                <a:latin typeface="Malgun Gothic" pitchFamily="34" charset="0"/>
                <a:ea typeface="Malgun Gothic" pitchFamily="34" charset="-122"/>
                <a:cs typeface="Malgun Gothic" pitchFamily="34" charset="-120"/>
              </a:rPr>
              <a:t>   Is 10% sampling OK?</a:t>
            </a:r>
            <a:endParaRPr lang="en-US" sz="1100" dirty="0"/>
          </a:p>
        </p:txBody>
      </p:sp>
      <p:sp>
        <p:nvSpPr>
          <p:cNvPr id="20" name="Shape 18"/>
          <p:cNvSpPr/>
          <p:nvPr/>
        </p:nvSpPr>
        <p:spPr>
          <a:xfrm>
            <a:off x="731520" y="3995928"/>
            <a:ext cx="7680960" cy="457200"/>
          </a:xfrm>
          <a:prstGeom prst="roundRect">
            <a:avLst>
              <a:gd name="adj" fmla="val 16000"/>
            </a:avLst>
          </a:prstGeom>
          <a:solidFill>
            <a:srgbClr val="FFFFFF"/>
          </a:solidFill>
          <a:ln w="12700">
            <a:solidFill>
              <a:srgbClr val="8E24AA"/>
            </a:solidFill>
            <a:prstDash val="solid"/>
          </a:ln>
        </p:spPr>
      </p:sp>
      <p:sp>
        <p:nvSpPr>
          <p:cNvPr id="21" name="Text 19"/>
          <p:cNvSpPr/>
          <p:nvPr/>
        </p:nvSpPr>
        <p:spPr>
          <a:xfrm>
            <a:off x="822960" y="4059936"/>
            <a:ext cx="365760" cy="329184"/>
          </a:xfrm>
          <a:prstGeom prst="rect">
            <a:avLst/>
          </a:prstGeom>
          <a:noFill/>
          <a:ln/>
        </p:spPr>
        <p:txBody>
          <a:bodyPr wrap="square" lIns="0" tIns="0" rIns="0" bIns="0" rtlCol="0" anchor="ctr"/>
          <a:lstStyle/>
          <a:p>
            <a:pPr algn="ctr" indent="0" marL="0">
              <a:buNone/>
            </a:pPr>
            <a:r>
              <a:rPr lang="en-US" sz="1400" b="1" dirty="0">
                <a:solidFill>
                  <a:srgbClr val="8E24AA"/>
                </a:solidFill>
                <a:latin typeface="Malgun Gothic" pitchFamily="34" charset="0"/>
                <a:ea typeface="Malgun Gothic" pitchFamily="34" charset="-122"/>
                <a:cs typeface="Malgun Gothic" pitchFamily="34" charset="-120"/>
              </a:rPr>
              <a:t>Q</a:t>
            </a:r>
            <a:endParaRPr lang="en-US" sz="1400" dirty="0"/>
          </a:p>
        </p:txBody>
      </p:sp>
      <p:sp>
        <p:nvSpPr>
          <p:cNvPr id="22" name="Text 20"/>
          <p:cNvSpPr/>
          <p:nvPr/>
        </p:nvSpPr>
        <p:spPr>
          <a:xfrm>
            <a:off x="1280160" y="4023360"/>
            <a:ext cx="7040880" cy="402336"/>
          </a:xfrm>
          <a:prstGeom prst="rect">
            <a:avLst/>
          </a:prstGeom>
          <a:noFill/>
          <a:ln/>
        </p:spPr>
        <p:txBody>
          <a:bodyPr wrap="square" lIns="0" tIns="0" rIns="0" bIns="0" rtlCol="0" anchor="ctr"/>
          <a:lstStyle/>
          <a:p>
            <a:pPr indent="0" marL="0">
              <a:buNone/>
            </a:pPr>
            <a:r>
              <a:rPr lang="en-US" sz="1100" b="1" dirty="0">
                <a:solidFill>
                  <a:srgbClr val="0B1F3A"/>
                </a:solidFill>
                <a:latin typeface="Malgun Gothic" pitchFamily="34" charset="0"/>
                <a:ea typeface="Malgun Gothic" pitchFamily="34" charset="-122"/>
                <a:cs typeface="Malgun Gothic" pitchFamily="34" charset="-120"/>
              </a:rPr>
              <a:t>RAG 161 chunks 로 충분한가요?</a:t>
            </a:r>
            <a:pPr indent="0" marL="0">
              <a:buNone/>
            </a:pPr>
            <a:r>
              <a:rPr lang="en-US" sz="900" i="1" dirty="0">
                <a:solidFill>
                  <a:srgbClr val="78909C"/>
                </a:solidFill>
                <a:latin typeface="Malgun Gothic" pitchFamily="34" charset="0"/>
                <a:ea typeface="Malgun Gothic" pitchFamily="34" charset="-122"/>
                <a:cs typeface="Malgun Gothic" pitchFamily="34" charset="-120"/>
              </a:rPr>
              <a:t>   Is 161 chunks enough for RAG?</a:t>
            </a:r>
            <a:endParaRPr lang="en-US" sz="1100" dirty="0"/>
          </a:p>
        </p:txBody>
      </p:sp>
      <p:sp>
        <p:nvSpPr>
          <p:cNvPr id="23" name="Shape 21"/>
          <p:cNvSpPr/>
          <p:nvPr/>
        </p:nvSpPr>
        <p:spPr>
          <a:xfrm>
            <a:off x="0" y="4892040"/>
            <a:ext cx="9144000" cy="256032"/>
          </a:xfrm>
          <a:prstGeom prst="rect">
            <a:avLst/>
          </a:prstGeom>
          <a:solidFill>
            <a:srgbClr val="0B1F3A"/>
          </a:solidFill>
          <a:ln w="12700">
            <a:solidFill>
              <a:srgbClr val="0B1F3A"/>
            </a:solidFill>
            <a:prstDash val="solid"/>
          </a:ln>
        </p:spPr>
      </p:sp>
      <p:sp>
        <p:nvSpPr>
          <p:cNvPr id="24" name="Text 22"/>
          <p:cNvSpPr/>
          <p:nvPr/>
        </p:nvSpPr>
        <p:spPr>
          <a:xfrm>
            <a:off x="274320" y="4910328"/>
            <a:ext cx="5486400" cy="219456"/>
          </a:xfrm>
          <a:prstGeom prst="rect">
            <a:avLst/>
          </a:prstGeom>
          <a:noFill/>
          <a:ln/>
        </p:spPr>
        <p:txBody>
          <a:bodyPr wrap="square" lIns="0" tIns="0" rIns="0" bIns="0" rtlCol="0" anchor="ctr"/>
          <a:lstStyle/>
          <a:p>
            <a:pPr indent="0" marL="0">
              <a:buNone/>
            </a:pPr>
            <a:r>
              <a:rPr lang="en-US" sz="900" dirty="0">
                <a:solidFill>
                  <a:srgbClr val="E3F2FD"/>
                </a:solidFill>
                <a:latin typeface="Malgun Gothic" pitchFamily="34" charset="0"/>
                <a:ea typeface="Malgun Gothic" pitchFamily="34" charset="-122"/>
                <a:cs typeface="Malgun Gothic" pitchFamily="34" charset="-120"/>
              </a:rPr>
              <a:t>SkyOps Intelligence · 데이터 교육용 자료 · 2026-04-19</a:t>
            </a:r>
            <a:endParaRPr lang="en-US" sz="900" dirty="0"/>
          </a:p>
        </p:txBody>
      </p:sp>
      <p:sp>
        <p:nvSpPr>
          <p:cNvPr id="25" name="Text 23"/>
          <p:cNvSpPr/>
          <p:nvPr/>
        </p:nvSpPr>
        <p:spPr>
          <a:xfrm>
            <a:off x="8229600" y="4910328"/>
            <a:ext cx="731520" cy="219456"/>
          </a:xfrm>
          <a:prstGeom prst="rect">
            <a:avLst/>
          </a:prstGeom>
          <a:noFill/>
          <a:ln/>
        </p:spPr>
        <p:txBody>
          <a:bodyPr wrap="square" lIns="0" tIns="0" rIns="0" bIns="0" rtlCol="0" anchor="ctr"/>
          <a:lstStyle/>
          <a:p>
            <a:pPr algn="r" indent="0" marL="0">
              <a:buNone/>
            </a:pPr>
            <a:r>
              <a:rPr lang="en-US" sz="900" dirty="0">
                <a:solidFill>
                  <a:srgbClr val="E3F2FD"/>
                </a:solidFill>
                <a:latin typeface="Malgun Gothic" pitchFamily="34" charset="0"/>
                <a:ea typeface="Malgun Gothic" pitchFamily="34" charset="-122"/>
                <a:cs typeface="Malgun Gothic" pitchFamily="34" charset="-120"/>
              </a:rPr>
              <a:t>29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1005840"/>
            <a:ext cx="8229600" cy="731520"/>
          </a:xfrm>
          <a:prstGeom prst="rect">
            <a:avLst/>
          </a:prstGeom>
          <a:noFill/>
          <a:ln/>
        </p:spPr>
        <p:txBody>
          <a:bodyPr wrap="square" lIns="0" tIns="0" rIns="0" bIns="0" rtlCol="0" anchor="ctr"/>
          <a:lstStyle/>
          <a:p>
            <a:pPr algn="ctr" indent="0" marL="0">
              <a:buNone/>
            </a:pPr>
            <a:r>
              <a:rPr lang="en-US" sz="5200" b="1" dirty="0">
                <a:solidFill>
                  <a:srgbClr val="FFFFFF"/>
                </a:solidFill>
                <a:latin typeface="Malgun Gothic" pitchFamily="34" charset="0"/>
                <a:ea typeface="Malgun Gothic" pitchFamily="34" charset="-122"/>
                <a:cs typeface="Malgun Gothic" pitchFamily="34" charset="-120"/>
              </a:rPr>
              <a:t>감사합니다</a:t>
            </a:r>
            <a:endParaRPr lang="en-US" sz="5200" dirty="0"/>
          </a:p>
        </p:txBody>
      </p:sp>
      <p:sp>
        <p:nvSpPr>
          <p:cNvPr id="3" name="Text 1"/>
          <p:cNvSpPr/>
          <p:nvPr/>
        </p:nvSpPr>
        <p:spPr>
          <a:xfrm>
            <a:off x="457200" y="1828800"/>
            <a:ext cx="8229600" cy="365760"/>
          </a:xfrm>
          <a:prstGeom prst="rect">
            <a:avLst/>
          </a:prstGeom>
          <a:noFill/>
          <a:ln/>
        </p:spPr>
        <p:txBody>
          <a:bodyPr wrap="square" lIns="0" tIns="0" rIns="0" bIns="0" rtlCol="0" anchor="ctr"/>
          <a:lstStyle/>
          <a:p>
            <a:pPr algn="ctr" indent="0" marL="0">
              <a:buNone/>
            </a:pPr>
            <a:r>
              <a:rPr lang="en-US" sz="1800" i="1" dirty="0">
                <a:solidFill>
                  <a:srgbClr val="E3F2FD"/>
                </a:solidFill>
                <a:latin typeface="Malgun Gothic" pitchFamily="34" charset="0"/>
                <a:ea typeface="Malgun Gothic" pitchFamily="34" charset="-122"/>
                <a:cs typeface="Malgun Gothic" pitchFamily="34" charset="-120"/>
              </a:rPr>
              <a:t>Thank You — Questions Welcome</a:t>
            </a:r>
            <a:endParaRPr lang="en-US" sz="1800" dirty="0"/>
          </a:p>
        </p:txBody>
      </p:sp>
      <p:sp>
        <p:nvSpPr>
          <p:cNvPr id="4" name="Shape 2"/>
          <p:cNvSpPr/>
          <p:nvPr/>
        </p:nvSpPr>
        <p:spPr>
          <a:xfrm>
            <a:off x="914400" y="2560320"/>
            <a:ext cx="7315200" cy="1783080"/>
          </a:xfrm>
          <a:prstGeom prst="roundRect">
            <a:avLst>
              <a:gd name="adj" fmla="val 5128"/>
            </a:avLst>
          </a:prstGeom>
          <a:solidFill>
            <a:srgbClr val="FAFAFA"/>
          </a:solidFill>
          <a:ln w="12700">
            <a:solidFill>
              <a:srgbClr val="FFB300"/>
            </a:solidFill>
            <a:prstDash val="solid"/>
          </a:ln>
        </p:spPr>
      </p:sp>
      <p:sp>
        <p:nvSpPr>
          <p:cNvPr id="5" name="Text 3"/>
          <p:cNvSpPr/>
          <p:nvPr/>
        </p:nvSpPr>
        <p:spPr>
          <a:xfrm>
            <a:off x="1097280" y="2651760"/>
            <a:ext cx="6949440" cy="274320"/>
          </a:xfrm>
          <a:prstGeom prst="rect">
            <a:avLst/>
          </a:prstGeom>
          <a:noFill/>
          <a:ln/>
        </p:spPr>
        <p:txBody>
          <a:bodyPr wrap="square" lIns="0" tIns="0" rIns="0" bIns="0" rtlCol="0" anchor="ctr"/>
          <a:lstStyle/>
          <a:p>
            <a:pPr indent="0" marL="0">
              <a:buNone/>
            </a:pPr>
            <a:r>
              <a:rPr lang="en-US" sz="1300" b="1" dirty="0">
                <a:solidFill>
                  <a:srgbClr val="0B1F3A"/>
                </a:solidFill>
                <a:latin typeface="Malgun Gothic" pitchFamily="34" charset="0"/>
                <a:ea typeface="Malgun Gothic" pitchFamily="34" charset="-122"/>
                <a:cs typeface="Malgun Gothic" pitchFamily="34" charset="-120"/>
              </a:rPr>
              <a:t>📚  Resources</a:t>
            </a:r>
            <a:endParaRPr lang="en-US" sz="1300" dirty="0"/>
          </a:p>
        </p:txBody>
      </p:sp>
      <p:sp>
        <p:nvSpPr>
          <p:cNvPr id="6" name="Text 4"/>
          <p:cNvSpPr/>
          <p:nvPr/>
        </p:nvSpPr>
        <p:spPr>
          <a:xfrm>
            <a:off x="1188720" y="2971800"/>
            <a:ext cx="365760" cy="219456"/>
          </a:xfrm>
          <a:prstGeom prst="rect">
            <a:avLst/>
          </a:prstGeom>
          <a:noFill/>
          <a:ln/>
        </p:spPr>
        <p:txBody>
          <a:bodyPr wrap="square" lIns="0" tIns="0" rIns="0" bIns="0" rtlCol="0" anchor="ctr"/>
          <a:lstStyle/>
          <a:p>
            <a:pPr algn="ctr" indent="0" marL="0">
              <a:buNone/>
            </a:pPr>
            <a:r>
              <a:rPr lang="en-US" sz="1300" dirty="0">
                <a:solidFill>
                  <a:srgbClr val="000000"/>
                </a:solidFill>
                <a:latin typeface="Malgun Gothic" pitchFamily="34" charset="0"/>
                <a:ea typeface="Malgun Gothic" pitchFamily="34" charset="-122"/>
                <a:cs typeface="Malgun Gothic" pitchFamily="34" charset="-120"/>
              </a:rPr>
              <a:t>🐙</a:t>
            </a:r>
            <a:endParaRPr lang="en-US" sz="1300" dirty="0"/>
          </a:p>
        </p:txBody>
      </p:sp>
      <p:sp>
        <p:nvSpPr>
          <p:cNvPr id="7" name="Text 5"/>
          <p:cNvSpPr/>
          <p:nvPr/>
        </p:nvSpPr>
        <p:spPr>
          <a:xfrm>
            <a:off x="1600200" y="2971800"/>
            <a:ext cx="1645920" cy="219456"/>
          </a:xfrm>
          <a:prstGeom prst="rect">
            <a:avLst/>
          </a:prstGeom>
          <a:noFill/>
          <a:ln/>
        </p:spPr>
        <p:txBody>
          <a:bodyPr wrap="square" lIns="0" tIns="0" rIns="0" bIns="0" rtlCol="0" anchor="ctr"/>
          <a:lstStyle/>
          <a:p>
            <a:pPr indent="0" marL="0">
              <a:buNone/>
            </a:pPr>
            <a:r>
              <a:rPr lang="en-US" sz="1100" b="1" dirty="0">
                <a:solidFill>
                  <a:srgbClr val="1E88E5"/>
                </a:solidFill>
                <a:latin typeface="Malgun Gothic" pitchFamily="34" charset="0"/>
                <a:ea typeface="Malgun Gothic" pitchFamily="34" charset="-122"/>
                <a:cs typeface="Malgun Gothic" pitchFamily="34" charset="-120"/>
              </a:rPr>
              <a:t>GitHub</a:t>
            </a:r>
            <a:endParaRPr lang="en-US" sz="1100" dirty="0"/>
          </a:p>
        </p:txBody>
      </p:sp>
      <p:sp>
        <p:nvSpPr>
          <p:cNvPr id="8" name="Text 6"/>
          <p:cNvSpPr/>
          <p:nvPr/>
        </p:nvSpPr>
        <p:spPr>
          <a:xfrm>
            <a:off x="3291840" y="2971800"/>
            <a:ext cx="4846320" cy="219456"/>
          </a:xfrm>
          <a:prstGeom prst="rect">
            <a:avLst/>
          </a:prstGeom>
          <a:noFill/>
          <a:ln/>
        </p:spPr>
        <p:txBody>
          <a:bodyPr wrap="square" lIns="0" tIns="0" rIns="0" bIns="0" rtlCol="0" anchor="ctr"/>
          <a:lstStyle/>
          <a:p>
            <a:pPr indent="0" marL="0">
              <a:buNone/>
            </a:pPr>
            <a:r>
              <a:rPr lang="en-US" sz="1000" dirty="0">
                <a:solidFill>
                  <a:srgbClr val="37474F"/>
                </a:solidFill>
                <a:latin typeface="Consolas" pitchFamily="34" charset="0"/>
                <a:ea typeface="Consolas" pitchFamily="34" charset="-122"/>
                <a:cs typeface="Consolas" pitchFamily="34" charset="-120"/>
              </a:rPr>
              <a:t>github.com/biz-doublej/SkyOps-Intelligence</a:t>
            </a:r>
            <a:endParaRPr lang="en-US" sz="1000" dirty="0"/>
          </a:p>
        </p:txBody>
      </p:sp>
      <p:sp>
        <p:nvSpPr>
          <p:cNvPr id="9" name="Text 7"/>
          <p:cNvSpPr/>
          <p:nvPr/>
        </p:nvSpPr>
        <p:spPr>
          <a:xfrm>
            <a:off x="1188720" y="3227832"/>
            <a:ext cx="365760" cy="219456"/>
          </a:xfrm>
          <a:prstGeom prst="rect">
            <a:avLst/>
          </a:prstGeom>
          <a:noFill/>
          <a:ln/>
        </p:spPr>
        <p:txBody>
          <a:bodyPr wrap="square" lIns="0" tIns="0" rIns="0" bIns="0" rtlCol="0" anchor="ctr"/>
          <a:lstStyle/>
          <a:p>
            <a:pPr algn="ctr" indent="0" marL="0">
              <a:buNone/>
            </a:pPr>
            <a:r>
              <a:rPr lang="en-US" sz="1300" dirty="0">
                <a:solidFill>
                  <a:srgbClr val="000000"/>
                </a:solidFill>
                <a:latin typeface="Malgun Gothic" pitchFamily="34" charset="0"/>
                <a:ea typeface="Malgun Gothic" pitchFamily="34" charset="-122"/>
                <a:cs typeface="Malgun Gothic" pitchFamily="34" charset="-120"/>
              </a:rPr>
              <a:t>📘</a:t>
            </a:r>
            <a:endParaRPr lang="en-US" sz="1300" dirty="0"/>
          </a:p>
        </p:txBody>
      </p:sp>
      <p:sp>
        <p:nvSpPr>
          <p:cNvPr id="10" name="Text 8"/>
          <p:cNvSpPr/>
          <p:nvPr/>
        </p:nvSpPr>
        <p:spPr>
          <a:xfrm>
            <a:off x="1600200" y="3227832"/>
            <a:ext cx="1645920" cy="219456"/>
          </a:xfrm>
          <a:prstGeom prst="rect">
            <a:avLst/>
          </a:prstGeom>
          <a:noFill/>
          <a:ln/>
        </p:spPr>
        <p:txBody>
          <a:bodyPr wrap="square" lIns="0" tIns="0" rIns="0" bIns="0" rtlCol="0" anchor="ctr"/>
          <a:lstStyle/>
          <a:p>
            <a:pPr indent="0" marL="0">
              <a:buNone/>
            </a:pPr>
            <a:r>
              <a:rPr lang="en-US" sz="1100" b="1" dirty="0">
                <a:solidFill>
                  <a:srgbClr val="1E88E5"/>
                </a:solidFill>
                <a:latin typeface="Malgun Gothic" pitchFamily="34" charset="0"/>
                <a:ea typeface="Malgun Gothic" pitchFamily="34" charset="-122"/>
                <a:cs typeface="Malgun Gothic" pitchFamily="34" charset="-120"/>
              </a:rPr>
              <a:t>Data docs</a:t>
            </a:r>
            <a:endParaRPr lang="en-US" sz="1100" dirty="0"/>
          </a:p>
        </p:txBody>
      </p:sp>
      <p:sp>
        <p:nvSpPr>
          <p:cNvPr id="11" name="Text 9"/>
          <p:cNvSpPr/>
          <p:nvPr/>
        </p:nvSpPr>
        <p:spPr>
          <a:xfrm>
            <a:off x="3291840" y="3227832"/>
            <a:ext cx="4846320" cy="219456"/>
          </a:xfrm>
          <a:prstGeom prst="rect">
            <a:avLst/>
          </a:prstGeom>
          <a:noFill/>
          <a:ln/>
        </p:spPr>
        <p:txBody>
          <a:bodyPr wrap="square" lIns="0" tIns="0" rIns="0" bIns="0" rtlCol="0" anchor="ctr"/>
          <a:lstStyle/>
          <a:p>
            <a:pPr indent="0" marL="0">
              <a:buNone/>
            </a:pPr>
            <a:r>
              <a:rPr lang="en-US" sz="1000" dirty="0">
                <a:solidFill>
                  <a:srgbClr val="37474F"/>
                </a:solidFill>
                <a:latin typeface="Consolas" pitchFamily="34" charset="0"/>
                <a:ea typeface="Consolas" pitchFamily="34" charset="-122"/>
                <a:cs typeface="Consolas" pitchFamily="34" charset="-120"/>
              </a:rPr>
              <a:t>docs/data_collection.md</a:t>
            </a:r>
            <a:endParaRPr lang="en-US" sz="1000" dirty="0"/>
          </a:p>
        </p:txBody>
      </p:sp>
      <p:sp>
        <p:nvSpPr>
          <p:cNvPr id="12" name="Text 10"/>
          <p:cNvSpPr/>
          <p:nvPr/>
        </p:nvSpPr>
        <p:spPr>
          <a:xfrm>
            <a:off x="1188720" y="3483864"/>
            <a:ext cx="365760" cy="219456"/>
          </a:xfrm>
          <a:prstGeom prst="rect">
            <a:avLst/>
          </a:prstGeom>
          <a:noFill/>
          <a:ln/>
        </p:spPr>
        <p:txBody>
          <a:bodyPr wrap="square" lIns="0" tIns="0" rIns="0" bIns="0" rtlCol="0" anchor="ctr"/>
          <a:lstStyle/>
          <a:p>
            <a:pPr algn="ctr" indent="0" marL="0">
              <a:buNone/>
            </a:pPr>
            <a:r>
              <a:rPr lang="en-US" sz="1300" dirty="0">
                <a:solidFill>
                  <a:srgbClr val="000000"/>
                </a:solidFill>
                <a:latin typeface="Malgun Gothic" pitchFamily="34" charset="0"/>
                <a:ea typeface="Malgun Gothic" pitchFamily="34" charset="-122"/>
                <a:cs typeface="Malgun Gothic" pitchFamily="34" charset="-120"/>
              </a:rPr>
              <a:t>🧑‍🏫</a:t>
            </a:r>
            <a:endParaRPr lang="en-US" sz="1300" dirty="0"/>
          </a:p>
        </p:txBody>
      </p:sp>
      <p:sp>
        <p:nvSpPr>
          <p:cNvPr id="13" name="Text 11"/>
          <p:cNvSpPr/>
          <p:nvPr/>
        </p:nvSpPr>
        <p:spPr>
          <a:xfrm>
            <a:off x="1600200" y="3483864"/>
            <a:ext cx="1645920" cy="219456"/>
          </a:xfrm>
          <a:prstGeom prst="rect">
            <a:avLst/>
          </a:prstGeom>
          <a:noFill/>
          <a:ln/>
        </p:spPr>
        <p:txBody>
          <a:bodyPr wrap="square" lIns="0" tIns="0" rIns="0" bIns="0" rtlCol="0" anchor="ctr"/>
          <a:lstStyle/>
          <a:p>
            <a:pPr indent="0" marL="0">
              <a:buNone/>
            </a:pPr>
            <a:r>
              <a:rPr lang="en-US" sz="1100" b="1" dirty="0">
                <a:solidFill>
                  <a:srgbClr val="1E88E5"/>
                </a:solidFill>
                <a:latin typeface="Malgun Gothic" pitchFamily="34" charset="0"/>
                <a:ea typeface="Malgun Gothic" pitchFamily="34" charset="-122"/>
                <a:cs typeface="Malgun Gothic" pitchFamily="34" charset="-120"/>
              </a:rPr>
              <a:t>Reproduction</a:t>
            </a:r>
            <a:endParaRPr lang="en-US" sz="1100" dirty="0"/>
          </a:p>
        </p:txBody>
      </p:sp>
      <p:sp>
        <p:nvSpPr>
          <p:cNvPr id="14" name="Text 12"/>
          <p:cNvSpPr/>
          <p:nvPr/>
        </p:nvSpPr>
        <p:spPr>
          <a:xfrm>
            <a:off x="3291840" y="3483864"/>
            <a:ext cx="4846320" cy="219456"/>
          </a:xfrm>
          <a:prstGeom prst="rect">
            <a:avLst/>
          </a:prstGeom>
          <a:noFill/>
          <a:ln/>
        </p:spPr>
        <p:txBody>
          <a:bodyPr wrap="square" lIns="0" tIns="0" rIns="0" bIns="0" rtlCol="0" anchor="ctr"/>
          <a:lstStyle/>
          <a:p>
            <a:pPr indent="0" marL="0">
              <a:buNone/>
            </a:pPr>
            <a:r>
              <a:rPr lang="en-US" sz="1000" dirty="0">
                <a:solidFill>
                  <a:srgbClr val="37474F"/>
                </a:solidFill>
                <a:latin typeface="Consolas" pitchFamily="34" charset="0"/>
                <a:ea typeface="Consolas" pitchFamily="34" charset="-122"/>
                <a:cs typeface="Consolas" pitchFamily="34" charset="-120"/>
              </a:rPr>
              <a:t>docs/reproduction_guide.md (564 lines)</a:t>
            </a:r>
            <a:endParaRPr lang="en-US" sz="1000" dirty="0"/>
          </a:p>
        </p:txBody>
      </p:sp>
      <p:sp>
        <p:nvSpPr>
          <p:cNvPr id="15" name="Text 13"/>
          <p:cNvSpPr/>
          <p:nvPr/>
        </p:nvSpPr>
        <p:spPr>
          <a:xfrm>
            <a:off x="1188720" y="3739896"/>
            <a:ext cx="365760" cy="219456"/>
          </a:xfrm>
          <a:prstGeom prst="rect">
            <a:avLst/>
          </a:prstGeom>
          <a:noFill/>
          <a:ln/>
        </p:spPr>
        <p:txBody>
          <a:bodyPr wrap="square" lIns="0" tIns="0" rIns="0" bIns="0" rtlCol="0" anchor="ctr"/>
          <a:lstStyle/>
          <a:p>
            <a:pPr algn="ctr" indent="0" marL="0">
              <a:buNone/>
            </a:pPr>
            <a:r>
              <a:rPr lang="en-US" sz="1300" dirty="0">
                <a:solidFill>
                  <a:srgbClr val="000000"/>
                </a:solidFill>
                <a:latin typeface="Malgun Gothic" pitchFamily="34" charset="0"/>
                <a:ea typeface="Malgun Gothic" pitchFamily="34" charset="-122"/>
                <a:cs typeface="Malgun Gothic" pitchFamily="34" charset="-120"/>
              </a:rPr>
              <a:t>📋</a:t>
            </a:r>
            <a:endParaRPr lang="en-US" sz="1300" dirty="0"/>
          </a:p>
        </p:txBody>
      </p:sp>
      <p:sp>
        <p:nvSpPr>
          <p:cNvPr id="16" name="Text 14"/>
          <p:cNvSpPr/>
          <p:nvPr/>
        </p:nvSpPr>
        <p:spPr>
          <a:xfrm>
            <a:off x="1600200" y="3739896"/>
            <a:ext cx="1645920" cy="219456"/>
          </a:xfrm>
          <a:prstGeom prst="rect">
            <a:avLst/>
          </a:prstGeom>
          <a:noFill/>
          <a:ln/>
        </p:spPr>
        <p:txBody>
          <a:bodyPr wrap="square" lIns="0" tIns="0" rIns="0" bIns="0" rtlCol="0" anchor="ctr"/>
          <a:lstStyle/>
          <a:p>
            <a:pPr indent="0" marL="0">
              <a:buNone/>
            </a:pPr>
            <a:r>
              <a:rPr lang="en-US" sz="1100" b="1" dirty="0">
                <a:solidFill>
                  <a:srgbClr val="1E88E5"/>
                </a:solidFill>
                <a:latin typeface="Malgun Gothic" pitchFamily="34" charset="0"/>
                <a:ea typeface="Malgun Gothic" pitchFamily="34" charset="-122"/>
                <a:cs typeface="Malgun Gothic" pitchFamily="34" charset="-120"/>
              </a:rPr>
              <a:t>ADRs 7개</a:t>
            </a:r>
            <a:endParaRPr lang="en-US" sz="1100" dirty="0"/>
          </a:p>
        </p:txBody>
      </p:sp>
      <p:sp>
        <p:nvSpPr>
          <p:cNvPr id="17" name="Text 15"/>
          <p:cNvSpPr/>
          <p:nvPr/>
        </p:nvSpPr>
        <p:spPr>
          <a:xfrm>
            <a:off x="3291840" y="3739896"/>
            <a:ext cx="4846320" cy="219456"/>
          </a:xfrm>
          <a:prstGeom prst="rect">
            <a:avLst/>
          </a:prstGeom>
          <a:noFill/>
          <a:ln/>
        </p:spPr>
        <p:txBody>
          <a:bodyPr wrap="square" lIns="0" tIns="0" rIns="0" bIns="0" rtlCol="0" anchor="ctr"/>
          <a:lstStyle/>
          <a:p>
            <a:pPr indent="0" marL="0">
              <a:buNone/>
            </a:pPr>
            <a:r>
              <a:rPr lang="en-US" sz="1000" dirty="0">
                <a:solidFill>
                  <a:srgbClr val="37474F"/>
                </a:solidFill>
                <a:latin typeface="Consolas" pitchFamily="34" charset="0"/>
                <a:ea typeface="Consolas" pitchFamily="34" charset="-122"/>
                <a:cs typeface="Consolas" pitchFamily="34" charset="-120"/>
              </a:rPr>
              <a:t>docs/adr/ (001~007)</a:t>
            </a:r>
            <a:endParaRPr lang="en-US" sz="1000" dirty="0"/>
          </a:p>
        </p:txBody>
      </p:sp>
      <p:sp>
        <p:nvSpPr>
          <p:cNvPr id="18" name="Text 16"/>
          <p:cNvSpPr/>
          <p:nvPr/>
        </p:nvSpPr>
        <p:spPr>
          <a:xfrm>
            <a:off x="1188720" y="3995928"/>
            <a:ext cx="365760" cy="219456"/>
          </a:xfrm>
          <a:prstGeom prst="rect">
            <a:avLst/>
          </a:prstGeom>
          <a:noFill/>
          <a:ln/>
        </p:spPr>
        <p:txBody>
          <a:bodyPr wrap="square" lIns="0" tIns="0" rIns="0" bIns="0" rtlCol="0" anchor="ctr"/>
          <a:lstStyle/>
          <a:p>
            <a:pPr algn="ctr" indent="0" marL="0">
              <a:buNone/>
            </a:pPr>
            <a:r>
              <a:rPr lang="en-US" sz="1300" dirty="0">
                <a:solidFill>
                  <a:srgbClr val="000000"/>
                </a:solidFill>
                <a:latin typeface="Malgun Gothic" pitchFamily="34" charset="0"/>
                <a:ea typeface="Malgun Gothic" pitchFamily="34" charset="-122"/>
                <a:cs typeface="Malgun Gothic" pitchFamily="34" charset="-120"/>
              </a:rPr>
              <a:t>📧</a:t>
            </a:r>
            <a:endParaRPr lang="en-US" sz="1300" dirty="0"/>
          </a:p>
        </p:txBody>
      </p:sp>
      <p:sp>
        <p:nvSpPr>
          <p:cNvPr id="19" name="Text 17"/>
          <p:cNvSpPr/>
          <p:nvPr/>
        </p:nvSpPr>
        <p:spPr>
          <a:xfrm>
            <a:off x="1600200" y="3995928"/>
            <a:ext cx="1645920" cy="219456"/>
          </a:xfrm>
          <a:prstGeom prst="rect">
            <a:avLst/>
          </a:prstGeom>
          <a:noFill/>
          <a:ln/>
        </p:spPr>
        <p:txBody>
          <a:bodyPr wrap="square" lIns="0" tIns="0" rIns="0" bIns="0" rtlCol="0" anchor="ctr"/>
          <a:lstStyle/>
          <a:p>
            <a:pPr indent="0" marL="0">
              <a:buNone/>
            </a:pPr>
            <a:r>
              <a:rPr lang="en-US" sz="1100" b="1" dirty="0">
                <a:solidFill>
                  <a:srgbClr val="1E88E5"/>
                </a:solidFill>
                <a:latin typeface="Malgun Gothic" pitchFamily="34" charset="0"/>
                <a:ea typeface="Malgun Gothic" pitchFamily="34" charset="-122"/>
                <a:cs typeface="Malgun Gothic" pitchFamily="34" charset="-120"/>
              </a:rPr>
              <a:t>Contact</a:t>
            </a:r>
            <a:endParaRPr lang="en-US" sz="1100" dirty="0"/>
          </a:p>
        </p:txBody>
      </p:sp>
      <p:sp>
        <p:nvSpPr>
          <p:cNvPr id="20" name="Text 18"/>
          <p:cNvSpPr/>
          <p:nvPr/>
        </p:nvSpPr>
        <p:spPr>
          <a:xfrm>
            <a:off x="3291840" y="3995928"/>
            <a:ext cx="4846320" cy="219456"/>
          </a:xfrm>
          <a:prstGeom prst="rect">
            <a:avLst/>
          </a:prstGeom>
          <a:noFill/>
          <a:ln/>
        </p:spPr>
        <p:txBody>
          <a:bodyPr wrap="square" lIns="0" tIns="0" rIns="0" bIns="0" rtlCol="0" anchor="ctr"/>
          <a:lstStyle/>
          <a:p>
            <a:pPr indent="0" marL="0">
              <a:buNone/>
            </a:pPr>
            <a:r>
              <a:rPr lang="en-US" sz="1000" dirty="0">
                <a:solidFill>
                  <a:srgbClr val="37474F"/>
                </a:solidFill>
                <a:latin typeface="Consolas" pitchFamily="34" charset="0"/>
                <a:ea typeface="Consolas" pitchFamily="34" charset="-122"/>
                <a:cs typeface="Consolas" pitchFamily="34" charset="-120"/>
              </a:rPr>
              <a:t>doublej.biz01@gmail.com</a:t>
            </a:r>
            <a:endParaRPr lang="en-US" sz="1000" dirty="0"/>
          </a:p>
        </p:txBody>
      </p:sp>
      <p:sp>
        <p:nvSpPr>
          <p:cNvPr id="21" name="Text 19"/>
          <p:cNvSpPr/>
          <p:nvPr/>
        </p:nvSpPr>
        <p:spPr>
          <a:xfrm>
            <a:off x="457200" y="4526280"/>
            <a:ext cx="8229600" cy="274320"/>
          </a:xfrm>
          <a:prstGeom prst="rect">
            <a:avLst/>
          </a:prstGeom>
          <a:noFill/>
          <a:ln/>
        </p:spPr>
        <p:txBody>
          <a:bodyPr wrap="square" lIns="0" tIns="0" rIns="0" bIns="0" rtlCol="0" anchor="ctr"/>
          <a:lstStyle/>
          <a:p>
            <a:pPr algn="ctr" indent="0" marL="0">
              <a:buNone/>
            </a:pPr>
            <a:r>
              <a:rPr lang="en-US" sz="1100" b="1" dirty="0">
                <a:solidFill>
                  <a:srgbClr val="FFB300"/>
                </a:solidFill>
                <a:latin typeface="Malgun Gothic" pitchFamily="34" charset="0"/>
                <a:ea typeface="Malgun Gothic" pitchFamily="34" charset="-122"/>
                <a:cs typeface="Malgun Gothic" pitchFamily="34" charset="-120"/>
              </a:rPr>
              <a:t>DoubleJ 팀 / 정재원  ·  </a:t>
            </a:r>
            <a:pPr algn="ctr" indent="0" marL="0">
              <a:buNone/>
            </a:pPr>
            <a:r>
              <a:rPr lang="en-US" sz="1100" dirty="0">
                <a:solidFill>
                  <a:srgbClr val="E3F2FD"/>
                </a:solidFill>
                <a:latin typeface="Malgun Gothic" pitchFamily="34" charset="0"/>
                <a:ea typeface="Malgun Gothic" pitchFamily="34" charset="-122"/>
                <a:cs typeface="Malgun Gothic" pitchFamily="34" charset="-120"/>
              </a:rPr>
              <a:t>빅데이터과 캡스톤디자인  ·  </a:t>
            </a:r>
            <a:pPr algn="ctr" indent="0" marL="0">
              <a:buNone/>
            </a:pPr>
            <a:r>
              <a:rPr lang="en-US" sz="1100" i="1" dirty="0">
                <a:solidFill>
                  <a:srgbClr val="78909C"/>
                </a:solidFill>
                <a:latin typeface="Malgun Gothic" pitchFamily="34" charset="0"/>
                <a:ea typeface="Malgun Gothic" pitchFamily="34" charset="-122"/>
                <a:cs typeface="Malgun Gothic" pitchFamily="34" charset="-120"/>
              </a:rPr>
              <a:t>v2.2.0 · 2026-04-19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빅데이터과 캡스톤디자인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SkyOps Intelligence — 항공 데이터 교육용 자료</dc:title>
  <dc:subject>PptxGenJS Presentation</dc:subject>
  <dc:creator>DoubleJ · 정재원</dc:creator>
  <cp:lastModifiedBy>DoubleJ · 정재원</cp:lastModifiedBy>
  <cp:revision>1</cp:revision>
  <dcterms:created xsi:type="dcterms:W3CDTF">2026-04-23T16:47:13Z</dcterms:created>
  <dcterms:modified xsi:type="dcterms:W3CDTF">2026-04-23T16:47:13Z</dcterms:modified>
</cp:coreProperties>
</file>