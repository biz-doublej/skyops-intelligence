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오늘은 SkyOps Intelligence 프로젝트의 '데이터'에 집중해서 설명드립니다. 한국인 학생과 외국인 학생 모두 이해할 수 있도록 한글 설명 옆에 영어 핵심 용어를 병기했습니다. 총 30 장, 약 25~30 분 예상입니다.
Hello. Today's session focuses on the DATA side of SkyOps Intelligence. Korean and English key terms are shown side-by-side. 30 slides, ~25-30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5 가지를 마지막까지 기억해 주세요. 특히 3 번 '시계열 분할' 과 4 번 'feature engineering 의 위력' 은 실제 우리 프로젝트의 P0 / P1 sprint 에서 증명된 사례입니다.
Keep these 5 goals in mind. Points 3 (time-ordered split) and 4 (feature engineering power) were proven in our actual P0 / P1 sprints.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데이터는 항상 같은 흐름입니다 — 센서(측정) → 숫자(digitize) → 저장(storage) → 모델(model). 의료나 항공이나 본질은 같습니다. 이 4 단계를 계속 머릿속에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가지 특성이 왜 '아무 데이터나 쓰면 안 되는가' 를 설명합니다. 실시간 · 고빈도 → Kafka 가 필요. 시계열 → shuffle 금지 (슬라이드 17). 다중 소스 → Schema Registry 필요 (슬라이드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개 소스 중 3 번 FAA SWIM 이 가장 도전적이었고 가장 자랑스러운 성과입니다. 나머지는 쉽게 접근 가능한 공개 데이터지만 SWIM 은 공식 구독 + TLS 인증서 + AIXM XML 파서가 모두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ADS-B 는 자동차의 블랙박스처럼 비행기가 스스로 자기 위치를 방송하는 시스템입니다. 방송 → 땅의 수신기가 받음 → OpenSky 서버가 집계 → 우리가 API 로 받음. 항공기 한 대당 17 개 필드가 10 초마다 들어옵니다.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METAR 는 항공 기상의 국제 표준 포맷입니다. 겉보기엔 암호 같지만 토큰 하나하나가 정확한 의미를 가집니다. 우리 코드는 이걸 파싱해서 JSON → Avro 로 변환해 Kafka 에 publish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대학 캡스톤으로는 드물게 FAA 프로덕션 브로커에 직접 연결했습니다. 219 건을 60 초 안에 파싱 에러 0 으로 받은 로그가 증거입니다. 이게 가능했던 이유는 trust store 설정을 포기하지 않고 세 번 다시 했기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EDA (Exploratory Data Analysis) 단계에서 가장 중요한 발견: 지연의 40% 가 '전편 지연' 에서 온다는 것. 이게 P1 sprint 에서 rotation features 5 개를 추가하게 된 도메인 근거가 되었고, Test R² 를 3.35 배 올려줬습니다.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데이터를 JSON 으로 100 B, CSV 로 60 B, Avro 로 35 B 에 담습니다. 초당 수천 건 오는 Kafka 에서는 이 차이가 누적되어 거대합니다. 그리고 무엇보다 Avro 는 스키마를 강제하기 때문에 장애가 줄어듭니다.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 Registry 는 'producer 가 스키마를 바꿀 때 consumer 를 깨지 않도록' 강제하는 중앙 규칙 서버입니다. BACKWARD 호환 정책은 '새 consumer 가 옛 데이터도 읽을 수 있어야 한다' 는 뜻입니다. 덕분에 장애 시 롤백이 안전합니다.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 단계가 모든 ML 프로젝트의 기초입니다. 각 단계를 뛰어넘으면 반드시 나중에 문제가 생깁니다. 다음 슬라이드부터 각 단계를 하나씩 자세히 설명드리겠습니다.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진짜 원본 데이터는 이렇게 지저분합니다. 'null', '-9999', 음수 거리 같은 sentinel 값, 중복 레코드 등. 이걸 모르고 바로 모델 학습 시키면 쓰레기 입력 → 쓰레기 출력 (GIGO) 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XGBoost 가 인기 있는 이유 중 하나가 이겁니다 — 결측값을 그냥 받아줍니다. 다른 모델 (logistic regression, kNN 등) 은 NaN 이 있으면 아예 학습이 안 됩니다. 실무에서 이 편의성은 엄청난 시간 절약입니다.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기본적인 feature engineering: 시간 분해. 모델은 '2026-04-19 14:30' 이라는 문자열을 아예 읽지 못합니다. hour=14, month=4, is_weekend=1 처럼 숫자로 나눠줘야 XGBoost 가 패턴을 찾습니다.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이 발표에서 가장 중요한 교훈입니다. '모델을 더 크게' 가 아니라 '도메인 지식을 feature 로' 가 정답이었다는 것. 같은 XGBoost 에 피처 5 개만 더했을 뿐인데 Test R² 가 0.10 에서 0.43 으로 3.35 배 올랐습니다.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초심자가 가장 많이 하는 실수입니다. sklearn 의 train_test_split 은 기본값이 shuffle=True 라서 시계열 데이터에 그대로 쓰면 미래 정보가 과거 학습에 새어들어가 성능이 인위적으로 좋아 보입니다. ADR-004 에 이걸 원칙으로 못박고 전체 파이프라인을 수정했습니다.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Bronze 가 있어서 원본을 재해석할 수 있고, Silver 가 있어서 여러 모델이 같은 feature 를 공유하고, Gold 는 모델 소비 + 감사 추적용입니다. 사고 분석 시 '어느 레이어에서 틀어졌나' 를 layer-by-layer 로 추적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데이터 셋으로 만들 수 있는 프로젝트가 8 가지 이상 있습니다. 우리는 이 중 2 개 — 지연 예측과 이상 탐지 — 를 선택했습니다. 왜? 둘 다 관제사의 실제 의사결정에 직접 기여하기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우리가 만든 3 가지 기능. 각각 다른 데이터를 쓰는 것 같지만 공통 파이프라인에서 흘러나옵니다. 지연 예측은 Gold silver_flight_features, 이상 탐지는 Silver aircraft_phase, RAG 는 ChromaDB 161 chunks.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XGBoost 는 2014 년 Tianqi Chen 이 발표한 이후 Kaggle 우승 모델의 사실상 표준입니다. 4 가지 이유 중 가장 실무에서 중요한 것은 3 번 '해석성' — 관제사에게 '왜 이 예측인가' 를 SHAP 으로 설명할 수 있기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Gradient Boosting 의 핵심 비유: 시험 공부할 때 '틀린 문제만 다시 보는 것' 과 같습니다. 첫 모델이 틀린 부분을 다음 모델이 집중 학습 → 그 다음 모델이 또 남은 오차를 학습 → 계속 개선. 200 개 트리의 합으로 강력한 앙상블이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개의 bar 가 모두 0.10 이고 마지막 두 개가 0.43 으로 뛰는 걸 보여주는 이유는 — TimeSeriesSplit (P0) 자체로는 수치가 안 올라갔다는 걸 보여주기 위해서입니다. 진짜 향상은 P1 의 Rotation features 5 개가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항공 사고는 희귀해서 '정상 vs 사고' 라벨이 거의 없습니다. 이 상황에서 Autoencoder 를 쓰면 GPU 필요 + 학습 불안정. Isolation Forest 는 이 두 문제를 모두 해결합니다 — 라벨 불필요 + CPU 분 단위 학습 + 해석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단계별 모델은 7 배의 운영 비용이 들지만, alert fatigue 67% 감소라는 구체적 성과로 정당화됩니다. 각 phase 마다 contamination (이상 예상률) 을 도메인 지식으로 튜닝했습니다 — TAXI 는 조용한 구간이라 0.02, LANDING 은 사고 빈발 구간이라 0.06.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Conformal Prediction 은 수학적으로 '90% 확률로 이 구간에 실제 값이 있다' 를 보장합니다. 분포 가정 없음 (distribution-free). MAPIE 라이브러리로 구현. 실측 coverage 가 정확히 90.00% 나온 것이 증거.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처음 ADS-B 전파부터 관제사 화면에 알림이 뜨기까지 전체 7 단계, p95 5 초 이내에 끝납니다. 각 단계의 지연: Kafka 100ms, Iceberg 조회 500ms, XGBoost 42ms, Conformal 100ms, LLM 2-3s, 나머지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5 가지가 여러분이 이 발표에서 가져가야 할 전부입니다. 특히 2 번과 3 번은 실무에서 가장 많이 실수하는 부분이고, 우리 프로젝트의 P0/P1 sprint 가 그 증거입니다.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5 개. 답변 요약: ① Iceberg = ACID + schema evolution + time-travel. plain parquet 에는 없음. ② Bayesian 은 prior 가정 필요, Conformal 은 분포 가정 없음. ③ 단일 모델은 contamination 을 균일하게 써야 해서 phase 별 3배 차이를 반영 못함. ④ 10% sampling 은 chronological 하게 뽑아서 시간 편향 없게 했음. ⑤ 161 chunks 는 RAGAs 평가에서 faithfulness 0.91 · context_precision 0.85 로 충분 검증됨.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 감사합니다.
Thank you. Questions?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74320"/>
            <a:ext cx="2011680" cy="2011680"/>
          </a:xfrm>
          <a:prstGeom prst="ellipse">
            <a:avLst/>
          </a:prstGeom>
          <a:ln w="12700">
            <a:solidFill>
              <a:srgbClr val="1E88E5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7315200" y="731520"/>
            <a:ext cx="1097280" cy="1097280"/>
          </a:xfrm>
          <a:prstGeom prst="ellipse">
            <a:avLst/>
          </a:prstGeom>
          <a:ln w="12700">
            <a:solidFill>
              <a:srgbClr val="FFB3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0" y="2743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🛫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· EDUCATION · AVIATION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 데이터 이야기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Aviation Data Story — from Raw to Model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어떻게 </a:t>
            </a:r>
            <a:pPr indent="0" marL="0">
              <a:buNone/>
            </a:pPr>
            <a:r>
              <a:rPr lang="en-US" sz="16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pPr indent="0" marL="0">
              <a:buNone/>
            </a:pPr>
            <a:r>
              <a:rPr lang="en-US" sz="16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되고 </a:t>
            </a:r>
            <a:pPr indent="0" marL="0">
              <a:buNone/>
            </a:pPr>
            <a:r>
              <a:rPr lang="en-US" sz="16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정제</a:t>
            </a:r>
            <a:pPr indent="0" marL="0">
              <a:buNone/>
            </a:pPr>
            <a:r>
              <a:rPr lang="en-US" sz="16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되고 </a:t>
            </a:r>
            <a:pPr indent="0" marL="0">
              <a:buNone/>
            </a:pPr>
            <a:r>
              <a:rPr lang="en-US" sz="16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pPr indent="0" marL="0">
              <a:buNone/>
            </a:pPr>
            <a:r>
              <a:rPr lang="en-US" sz="16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되는가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data is collected, transformed, and turned into models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DoubleJ 팀 / 정재원</a:t>
            </a:r>
            <a:pPr indent="0" marL="0">
              <a:buNone/>
            </a:pPr>
            <a:r>
              <a:rPr lang="en-US" sz="12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</a:t>
            </a:r>
            <a:pPr indent="0" marL="0">
              <a:buNone/>
            </a:pPr>
            <a:r>
              <a:rPr lang="en-US" sz="12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빅데이터과 캡스톤디자인</a:t>
            </a:r>
            <a:pPr indent="0" marL="0">
              <a:buNone/>
            </a:pPr>
            <a:r>
              <a:rPr lang="en-US" sz="12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</a:t>
            </a:r>
            <a:pPr indent="0" marL="0">
              <a:buNone/>
            </a:pPr>
            <a:r>
              <a:rPr lang="en-US" sz="1200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2026-04-19 (v2.2.0)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GitHub: biz-doublej/SkyOps-Intelligence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01 · ORIENTATION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목표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Learning Objectives — what you will know after this talk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051560"/>
            <a:ext cx="502920" cy="502920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051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234440" y="1051560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10698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 데이터가 어떻게 생성되는가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71600" y="13075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aviation data is generated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1709928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709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234440" y="1709928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1600" y="17282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 데이터를 어떻게 정제하는가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19659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clean raw 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368296"/>
            <a:ext cx="502920" cy="50292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368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234440" y="2368296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23865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시계열 분할이 중요한가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26243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time-ordered split matters (temporal leakage)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026664"/>
            <a:ext cx="502920" cy="502920"/>
          </a:xfrm>
          <a:prstGeom prst="ellipse">
            <a:avLst/>
          </a:prstGeom>
          <a:solidFill>
            <a:srgbClr val="8E24AA"/>
          </a:solidFill>
          <a:ln w="12700">
            <a:solidFill>
              <a:srgbClr val="8E24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026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234440" y="3026664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8E24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3044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Engineering 이 모델을 어떻게 바꾸는가 (실제 사례: R² +335%)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71600" y="32826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feature engineering transforms models (real case: R² +335%)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685032"/>
            <a:ext cx="502920" cy="502920"/>
          </a:xfrm>
          <a:prstGeom prst="ellipse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3685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1234440" y="3685032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37033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/ Isolation Forest 가 왜 선택됐는가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371600" y="394106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XGBoost / Isolation Forest were the right choice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02 · BASICS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데이터란 무엇인가?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Data? — from measurement to model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📐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1417320" y="1051560"/>
            <a:ext cx="731520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109728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= 세상의 측정값
</a:t>
            </a:r>
            <a:pPr indent="0" marL="0">
              <a:buNone/>
            </a:pPr>
            <a:r>
              <a:rPr lang="en-US" sz="110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= quantified observations of the world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393192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03120"/>
            <a:ext cx="3931920" cy="36576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 (Medical)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2606040"/>
            <a:ext cx="3566160" cy="365760"/>
          </a:xfrm>
          <a:prstGeom prst="rect">
            <a:avLst/>
          </a:prstGeom>
          <a:solidFill>
            <a:srgbClr val="E3F2FD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606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체온계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06040" y="2606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thermometer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86000" y="2990088"/>
            <a:ext cx="0" cy="73152"/>
          </a:xfrm>
          <a:prstGeom prst="line">
            <a:avLst/>
          </a:prstGeom>
          <a:noFill/>
          <a:ln w="25400">
            <a:solidFill>
              <a:srgbClr val="EF535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3090672"/>
            <a:ext cx="3566160" cy="365760"/>
          </a:xfrm>
          <a:prstGeom prst="rect">
            <a:avLst/>
          </a:prstGeom>
          <a:solidFill>
            <a:srgbClr val="E3F2FD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0906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37.5°C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606040" y="30906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numeric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286000" y="3474720"/>
            <a:ext cx="0" cy="73152"/>
          </a:xfrm>
          <a:prstGeom prst="line">
            <a:avLst/>
          </a:prstGeom>
          <a:noFill/>
          <a:ln w="25400">
            <a:solidFill>
              <a:srgbClr val="EF535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40080" y="3575304"/>
            <a:ext cx="3566160" cy="365760"/>
          </a:xfrm>
          <a:prstGeom prst="rect">
            <a:avLst/>
          </a:prstGeom>
          <a:solidFill>
            <a:srgbClr val="E3F2FD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5753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EHR DB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606040" y="357530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286000" y="3959352"/>
            <a:ext cx="0" cy="73152"/>
          </a:xfrm>
          <a:prstGeom prst="line">
            <a:avLst/>
          </a:prstGeom>
          <a:noFill/>
          <a:ln w="25400">
            <a:solidFill>
              <a:srgbClr val="EF535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40080" y="4059936"/>
            <a:ext cx="3566160" cy="365760"/>
          </a:xfrm>
          <a:prstGeom prst="rect">
            <a:avLst/>
          </a:prstGeom>
          <a:solidFill>
            <a:srgbClr val="E3F2FD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0599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 모델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606040" y="405993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 model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754880" y="2103120"/>
            <a:ext cx="393192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5400">
            <a:solidFill>
              <a:srgbClr val="1E88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 (Aviation)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937760" y="2606040"/>
            <a:ext cx="3566160" cy="365760"/>
          </a:xfrm>
          <a:prstGeom prst="rect">
            <a:avLst/>
          </a:prstGeom>
          <a:solidFill>
            <a:srgbClr val="E3F2FD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0" y="2606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레이더 수신기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03720" y="2606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radar receiver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583680" y="2990088"/>
            <a:ext cx="0" cy="73152"/>
          </a:xfrm>
          <a:prstGeom prst="line">
            <a:avLst/>
          </a:prstGeom>
          <a:noFill/>
          <a:ln w="25400">
            <a:solidFill>
              <a:srgbClr val="1E88E5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937760" y="3090672"/>
            <a:ext cx="3566160" cy="365760"/>
          </a:xfrm>
          <a:prstGeom prst="rect">
            <a:avLst/>
          </a:prstGeom>
          <a:solidFill>
            <a:srgbClr val="E3F2FD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0" y="30906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위도/경도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03720" y="30906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lat/lon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583680" y="3474720"/>
            <a:ext cx="0" cy="73152"/>
          </a:xfrm>
          <a:prstGeom prst="line">
            <a:avLst/>
          </a:prstGeom>
          <a:noFill/>
          <a:ln w="25400">
            <a:solidFill>
              <a:srgbClr val="1E88E5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4937760" y="3575304"/>
            <a:ext cx="3566160" cy="365760"/>
          </a:xfrm>
          <a:prstGeom prst="rect">
            <a:avLst/>
          </a:prstGeom>
          <a:solidFill>
            <a:srgbClr val="E3F2FD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0" y="35753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 스트림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903720" y="357530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 stream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583680" y="3959352"/>
            <a:ext cx="0" cy="73152"/>
          </a:xfrm>
          <a:prstGeom prst="line">
            <a:avLst/>
          </a:prstGeom>
          <a:noFill/>
          <a:ln w="25400">
            <a:solidFill>
              <a:srgbClr val="1E88E5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4937760" y="4059936"/>
            <a:ext cx="3566160" cy="365760"/>
          </a:xfrm>
          <a:prstGeom prst="rect">
            <a:avLst/>
          </a:prstGeom>
          <a:solidFill>
            <a:srgbClr val="E3F2FD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29200" y="40599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예측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903720" y="405993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delay prediction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30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02 · BASICS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 데이터의 특성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Characteristics of Aviation Data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05840"/>
            <a:ext cx="109728" cy="169164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188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691640" y="1188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91640" y="15544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Real-time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874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 단위 갱신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updates in seconds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00584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25400">
            <a:solidFill>
              <a:srgbClr val="FFB3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1005840"/>
            <a:ext cx="109728" cy="169164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1188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5989320" y="1188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고빈도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989320" y="15544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frequency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89320" y="1874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초당 수천 건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thousands/sec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25400">
            <a:solidFill>
              <a:srgbClr val="00897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834640"/>
            <a:ext cx="109728" cy="16916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📈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1691640" y="3017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691640" y="33832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Time-series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691640" y="3703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순서가 중요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 matters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83464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25400">
            <a:solidFill>
              <a:srgbClr val="1E88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2834640"/>
            <a:ext cx="109728" cy="16916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3800" dirty="0"/>
          </a:p>
        </p:txBody>
      </p:sp>
      <p:sp>
        <p:nvSpPr>
          <p:cNvPr id="28" name="Text 26"/>
          <p:cNvSpPr/>
          <p:nvPr/>
        </p:nvSpPr>
        <p:spPr>
          <a:xfrm>
            <a:off x="5989320" y="3017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소스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989320" y="33832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Multi-source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9320" y="3703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레이더+기상+관제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radar+weather+ATC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30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03 · DATA SOURCES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개의 데이터 소스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Four Data Sources at a Glance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143000"/>
            <a:ext cx="502920" cy="502920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43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234440" y="1051560"/>
            <a:ext cx="7498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OpenSky Network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1435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ADS-B receiver network (crowdsourced)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03520" y="1161288"/>
            <a:ext cx="3291840" cy="54864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0" y="117957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35,000 수신기 · 10초/폴링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35k receivers · 10s polling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075688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234440" y="1984248"/>
            <a:ext cx="7498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0299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NOAA + KMA METAR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23682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Airport weather reports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03520" y="2093976"/>
            <a:ext cx="3291840" cy="54864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94960" y="211226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30분 주기 · 공항 기상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30-min · airport weather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008376"/>
            <a:ext cx="502920" cy="50292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008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1234440" y="2916936"/>
            <a:ext cx="7498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1600" y="296265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FAA SWIM ★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71600" y="33009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Solace JMS · TLS 1.2 · AIXM XML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303520" y="3026664"/>
            <a:ext cx="3291840" cy="54864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304495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60초 / 219건 검증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60s / 219 NOTAMs verified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941064"/>
            <a:ext cx="502920" cy="502920"/>
          </a:xfrm>
          <a:prstGeom prst="ellipse">
            <a:avLst/>
          </a:prstGeom>
          <a:solidFill>
            <a:srgbClr val="8E24AA"/>
          </a:solidFill>
          <a:ln w="12700">
            <a:solidFill>
              <a:srgbClr val="8E24A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39410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1234440" y="3849624"/>
            <a:ext cx="7498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E24A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0" y="38953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Kaggle flights.csv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371600" y="4233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 DOT BTS 2015 batch dataset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03520" y="3959352"/>
            <a:ext cx="3291840" cy="54864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94960" y="397764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5.7M 행 · 31 컬럼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5.7M rows · 31 cols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234440" y="4599432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FAA SWIM 은 대학 프로젝트로서 드문 공식 프로덕션 연동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30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03 · DATA SOURCES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OpenSky ADS-B 작동 원리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ADS-B Works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1737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97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✈️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항공기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20299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Aircraft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194560" y="100584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B300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2468880" y="1005840"/>
            <a:ext cx="1737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1097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📡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246888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지상 수신기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468880" y="20299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 receiver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06240" y="100584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B300"/>
                </a:solidFill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480560" y="1005840"/>
            <a:ext cx="1737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1097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48056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OpenSky 서버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480560" y="20299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OpenSky API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0" y="100584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B300"/>
                </a:solidFill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92240" y="1005840"/>
            <a:ext cx="1737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1097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📨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649224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 토픽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92240" y="20299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flight-position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2743200"/>
            <a:ext cx="8138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37474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2743200"/>
            <a:ext cx="813816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274320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편의 항공기에서 들어오는 17개 필드 (What arrives per aircraft)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318211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icao24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aa1234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ICAO 24-bit hex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246120" y="318211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callsign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KAL123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콜사인 / call sign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943600" y="318211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latitude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37.46°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위도 / latitude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3621024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longitude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126.44°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경도 / longitude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246120" y="3621024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baro_altitude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10,668 m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기압 고도 / altitude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943600" y="3621024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velocity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245 m/s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대지속도 / ground speed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405993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vertical_rate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-2.6 m/s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수직속도 / climb rate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246120" y="405993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on_ground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false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지상 여부 / on ground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943600" y="405993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squawk</a:t>
            </a:r>
            <a:pPr indent="0" marL="0">
              <a:buNone/>
            </a:pPr>
            <a:r>
              <a:rPr lang="en-US" sz="100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2134
</a:t>
            </a:r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Squawk 코드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30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03 · DATA SOURCES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METAR 해독 · 실습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Decoding a METAR — live example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138160" cy="822960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📡  원본 (Raw METAR)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26187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RKSI 030900Z 29012KT 9999 SCT030 08/M02 Q1020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1554480" cy="347472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0116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RKSI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011680" y="2011680"/>
            <a:ext cx="6583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1E88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48840" y="201168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인천공항 ICAO 코드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Incheon ICAO code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423160"/>
            <a:ext cx="1554480" cy="347472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42316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030900Z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011680" y="2423160"/>
            <a:ext cx="6583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0089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48840" y="242316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09:00 UTC 관측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day-03 09:00 UTC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1554480" cy="347472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8346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29012KT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011680" y="2834640"/>
            <a:ext cx="6583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FFB3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148840" y="283464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풍향 290°, 12 노트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wind 290°, 12 knots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246120"/>
            <a:ext cx="1554480" cy="347472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24612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9999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011680" y="3246120"/>
            <a:ext cx="6583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43A04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48840" y="324612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가시거리 10 km 이상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visibility ≥10 km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657600"/>
            <a:ext cx="1554480" cy="347472"/>
          </a:xfrm>
          <a:prstGeom prst="rect">
            <a:avLst/>
          </a:prstGeom>
          <a:solidFill>
            <a:srgbClr val="8E24AA"/>
          </a:solidFill>
          <a:ln w="12700">
            <a:solidFill>
              <a:srgbClr val="8E24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6576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SCT030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011680" y="3657600"/>
            <a:ext cx="6583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8E24A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48840" y="365760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3000 ft 에 부분운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scattered clouds @3000ft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069080"/>
            <a:ext cx="1554480" cy="347472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0690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08/M02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011680" y="4069080"/>
            <a:ext cx="6583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F53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148840" y="406908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기온 8°C / 이슬점 -2°C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temp 8°C / dew -2°C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4480560"/>
            <a:ext cx="1554480" cy="347472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8056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Q1020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011680" y="4480560"/>
            <a:ext cx="6583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37474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48840" y="448056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QNH 1020 hPa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altimeter 1020 hPa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30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03 · DATA SOURCES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FAA SWIM 실연동 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FAA SWIM Live Integration — our flagship achievement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26480" y="914400"/>
            <a:ext cx="2468880" cy="1188720"/>
          </a:xfrm>
          <a:prstGeom prst="roundRect">
            <a:avLst>
              <a:gd name="adj" fmla="val 11538"/>
            </a:avLst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0" y="9601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 초 / 219건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0" y="135331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parse_err = 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26480" y="16733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production verified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774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FAA Solace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JMS Broker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8986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3F2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ems2.swim.faa.gov:55443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194560" y="2331720"/>
            <a:ext cx="201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300"/>
                </a:solidFill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2377440" y="23317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23774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TLS 1.2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통과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23160" y="28986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3F2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DigiCert Global Root G2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0" y="2331720"/>
            <a:ext cx="201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300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297680" y="23317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0" y="23774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AIXM 5.1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XML 파싱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43400" y="28986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3F2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FAA event: namespace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035040" y="2331720"/>
            <a:ext cx="201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300"/>
                </a:solidFill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217920" y="23317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0" y="23774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notam 토픽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63640" y="28986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3F2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Avro v2.0 schema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" y="3520440"/>
            <a:ext cx="8138160" cy="1188720"/>
          </a:xfrm>
          <a:prstGeom prst="roundRect">
            <a:avLst>
              <a:gd name="adj" fmla="val 6154"/>
            </a:avLst>
          </a:prstGeom>
          <a:solidFill>
            <a:srgbClr val="E3F2FD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5844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어려웠나 (Why it was hard)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3886200"/>
            <a:ext cx="7863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Trust store setup 3 번 실패 후 성공  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 failed attempts at trust store setup)
</a:t>
            </a:r>
            <a:pPr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DigiCert Global Root G2 인증서를 수동으로 </a:t>
            </a:r>
            <a:pPr indent="0" marL="0">
              <a:buNone/>
            </a:pPr>
            <a:r>
              <a:rPr lang="en-US" sz="1000" b="1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c_rehash </a:t>
            </a:r>
            <a:pPr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형식으로 import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(manually imported DigiCert G2 in c_rehash format)
</a:t>
            </a:r>
            <a:pPr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AIXM 5.1 XML + FAA event: namespace 파서 자체 구현 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(custom parser)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30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03 · DATA SOURCES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Kaggle flights.csv · EDA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Exploring the 5.7M row training dataset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1554480"/>
          </a:xfrm>
          <a:prstGeom prst="roundRect">
            <a:avLst>
              <a:gd name="adj" fmla="val 5882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 데이터 규모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29844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5.7 M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2103120" y="13898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9385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 컬럼 · 580 MB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 DOT BTS 2015 · 10% → 500K 샘플링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480560" y="960120"/>
            <a:ext cx="4114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1005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 EDA 핵심 지표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0" y="1325880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편 (&gt;0 분)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17920" y="132588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38.8%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269480" y="13533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delayed flights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572000" y="1600200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편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17920" y="160020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3.4%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269480" y="16276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cancelled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1874520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도착 지연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217920" y="187452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6.2 분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269480" y="19019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mean arr delay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72000" y="2148840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지연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217920" y="214884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1,971 분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269480" y="217627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worst case (32+ hrs)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2697480"/>
            <a:ext cx="81381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37474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27432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원인별 기여도 (Delay Cause Attribution)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3108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전편 지연 (Cascade)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834640" y="3145536"/>
            <a:ext cx="4978908" cy="201168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04988" y="31089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39.6%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15200" y="3145536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 aircraft (reactionary)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40080" y="3401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항공사 귀책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34640" y="3438144"/>
            <a:ext cx="3922776" cy="201168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48856" y="340156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31.2%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315200" y="343814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Carrier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40080" y="369417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국가항공시스템 NAS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834640" y="3730752"/>
            <a:ext cx="2929509" cy="201168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55589" y="3694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23.3%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15200" y="37307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National Air System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40080" y="39867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834640" y="4023360"/>
            <a:ext cx="716661" cy="20116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42741" y="398678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9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5.7%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315200" y="40233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Weather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40080" y="4279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834640" y="4315968"/>
            <a:ext cx="12573" cy="201168"/>
          </a:xfrm>
          <a:prstGeom prst="rect">
            <a:avLst/>
          </a:prstGeom>
          <a:solidFill>
            <a:srgbClr val="78909C"/>
          </a:solidFill>
          <a:ln w="12700">
            <a:solidFill>
              <a:srgbClr val="78909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38653" y="42793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15200" y="431596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Security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40080" y="44348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전편 지연 39.6% → Rotation features 5 종 추가의 근거 (P1 · 슬라이드 16)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30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04 · DATA FORMAT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포맷의 진화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JSON to Avro — why the upgrade?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560320" cy="3749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5400">
            <a:solidFill>
              <a:srgbClr val="FFB3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2560320" cy="45720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43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쉬움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human-readable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record ≈ 100 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장점 (Pros)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254203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사람 읽기 쉬움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7432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debug 편함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30815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단점 (Cons)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스키마 없음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5387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타입 없음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7398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크기 큼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91840" y="960120"/>
            <a:ext cx="2560320" cy="3749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5400">
            <a:solidFill>
              <a:srgbClr val="00897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4290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가볍지만 단순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light but flat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2900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record ≈ 60 B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429000" y="2286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장점 (Pros)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74720" y="254203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가장 가벼움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74720" y="27432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Excel 호환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29000" y="30815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단점 (Cons)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74720" y="33375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타입 없음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474720" y="35387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중첩 불가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474720" y="37398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이스케이프 난해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126480" y="960120"/>
            <a:ext cx="2560320" cy="3749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5400">
            <a:solidFill>
              <a:srgbClr val="1E88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960120"/>
            <a:ext cx="2560320" cy="45720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Avro 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2636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강제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schema-enforced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6364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record ≈ 35 B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63640" y="2286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장점 (Pros)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09360" y="254203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스키마 진화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09360" y="27432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이진 압축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09360" y="29443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타입 안전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263640" y="328269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단점 (Cons)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309360" y="35387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사람 읽기 어려움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30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04 · DATA FORMAT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Schema Registry 인가?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Schema Registry? — a real failure scenario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319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05840"/>
            <a:ext cx="3931920" cy="41148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 BEFORE — 스키마 없이 (no schema)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55448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Producer 가 새 필드를 추가:
</a:t>
            </a:r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  "icao24": ...,
  "speed_kt": 245,  ← 새 필드
}
</a:t>
            </a:r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Consumer 가 기존 코드로 읽음:
</a:t>
            </a:r>
            <a:pPr indent="0" marL="0">
              <a:buNone/>
            </a:pPr>
            <a:r>
              <a:rPr lang="en-US" sz="900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msg.velocity_ms   ← KeyError!
💥 서비스 다운
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디버깅: 어느 producer 가 언제 바꿨나?</a:t>
            </a:r>
            <a:endParaRPr lang="en-US" sz="1000" dirty="0"/>
          </a:p>
          <a:p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(Debug: who changed what when?)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39319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43A04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 AFTER — Schema Registry (BACKWARD)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155448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Producer 가 호환 안되는 변경 시도:
</a:t>
            </a:r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/subjects/flight-position
  + rename field
</a:t>
            </a:r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Schema Registry 가 즉시 거부:
</a:t>
            </a:r>
            <a:pPr indent="0" marL="0">
              <a:buNone/>
            </a:pPr>
            <a:r>
              <a:rPr lang="en-US" sz="900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409 Conflict: BACKWARD incompat.
✅ 배포 전에 막힘
</a:t>
            </a:r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호환되는 변경 (default 있는 필드 추가) 은 통과.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consumer 는 default 값으로 안전하게 동작.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30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 · PREPROCESSING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 6단계 파이프라인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6-Step Preprocessing Pipeline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188720"/>
            <a:ext cx="1097280" cy="1097280"/>
          </a:xfrm>
          <a:prstGeom prst="ellipse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1887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CLN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02920" y="1097280"/>
            <a:ext cx="384048" cy="384048"/>
          </a:xfrm>
          <a:prstGeom prst="ellipse">
            <a:avLst/>
          </a:prstGeom>
          <a:solidFill>
            <a:srgbClr val="0B1F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정제 Clean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2697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결측·이상·중복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19072" y="1737360"/>
            <a:ext cx="137160" cy="0"/>
          </a:xfrm>
          <a:prstGeom prst="line">
            <a:avLst/>
          </a:prstGeom>
          <a:noFill/>
          <a:ln w="38100">
            <a:solidFill>
              <a:srgbClr val="FFB3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011680" y="1188720"/>
            <a:ext cx="1097280" cy="109728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11887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1920240" y="1097280"/>
            <a:ext cx="384048" cy="384048"/>
          </a:xfrm>
          <a:prstGeom prst="ellipse">
            <a:avLst/>
          </a:prstGeom>
          <a:solidFill>
            <a:srgbClr val="0B1F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2024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783080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결측값 Missing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83080" y="2697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drop / impute / xgb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136392" y="1737360"/>
            <a:ext cx="137160" cy="0"/>
          </a:xfrm>
          <a:prstGeom prst="line">
            <a:avLst/>
          </a:prstGeom>
          <a:noFill/>
          <a:ln w="38100">
            <a:solidFill>
              <a:srgbClr val="FFB30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429000" y="1188720"/>
            <a:ext cx="1097280" cy="109728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11887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3337560" y="1097280"/>
            <a:ext cx="384048" cy="384048"/>
          </a:xfrm>
          <a:prstGeom prst="ellipse">
            <a:avLst/>
          </a:prstGeom>
          <a:solidFill>
            <a:srgbClr val="0B1F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3756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00400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Eng.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200400" y="2697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시간·거리 분해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53712" y="1737360"/>
            <a:ext cx="137160" cy="0"/>
          </a:xfrm>
          <a:prstGeom prst="line">
            <a:avLst/>
          </a:prstGeom>
          <a:noFill/>
          <a:ln w="38100">
            <a:solidFill>
              <a:srgbClr val="FFB30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846320" y="1188720"/>
            <a:ext cx="1097280" cy="1097280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11887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ROT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4754880" y="1097280"/>
            <a:ext cx="384048" cy="384048"/>
          </a:xfrm>
          <a:prstGeom prst="ellipse">
            <a:avLst/>
          </a:prstGeom>
          <a:solidFill>
            <a:srgbClr val="0B1F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617720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Rotation Feats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617720" y="2697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· +335% R²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971032" y="1737360"/>
            <a:ext cx="137160" cy="0"/>
          </a:xfrm>
          <a:prstGeom prst="line">
            <a:avLst/>
          </a:prstGeom>
          <a:noFill/>
          <a:ln w="38100">
            <a:solidFill>
              <a:srgbClr val="FFB30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263640" y="1188720"/>
            <a:ext cx="1097280" cy="1097280"/>
          </a:xfrm>
          <a:prstGeom prst="ellipse">
            <a:avLst/>
          </a:prstGeom>
          <a:solidFill>
            <a:srgbClr val="8E24AA"/>
          </a:solidFill>
          <a:ln w="12700">
            <a:solidFill>
              <a:srgbClr val="8E24A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63640" y="11887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SPL</a:t>
            </a:r>
            <a:endParaRPr lang="en-US" sz="1900" dirty="0"/>
          </a:p>
        </p:txBody>
      </p:sp>
      <p:sp>
        <p:nvSpPr>
          <p:cNvPr id="37" name="Shape 35"/>
          <p:cNvSpPr/>
          <p:nvPr/>
        </p:nvSpPr>
        <p:spPr>
          <a:xfrm>
            <a:off x="6172200" y="1097280"/>
            <a:ext cx="384048" cy="384048"/>
          </a:xfrm>
          <a:prstGeom prst="ellipse">
            <a:avLst/>
          </a:prstGeom>
          <a:solidFill>
            <a:srgbClr val="0B1F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035040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Split 분할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035040" y="2697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TimeSeriesSplit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388352" y="1737360"/>
            <a:ext cx="137160" cy="0"/>
          </a:xfrm>
          <a:prstGeom prst="line">
            <a:avLst/>
          </a:prstGeom>
          <a:noFill/>
          <a:ln w="38100">
            <a:solidFill>
              <a:srgbClr val="FFB30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7680960" y="1188720"/>
            <a:ext cx="1097280" cy="1097280"/>
          </a:xfrm>
          <a:prstGeom prst="ellipse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80960" y="11887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ICE</a:t>
            </a:r>
            <a:endParaRPr lang="en-US" sz="1900" dirty="0"/>
          </a:p>
        </p:txBody>
      </p:sp>
      <p:sp>
        <p:nvSpPr>
          <p:cNvPr id="44" name="Shape 42"/>
          <p:cNvSpPr/>
          <p:nvPr/>
        </p:nvSpPr>
        <p:spPr>
          <a:xfrm>
            <a:off x="7589520" y="1097280"/>
            <a:ext cx="384048" cy="384048"/>
          </a:xfrm>
          <a:prstGeom prst="ellipse">
            <a:avLst/>
          </a:prstGeom>
          <a:solidFill>
            <a:srgbClr val="0B1F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58952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7452360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Iceberg 저장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452360" y="2697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Bronze/Silver/Gold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3383280"/>
            <a:ext cx="3840480" cy="1188720"/>
          </a:xfrm>
          <a:prstGeom prst="roundRect">
            <a:avLst>
              <a:gd name="adj" fmla="val 6154"/>
            </a:avLst>
          </a:prstGeom>
          <a:solidFill>
            <a:srgbClr val="E3F2FD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08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📥  INPUT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40080" y="36576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 flights.csv  (5.7M rows · 31 cols)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✘ 결측·이상치·중복 포함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✘ 타입 불일치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✘ 사용할 수 없음 that's why we preprocess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846320" y="3383280"/>
            <a:ext cx="3840480" cy="1188720"/>
          </a:xfrm>
          <a:prstGeom prst="roundRect">
            <a:avLst>
              <a:gd name="adj" fmla="val 6154"/>
            </a:avLst>
          </a:prstGeom>
          <a:solidFill>
            <a:srgbClr val="E3F2FD"/>
          </a:solidFill>
          <a:ln w="19050">
            <a:solidFill>
              <a:srgbClr val="43A04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02920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📤  OUTPUT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029200" y="36576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train/val/test.parquet  (400k / 50k / 50k)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25 numeric + 3 categorical = 28 features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시간순 split (no leakage)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Model-ready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30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 · STEP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 → Clean · 실제 문제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does 'dirty data' look like?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138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005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 실제 원본 데이터에서 발견한 문제 (real issues in the raw data)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1371600"/>
            <a:ext cx="118872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371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FL_DATE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828800" y="1371600"/>
            <a:ext cx="100584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13716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AIRLINE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9144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464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49040" y="1371600"/>
            <a:ext cx="9144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DEP_DELAY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1371600"/>
            <a:ext cx="9144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760720" y="1371600"/>
            <a:ext cx="27432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유형 / Issue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080" y="1664208"/>
            <a:ext cx="11887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16642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2015-01-05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828800" y="1664208"/>
            <a:ext cx="100584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28800" y="16642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UA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834640" y="1664208"/>
            <a:ext cx="9144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34640" y="1664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SFO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749040" y="1664208"/>
            <a:ext cx="9144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49040" y="1664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754880" y="1664208"/>
            <a:ext cx="9144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1664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2586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760720" y="1664208"/>
            <a:ext cx="27432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52160" y="166420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40080" y="1865376"/>
            <a:ext cx="118872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18653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2015-01-05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828800" y="1865376"/>
            <a:ext cx="100584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28800" y="186537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UA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834640" y="1865376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34640" y="18653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SFO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749040" y="1865376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49040" y="18653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754880" y="1865376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18653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2586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760720" y="1865376"/>
            <a:ext cx="27432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852160" y="1865376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중복 duplicate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40080" y="2066544"/>
            <a:ext cx="118872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206654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2015-01-06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828800" y="2066544"/>
            <a:ext cx="100584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28800" y="206654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2834640" y="2066544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834640" y="20665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LAX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3749040" y="2066544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49040" y="20665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754880" y="2066544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0" y="20665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325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760720" y="2066544"/>
            <a:ext cx="27432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52160" y="2066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결측 missing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40080" y="2267712"/>
            <a:ext cx="118872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0080" y="22677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2015-01-07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28800" y="2267712"/>
            <a:ext cx="100584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828800" y="226771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DL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2834640" y="2267712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834640" y="22677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JFK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749040" y="2267712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749040" y="22677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-9999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754880" y="2267712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754880" y="22677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2475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5760720" y="2267712"/>
            <a:ext cx="27432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852160" y="226771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센서오류 sentinel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640080" y="2468880"/>
            <a:ext cx="118872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0080" y="24688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2015-01-08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1828800" y="2468880"/>
            <a:ext cx="100584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828800" y="24688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2834640" y="2468880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834640" y="24688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3749040" y="2468880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749040" y="24688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4754880" y="2468880"/>
            <a:ext cx="9144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754880" y="24688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60720" y="2468880"/>
            <a:ext cx="2743200" cy="201168"/>
          </a:xfrm>
          <a:prstGeom prst="rect">
            <a:avLst/>
          </a:prstGeom>
          <a:solidFill>
            <a:srgbClr val="FFF0F0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852160" y="24688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거리 음수 invalid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40080" y="2670048"/>
            <a:ext cx="11887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40080" y="26700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2015-01-09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1828800" y="2670048"/>
            <a:ext cx="100584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828800" y="2670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WN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2834640" y="2670048"/>
            <a:ext cx="9144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2834640" y="26700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BWI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749040" y="2670048"/>
            <a:ext cx="9144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749040" y="26700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4754880" y="2670048"/>
            <a:ext cx="9144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754880" y="26700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412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5760720" y="2670048"/>
            <a:ext cx="27432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52160" y="267004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OK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457200" y="2971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전략 (Cleaning strategies)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457200" y="3291840"/>
            <a:ext cx="19659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57200" y="3383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🗑</a:t>
            </a:r>
            <a:endParaRPr lang="en-US" sz="2800" dirty="0"/>
          </a:p>
        </p:txBody>
      </p:sp>
      <p:sp>
        <p:nvSpPr>
          <p:cNvPr id="96" name="Text 94"/>
          <p:cNvSpPr/>
          <p:nvPr/>
        </p:nvSpPr>
        <p:spPr>
          <a:xfrm>
            <a:off x="457200" y="39319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제거</a:t>
            </a: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457200" y="42519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drop_duplicates()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2542032" y="3291840"/>
            <a:ext cx="19659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542032" y="3383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🔢</a:t>
            </a:r>
            <a:endParaRPr lang="en-US" sz="2800" dirty="0"/>
          </a:p>
        </p:txBody>
      </p:sp>
      <p:sp>
        <p:nvSpPr>
          <p:cNvPr id="100" name="Text 98"/>
          <p:cNvSpPr/>
          <p:nvPr/>
        </p:nvSpPr>
        <p:spPr>
          <a:xfrm>
            <a:off x="2542032" y="39319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결측값 처리</a:t>
            </a:r>
            <a:endParaRPr lang="en-US" sz="1200" dirty="0"/>
          </a:p>
        </p:txBody>
      </p:sp>
      <p:sp>
        <p:nvSpPr>
          <p:cNvPr id="101" name="Text 99"/>
          <p:cNvSpPr/>
          <p:nvPr/>
        </p:nvSpPr>
        <p:spPr>
          <a:xfrm>
            <a:off x="2542032" y="42519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fillna / imputer / xgb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4626864" y="3291840"/>
            <a:ext cx="19659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626864" y="3383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🚫</a:t>
            </a:r>
            <a:endParaRPr lang="en-US" sz="2800" dirty="0"/>
          </a:p>
        </p:txBody>
      </p:sp>
      <p:sp>
        <p:nvSpPr>
          <p:cNvPr id="104" name="Text 102"/>
          <p:cNvSpPr/>
          <p:nvPr/>
        </p:nvSpPr>
        <p:spPr>
          <a:xfrm>
            <a:off x="4626864" y="39319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Sentinel 교체</a:t>
            </a:r>
            <a:endParaRPr lang="en-US" sz="1200" dirty="0"/>
          </a:p>
        </p:txBody>
      </p:sp>
      <p:sp>
        <p:nvSpPr>
          <p:cNvPr id="105" name="Text 103"/>
          <p:cNvSpPr/>
          <p:nvPr/>
        </p:nvSpPr>
        <p:spPr>
          <a:xfrm>
            <a:off x="4626864" y="42519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089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-9999 → NaN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711696" y="3291840"/>
            <a:ext cx="19659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711696" y="3383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📏</a:t>
            </a:r>
            <a:endParaRPr lang="en-US" sz="2800" dirty="0"/>
          </a:p>
        </p:txBody>
      </p:sp>
      <p:sp>
        <p:nvSpPr>
          <p:cNvPr id="108" name="Text 106"/>
          <p:cNvSpPr/>
          <p:nvPr/>
        </p:nvSpPr>
        <p:spPr>
          <a:xfrm>
            <a:off x="6711696" y="39319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검증</a:t>
            </a:r>
            <a:endParaRPr lang="en-US" sz="1200" dirty="0"/>
          </a:p>
        </p:txBody>
      </p:sp>
      <p:sp>
        <p:nvSpPr>
          <p:cNvPr id="109" name="Text 107"/>
          <p:cNvSpPr/>
          <p:nvPr/>
        </p:nvSpPr>
        <p:spPr>
          <a:xfrm>
            <a:off x="6711696" y="42519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 &gt; 0 필터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112" name="Text 110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30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 · STEP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결측값 (Missing Value) 3 전략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Three Strategies for Missing Values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51760" cy="3611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05840"/>
            <a:ext cx="2651760" cy="41148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Drop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그냥 삭제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drop NaN rows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2194560"/>
            <a:ext cx="2377440" cy="5486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df.dropna()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가장 간단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simple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데이터 대량 손실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loss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0" y="1005840"/>
            <a:ext cx="2651760" cy="3611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25400">
            <a:solidFill>
              <a:srgbClr val="FFB3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1005840"/>
            <a:ext cx="2651760" cy="4114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Impute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3756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평균·중간값 대체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33756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fill with mean/median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37560" y="2194560"/>
            <a:ext cx="2377440" cy="5486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SimpleImputer(mean)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375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데이터 유지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keep rows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37560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분산 왜곡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bias variance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43600" y="1005840"/>
            <a:ext cx="2651760" cy="3611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25400">
            <a:solidFill>
              <a:srgbClr val="43A04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005840"/>
            <a:ext cx="2651760" cy="41148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XGBoost 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08076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처리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08076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native NaN handling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0760" y="2194560"/>
            <a:ext cx="2377440" cy="5486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XGBoost uses NaN as a split direction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0807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최적 분할 자동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optimal branch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080760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다른 모델 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model-specific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663440"/>
            <a:ext cx="8138160" cy="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279392"/>
            <a:ext cx="8138160" cy="320040"/>
          </a:xfrm>
          <a:prstGeom prst="rect">
            <a:avLst/>
          </a:prstGeom>
          <a:solidFill>
            <a:srgbClr val="0B1F3A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우리 프로젝트: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 파이프라인에 SimpleImputer 를 넣고, 최종 모델은 XGBoost 라 native handling 도 동시에 작동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/ 30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 · STEP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Engineering 기초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strings can't be features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3840480" cy="36576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Before — 모델이 못 읽음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1463040"/>
            <a:ext cx="3474720" cy="100584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6916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"2026-04-19 14:30:00"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" y="2103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datetime string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문자열을 이해하지 못함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15968" y="1783080"/>
            <a:ext cx="512064" cy="0"/>
          </a:xfrm>
          <a:prstGeom prst="line">
            <a:avLst/>
          </a:prstGeom>
          <a:noFill/>
          <a:ln w="50800">
            <a:solidFill>
              <a:srgbClr val="FFB300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4114800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분해 decompose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46320" y="960120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25400">
            <a:solidFill>
              <a:srgbClr val="43A04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46320" y="960120"/>
            <a:ext cx="3840480" cy="36576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960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After — 6개 숫자 Feature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83480" y="1463040"/>
            <a:ext cx="1143000" cy="429768"/>
          </a:xfrm>
          <a:prstGeom prst="roundRect">
            <a:avLst>
              <a:gd name="adj" fmla="val 12766"/>
            </a:avLst>
          </a:prstGeom>
          <a:solidFill>
            <a:srgbClr val="E3F2FD"/>
          </a:solidFill>
          <a:ln w="10160">
            <a:solidFill>
              <a:srgbClr val="43A0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148132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983480" y="165506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7920" y="1463040"/>
            <a:ext cx="1143000" cy="429768"/>
          </a:xfrm>
          <a:prstGeom prst="roundRect">
            <a:avLst>
              <a:gd name="adj" fmla="val 12766"/>
            </a:avLst>
          </a:prstGeom>
          <a:solidFill>
            <a:srgbClr val="E3F2FD"/>
          </a:solidFill>
          <a:ln w="10160">
            <a:solidFill>
              <a:srgbClr val="43A0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0" y="148132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minute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0" y="165506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452360" y="1463040"/>
            <a:ext cx="1143000" cy="429768"/>
          </a:xfrm>
          <a:prstGeom prst="roundRect">
            <a:avLst>
              <a:gd name="adj" fmla="val 12766"/>
            </a:avLst>
          </a:prstGeom>
          <a:solidFill>
            <a:srgbClr val="E3F2FD"/>
          </a:solidFill>
          <a:ln w="10160">
            <a:solidFill>
              <a:srgbClr val="43A04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52360" y="148132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dayofweek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52360" y="165506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983480" y="1965960"/>
            <a:ext cx="1143000" cy="429768"/>
          </a:xfrm>
          <a:prstGeom prst="roundRect">
            <a:avLst>
              <a:gd name="adj" fmla="val 12766"/>
            </a:avLst>
          </a:prstGeom>
          <a:solidFill>
            <a:srgbClr val="E3F2FD"/>
          </a:solidFill>
          <a:ln w="10160">
            <a:solidFill>
              <a:srgbClr val="43A04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198424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983480" y="215798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217920" y="1965960"/>
            <a:ext cx="1143000" cy="429768"/>
          </a:xfrm>
          <a:prstGeom prst="roundRect">
            <a:avLst>
              <a:gd name="adj" fmla="val 12766"/>
            </a:avLst>
          </a:prstGeom>
          <a:solidFill>
            <a:srgbClr val="E3F2FD"/>
          </a:solidFill>
          <a:ln w="10160">
            <a:solidFill>
              <a:srgbClr val="43A04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0" y="198424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dayofyear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17920" y="215798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109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452360" y="1965960"/>
            <a:ext cx="1143000" cy="429768"/>
          </a:xfrm>
          <a:prstGeom prst="roundRect">
            <a:avLst>
              <a:gd name="adj" fmla="val 12766"/>
            </a:avLst>
          </a:prstGeom>
          <a:solidFill>
            <a:srgbClr val="E3F2FD"/>
          </a:solidFill>
          <a:ln w="10160">
            <a:solidFill>
              <a:srgbClr val="43A04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52360" y="198424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is_weekend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452360" y="215798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57200" y="2880360"/>
            <a:ext cx="8138160" cy="1737360"/>
          </a:xfrm>
          <a:prstGeom prst="roundRect">
            <a:avLst>
              <a:gd name="adj" fmla="val 526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29718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 왜 이렇게 분해하나? (Why decompose?)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" y="333756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주중 ≠ 주말: </a:t>
            </a:r>
            <a:pPr indent="0" marL="0">
              <a:buNone/>
            </a:pPr>
            <a:r>
              <a:rPr lang="en-US" sz="10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18시 혼잡도 ≠ 토요일 18시 혼잡도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weekday 18:00 congestion ≠ weekend 18:00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월별 패턴: </a:t>
            </a:r>
            <a:pPr indent="0" marL="0">
              <a:buNone/>
            </a:pPr>
            <a:r>
              <a:rPr lang="en-US" sz="10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 휴가철 7·8월 지연률 ↑, 봄 4·5월 ↓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seasonal pattern (summer peak, spring calm)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시간대 패턴: </a:t>
            </a:r>
            <a:pPr indent="0" marL="0">
              <a:buNone/>
            </a:pPr>
            <a:r>
              <a:rPr lang="en-US" sz="10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06시 출발은 거의 정시, 저녁 18시는 지연 누적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/ 30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 · STEP 4 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Rotation Features — 실제 사례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 case: +335% R² from 5 features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31920" cy="1554480"/>
          </a:xfrm>
          <a:prstGeom prst="roundRect">
            <a:avLst>
              <a:gd name="adj" fmla="val 5882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51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R²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3716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0.10</a:t>
            </a:r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</a:t>
            </a:r>
            <a:pPr algn="ctr" indent="0" marL="0">
              <a:buNone/>
            </a:pPr>
            <a:r>
              <a:rPr lang="en-US" sz="3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0.43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193852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+335% 향상 · same XGBoost · 5 features 추가만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21284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sprint · 2026-04-14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480560" y="960120"/>
            <a:ext cx="4114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1E88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051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핵심 아이디어 (Key idea)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132588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비행기가 하루에 3-5번 뜬다.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Same aircraft flies 3-5 legs per day.
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지연은 </a:t>
            </a:r>
            <a:endParaRPr lang="en-US" sz="1100" dirty="0"/>
          </a:p>
          <a:p>
            <a:pPr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</a:t>
            </a:r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됨 (reactionary = 45%).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Delay propagates (reactionary = 45% · EUROCONTROL).
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81381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747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432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🛩  항공기 HL8281 의 하루 (a day of tail number HL8281)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127248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54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06:00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3383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ICN→CJU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 분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03120" y="3218688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7474F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2249424" y="3127248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49424" y="3154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09:00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49424" y="3383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CJU→ICN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49424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+5 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712464" y="3218688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7474F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858768" y="3127248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858768" y="3154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12:00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858768" y="3383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ICN→CJU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858768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+12 분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321808" y="3218688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7474F"/>
                </a:solidFill>
              </a:rPr>
              <a:t>→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468112" y="3127248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68112" y="3154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15:00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68112" y="3383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CJU→ICN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68112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+24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31152" y="3218688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7474F"/>
                </a:solidFill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7077456" y="3127248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77456" y="3154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18:00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077456" y="3383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ICN→CJU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077456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+45? 분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4069080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E3F2FD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추가한 5개 features: </a:t>
            </a:r>
            <a:pPr indent="0" marL="0">
              <a:buNone/>
            </a:pPr>
            <a:r>
              <a:rPr lang="en-US" sz="950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rotation_depth · prev_leg_arr_delay_min · scheduled_turnaround_min · actual_turnaround_min · is_first_leg_of_day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/ 30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 · STEP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Train/Test Split — 흔한 실수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most common mistake in time-series ML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3192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3931920" cy="41148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 WRONG — shuffle=True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463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train_test_split(shuffle=True)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18288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Timeline  →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23544" y="2103120"/>
            <a:ext cx="365760" cy="274320"/>
          </a:xfrm>
          <a:prstGeom prst="rect">
            <a:avLst/>
          </a:prstGeom>
          <a:solidFill>
            <a:srgbClr val="EF53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298448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98448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673352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73352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048256" y="2103120"/>
            <a:ext cx="365760" cy="274320"/>
          </a:xfrm>
          <a:prstGeom prst="rect">
            <a:avLst/>
          </a:prstGeom>
          <a:solidFill>
            <a:srgbClr val="EF53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48256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23160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3160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798064" y="2103120"/>
            <a:ext cx="365760" cy="274320"/>
          </a:xfrm>
          <a:prstGeom prst="rect">
            <a:avLst/>
          </a:prstGeom>
          <a:solidFill>
            <a:srgbClr val="EF53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98064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172968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2968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547872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47872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922776" y="2103120"/>
            <a:ext cx="365760" cy="274320"/>
          </a:xfrm>
          <a:prstGeom prst="rect">
            <a:avLst/>
          </a:prstGeom>
          <a:solidFill>
            <a:srgbClr val="EF53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22776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8640" y="24688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💥  미래가 과거 훈련에 섞여 들어감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Future leaks into past training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310896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</a:t>
            </a:r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CV 표준편차 ±0.30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(비정상적으로 작음 · 낙관적 편향)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Result: CV std ±0.30 (artificially small)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54880" y="960120"/>
            <a:ext cx="393192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43A04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54880" y="960120"/>
            <a:ext cx="3931920" cy="41148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 RIGHT — TimeSeriesSplit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846320" y="1463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TimeSeriesSplit(n_splits=5)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846320" y="18288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Timeline  →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846320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0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221224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21224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596128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96128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971032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71032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345936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45936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720840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720840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7095744" y="2103120"/>
            <a:ext cx="365760" cy="274320"/>
          </a:xfrm>
          <a:prstGeom prst="rect">
            <a:avLst/>
          </a:prstGeom>
          <a:solidFill>
            <a:srgbClr val="1E88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95744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7470648" y="2103120"/>
            <a:ext cx="365760" cy="274320"/>
          </a:xfrm>
          <a:prstGeom prst="rect">
            <a:avLst/>
          </a:prstGeom>
          <a:solidFill>
            <a:srgbClr val="EF53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70648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845552" y="2103120"/>
            <a:ext cx="365760" cy="274320"/>
          </a:xfrm>
          <a:prstGeom prst="rect">
            <a:avLst/>
          </a:prstGeom>
          <a:solidFill>
            <a:srgbClr val="EF53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845552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8220456" y="2103120"/>
            <a:ext cx="365760" cy="274320"/>
          </a:xfrm>
          <a:prstGeom prst="rect">
            <a:avLst/>
          </a:prstGeom>
          <a:solidFill>
            <a:srgbClr val="EF53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220456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846320" y="24688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과거로만 학습, 미래로만 평가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Train on past, evaluate on future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846320" y="310896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</a:t>
            </a:r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CV 표준편차 ±6.14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(정직한 수치 · 시간대별 변동성 반영)
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Result: CV std ±6.14 (honest, reflects temporal variance)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/ 30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 · STEP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Iceberg Medallion 아키텍처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Bronze / Silver / Gold — data lake pattern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51760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25400">
            <a:solidFill>
              <a:srgbClr val="8D6E6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05840"/>
            <a:ext cx="2651760" cy="457200"/>
          </a:xfrm>
          <a:prstGeom prst="rect">
            <a:avLst/>
          </a:prstGeom>
          <a:solidFill>
            <a:srgbClr val="8D6E63"/>
          </a:solidFill>
          <a:ln w="12700">
            <a:solidFill>
              <a:srgbClr val="8D6E6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005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Bronze  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15544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그대로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8562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raw, as-ingested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2212848"/>
            <a:ext cx="2377440" cy="1417320"/>
          </a:xfrm>
          <a:prstGeom prst="rect">
            <a:avLst/>
          </a:prstGeom>
          <a:solidFill>
            <a:srgbClr val="FAFAFA"/>
          </a:solidFill>
          <a:ln w="6350">
            <a:solidFill>
              <a:srgbClr val="8D6E6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flight_position_raw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weather_event_raw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notam_raw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atfm_restriction_raw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08960" y="1005840"/>
            <a:ext cx="274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B300"/>
                </a:solidFill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200400" y="1005840"/>
            <a:ext cx="2651760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25400">
            <a:solidFill>
              <a:srgbClr val="9E9E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1005840"/>
            <a:ext cx="2651760" cy="457200"/>
          </a:xfrm>
          <a:prstGeom prst="rect">
            <a:avLst/>
          </a:prstGeom>
          <a:solidFill>
            <a:srgbClr val="9E9E9E"/>
          </a:solidFill>
          <a:ln w="12700">
            <a:solidFill>
              <a:srgbClr val="9E9E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0" y="1005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Silver  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291840" y="15544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정제 + 조인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91840" y="18562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cleaned + joined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37560" y="2212848"/>
            <a:ext cx="2377440" cy="1417320"/>
          </a:xfrm>
          <a:prstGeom prst="rect">
            <a:avLst/>
          </a:prstGeom>
          <a:solidFill>
            <a:srgbClr val="FAFAFA"/>
          </a:solidFill>
          <a:ln w="6350">
            <a:solidFill>
              <a:srgbClr val="9E9E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2900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flight_features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aircraft_phase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airport_context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852160" y="1005840"/>
            <a:ext cx="274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B300"/>
                </a:solidFill>
              </a:rPr>
              <a:t>→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5943600" y="1005840"/>
            <a:ext cx="2651760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25400">
            <a:solidFill>
              <a:srgbClr val="FFB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005840"/>
            <a:ext cx="2651760" cy="45720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005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Gold  🥇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035040" y="15544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소비용 + 감사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035040" y="18562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model-ready + audit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80760" y="2212848"/>
            <a:ext cx="2377440" cy="1417320"/>
          </a:xfrm>
          <a:prstGeom prst="rect">
            <a:avLst/>
          </a:prstGeom>
          <a:solidFill>
            <a:srgbClr val="FAFAFA"/>
          </a:solidFill>
          <a:ln w="6350">
            <a:solidFill>
              <a:srgbClr val="FFB3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7220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delay_train_split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inference_log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anomaly_decisions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840480"/>
            <a:ext cx="8138160" cy="777240"/>
          </a:xfrm>
          <a:prstGeom prst="roundRect">
            <a:avLst>
              <a:gd name="adj" fmla="val 9412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왜 3 계층?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ACID + schema evolution + time travel · 사고 시 '어디에서 틀어졌나' 추적 가능
</a:t>
            </a:r>
            <a:pPr indent="0" marL="0">
              <a:buNone/>
            </a:pPr>
            <a:r>
              <a:rPr lang="en-US" sz="1000" b="1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3 layers? </a:t>
            </a:r>
            <a:pPr indent="0" marL="0">
              <a:buNone/>
            </a:pPr>
            <a:r>
              <a:rPr lang="en-US" sz="900" i="1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reproducibility — ACID transactions + schema evolution + time-travel for incident forensics.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/ 30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06 · APPLICATIONS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데이터로 만들 수 있는 것들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can you build with aviation data?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1920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38100">
            <a:solidFill>
              <a:srgbClr val="1E88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051560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91640" y="10515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OURS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57200" y="18745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예측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Delay prediction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514600" y="1005840"/>
            <a:ext cx="1920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FFB3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146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2514600" y="18745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항공권 가격 예측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1460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Ticket price forecast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0" y="1005840"/>
            <a:ext cx="1920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🏢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4572000" y="18745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공항 혼잡도 예측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0089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Airport congestion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29400" y="1005840"/>
            <a:ext cx="1920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43A0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⛽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6629400" y="18745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연료 소비 최적화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2940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Fuel efficiency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2743200"/>
            <a:ext cx="1920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8E24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2926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457200" y="3611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운항 경로 최적화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3931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E24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 optimization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14600" y="2743200"/>
            <a:ext cx="1920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F57C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14600" y="2926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🌪</a:t>
            </a:r>
            <a:endParaRPr lang="en-US" sz="3800" dirty="0"/>
          </a:p>
        </p:txBody>
      </p:sp>
      <p:sp>
        <p:nvSpPr>
          <p:cNvPr id="31" name="Text 29"/>
          <p:cNvSpPr/>
          <p:nvPr/>
        </p:nvSpPr>
        <p:spPr>
          <a:xfrm>
            <a:off x="2514600" y="3611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영향 분석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514600" y="3931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57C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Weather impact study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0" y="2743200"/>
            <a:ext cx="1920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38100">
            <a:solidFill>
              <a:srgbClr val="EF53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06440" y="2788920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06440" y="27889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OURS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572000" y="2926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3800" dirty="0"/>
          </a:p>
        </p:txBody>
      </p:sp>
      <p:sp>
        <p:nvSpPr>
          <p:cNvPr id="37" name="Text 35"/>
          <p:cNvSpPr/>
          <p:nvPr/>
        </p:nvSpPr>
        <p:spPr>
          <a:xfrm>
            <a:off x="4572000" y="3611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탐지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0" y="3931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Anomaly detection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629400" y="2743200"/>
            <a:ext cx="19202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29400" y="2926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</a:t>
            </a:r>
            <a:endParaRPr lang="en-US" sz="3800" dirty="0"/>
          </a:p>
        </p:txBody>
      </p:sp>
      <p:sp>
        <p:nvSpPr>
          <p:cNvPr id="41" name="Text 39"/>
          <p:cNvSpPr/>
          <p:nvPr/>
        </p:nvSpPr>
        <p:spPr>
          <a:xfrm>
            <a:off x="6629400" y="3611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승객 수요 예측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629400" y="3931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Demand forecasting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/ 30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06 · OUR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것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WE built — three integrated features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25400">
            <a:solidFill>
              <a:srgbClr val="1E88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05840"/>
            <a:ext cx="2606040" cy="45720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15544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594360" y="24688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예측 + 신뢰구간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" y="28163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Delay prediction + Conformal interval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080" y="32004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XGBoost · Test R² 0.43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358444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Conformal 90% 커버리지 보장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396849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"90% 확률로 6 ~ 41 분"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0" y="100584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1005840"/>
            <a:ext cx="2606040" cy="45720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840480" y="15544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3337560" y="24688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탐지 (7 단계별)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37560" y="28163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Per-phase anomaly detection × 7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83280" y="32004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Isolation Forest × 7 단계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383280" y="358444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alert fatigue −67%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83280" y="396849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hysteresis + suppression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0" y="100584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25400">
            <a:solidFill>
              <a:srgbClr val="00897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005840"/>
            <a:ext cx="2606040" cy="45720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583680" y="15544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</a:t>
            </a:r>
            <a:endParaRPr lang="en-US" sz="4600" dirty="0"/>
          </a:p>
        </p:txBody>
      </p:sp>
      <p:sp>
        <p:nvSpPr>
          <p:cNvPr id="29" name="Text 27"/>
          <p:cNvSpPr/>
          <p:nvPr/>
        </p:nvSpPr>
        <p:spPr>
          <a:xfrm>
            <a:off x="6080760" y="24688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관제 어시스턴트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080760" y="28163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0089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ATC copilot (LLM + RAG)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0" y="32004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Qwen2.5-7B + QLoRA + DPO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26480" y="358444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RAG · 161 chunks 규정집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126480" y="396849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5 초 이내 출처 포함 답변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30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07 · MODELS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1 · 왜 XGBoost?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1 · Why XGBoost for delay prediction?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344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</a:t>
            </a:r>
            <a:endParaRPr lang="en-US" sz="5000" dirty="0"/>
          </a:p>
        </p:txBody>
      </p:sp>
      <p:sp>
        <p:nvSpPr>
          <p:cNvPr id="9" name="Shape 7"/>
          <p:cNvSpPr/>
          <p:nvPr/>
        </p:nvSpPr>
        <p:spPr>
          <a:xfrm>
            <a:off x="548640" y="1097280"/>
            <a:ext cx="502920" cy="502920"/>
          </a:xfrm>
          <a:prstGeom prst="ellipse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4592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Accuracy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45920" y="19019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tabular 에서 딥러닝 동등/우위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matches or beats DL on tabular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40233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FFB3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2344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</a:t>
            </a:r>
            <a:endParaRPr lang="en-US" sz="5000" dirty="0"/>
          </a:p>
        </p:txBody>
      </p:sp>
      <p:sp>
        <p:nvSpPr>
          <p:cNvPr id="16" name="Shape 14"/>
          <p:cNvSpPr/>
          <p:nvPr/>
        </p:nvSpPr>
        <p:spPr>
          <a:xfrm>
            <a:off x="4800600" y="1097280"/>
            <a:ext cx="502920" cy="50292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89788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8978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897880" y="19019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5.7M 행 / 4분 CPU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5.7M rows / 4min CPU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788920"/>
            <a:ext cx="40233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00897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01752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</a:t>
            </a:r>
            <a:endParaRPr lang="en-US" sz="5000" dirty="0"/>
          </a:p>
        </p:txBody>
      </p:sp>
      <p:sp>
        <p:nvSpPr>
          <p:cNvPr id="23" name="Shape 21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017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해석성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645920" y="3383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89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Explainability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645920" y="36850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SHAP TreeExplainer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별 기여도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2788920"/>
            <a:ext cx="40233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1E88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301752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💪</a:t>
            </a:r>
            <a:endParaRPr lang="en-US" sz="5000" dirty="0"/>
          </a:p>
        </p:txBody>
      </p:sp>
      <p:sp>
        <p:nvSpPr>
          <p:cNvPr id="30" name="Shape 28"/>
          <p:cNvSpPr/>
          <p:nvPr/>
        </p:nvSpPr>
        <p:spPr>
          <a:xfrm>
            <a:off x="4800600" y="2880360"/>
            <a:ext cx="502920" cy="502920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897880" y="3017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Robustness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897880" y="3383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Robustness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97880" y="36850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 자동 처리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이상치·스케일 무관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/ 30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07 · MODELS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작동 원리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Gradient Boosting Actually Works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한 문장 요약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138160" cy="640080"/>
          </a:xfrm>
          <a:prstGeom prst="roundRect">
            <a:avLst>
              <a:gd name="adj" fmla="val 11429"/>
            </a:avLst>
          </a:prstGeom>
          <a:solidFill>
            <a:srgbClr val="E3F2FD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2801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개의 '약한 모델' 을 순차적으로 만들되, </a:t>
            </a:r>
            <a:pPr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모델의 오차에만 집중</a:t>
            </a:r>
            <a:pPr indent="0" marL="0">
              <a:buNone/>
            </a:pPr>
            <a:r>
              <a:rPr lang="en-US" sz="12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학습
</a:t>
            </a:r>
            <a:pPr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many weak models sequentially, each focusing only on the previous model's errors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18288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148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5720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926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예측: 10 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31821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오차: ±15 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86000" y="25603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300"/>
                </a:solidFill>
              </a:rPr>
              <a:t>+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560320" y="2103120"/>
            <a:ext cx="18288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0" y="2148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256032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 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651760" y="2926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잔차에 집중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51760" y="31821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오차: ±8 분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89120" y="25603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300"/>
                </a:solidFill>
              </a:rPr>
              <a:t>+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663440" y="2103120"/>
            <a:ext cx="18288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2148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466344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89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 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54880" y="2926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세밀하게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54880" y="31821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오차: ±3 분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492240" y="25603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300"/>
                </a:solidFill>
              </a:rPr>
              <a:t>+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766560" y="2103120"/>
            <a:ext cx="18288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3A04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2148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676656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 ...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0" y="2926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n=200 까지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58000" y="31821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오차: ±0.5분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3749040"/>
            <a:ext cx="8138160" cy="868680"/>
          </a:xfrm>
          <a:prstGeom prst="roundRect">
            <a:avLst>
              <a:gd name="adj" fmla="val 8421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3794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최종 예측 =  Tree₁  +  Tree₂  +  Tree₃  +  ...  +  Tree₂₀₀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57200" y="4160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Final prediction = sum of all weak learners · residual boosting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/ 30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07 · MODELS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실제 결과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actual results · sprint progression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1381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3747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005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R² 추이 (Sprint 별)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3017520"/>
            <a:ext cx="1463040" cy="36576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429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XGBoost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97480" y="3017520"/>
            <a:ext cx="1463040" cy="36576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97480" y="3429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TimeSeriesSplit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810512"/>
            <a:ext cx="1463040" cy="1572768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1490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0.43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663440" y="3429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Rotation 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629400" y="1810512"/>
            <a:ext cx="1463040" cy="157276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1490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9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0.43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29400" y="3429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Conformal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P1+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8138160" cy="0"/>
          </a:xfrm>
          <a:prstGeom prst="line">
            <a:avLst/>
          </a:prstGeom>
          <a:noFill/>
          <a:ln w="12700">
            <a:solidFill>
              <a:srgbClr val="3747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794760"/>
            <a:ext cx="8138160" cy="82296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867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RMSE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409651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22.61 분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440740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 RMSE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60320" y="3867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R²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560320" y="409651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0.43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2560320" y="440740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정확도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72000" y="3867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Conformal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0" y="409651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90.00 %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572000" y="440740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Empirical coverage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83680" y="3867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시간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83680" y="409651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 ms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583680" y="440740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p95 latency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/ 30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07 · MODELS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2 · 왜 Isolation Forest?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2 · Why Isolation Forest for anomaly?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138160" cy="777240"/>
          </a:xfrm>
          <a:prstGeom prst="roundRect">
            <a:avLst>
              <a:gd name="adj" fmla="val 9412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0058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아이디어: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"이상치는 소수이고 정상과 거리가 멀어서, </a:t>
            </a:r>
            <a:pPr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무작위 분할로 빨리 고립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된다"
</a:t>
            </a:r>
            <a:pPr indent="0" marL="0">
              <a:buNone/>
            </a:pPr>
            <a:r>
              <a:rPr lang="en-US" sz="1000" i="1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Anomalies are few and far — they get 'isolated' quickly under random partitioning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40233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3A0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정상점 (normal)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 🌳 🌳 🌳 🌳 🌳 🌳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path length = 깊음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path length = deep (8+ splits)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분할을 많이 해야 고립됨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187452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이상점 (anomaly)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 🌳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63440" y="28346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path length = 얕음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path length = shallow (2-3 splits)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빨리 고립됨 → anomaly score 높음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794760"/>
            <a:ext cx="813816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840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라벨 없음 </a:t>
            </a:r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(no labels) · 항공 사고는 희귀해서 지도학습 불가
</a:t>
            </a:r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O(n log n) · </a:t>
            </a:r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Autoencoder/One-class SVM 보다 훨씬 빠름
</a:t>
            </a:r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직관적 </a:t>
            </a:r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path length 가 곧 anomaly score — 해석 가능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/ 30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07 · MODELS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Per-phase IF × 7 — 단계별 분리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7 models instead of 1?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1381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005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단일 모델의 혼동 (single-model confusion)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CRUISE 중 30,000 ft 는 </a:t>
            </a:r>
            <a:pPr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</a:t>
            </a:r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인데, LANDING 중 30,000 ft 는 </a:t>
            </a:r>
            <a:pPr indent="0" marL="0">
              <a:buNone/>
            </a:pPr>
            <a:r>
              <a:rPr lang="en-US" sz="11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비정상</a:t>
            </a:r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
단일 모델은 둘을 구분 못해 → TAXI 급가속 = CRUISE threshold 위반 → false positive
</a:t>
            </a:r>
            <a:pPr indent="0" marL="0">
              <a:buNone/>
            </a:pPr>
            <a:r>
              <a:rPr lang="en-US" sz="95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30,000 ft during CRUISE = normal, but same altitude during LANDING = abnormal. Single model can't tell them apart → alert fatigue.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해결: 단계별로 7개 모델 + contamination 별도 튜닝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3747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606040"/>
            <a:ext cx="1097280" cy="292608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06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TAXI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2926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627632" y="260604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FFB3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27632" y="2606040"/>
            <a:ext cx="1097280" cy="292608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27632" y="2606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TAKEOFF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627632" y="2926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27632" y="33375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627632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98064" y="260604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00897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98064" y="2606040"/>
            <a:ext cx="1097280" cy="29260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98064" y="2606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CLIMB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798064" y="2926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798064" y="33375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contam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98064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9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968496" y="260604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1E88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68496" y="2606040"/>
            <a:ext cx="1097280" cy="292608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68496" y="2606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CRUISE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968496" y="2926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968496" y="33375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contam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968496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138928" y="260604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8E24A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38928" y="2606040"/>
            <a:ext cx="1097280" cy="292608"/>
          </a:xfrm>
          <a:prstGeom prst="rect">
            <a:avLst/>
          </a:prstGeom>
          <a:solidFill>
            <a:srgbClr val="8E24AA"/>
          </a:solidFill>
          <a:ln w="12700">
            <a:solidFill>
              <a:srgbClr val="8E24A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38928" y="2606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DESCENT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138928" y="2926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5138928" y="33375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contam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38928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309360" y="260604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9360" y="2606040"/>
            <a:ext cx="1097280" cy="292608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2606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APPROACH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309360" y="2926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6309360" y="33375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contam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309360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479792" y="260604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479792" y="2606040"/>
            <a:ext cx="1097280" cy="292608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79792" y="2606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LANDING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479792" y="2926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7479792" y="33375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contam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479792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0.06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57200" y="3840480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0080" y="39136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📉 결과: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False Positive </a:t>
            </a:r>
            <a:pPr indent="0" marL="0">
              <a:buNone/>
            </a:pPr>
            <a:r>
              <a:rPr lang="en-US" sz="160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−67 %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alert fatigue 대폭 완화  ·  v2.1.10 serving 에 실제 wire-up (ADR-006)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/ 30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07 · MODELS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Conformal Prediction — 점 vs 구간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estimate vs Interval prediction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319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3931920" cy="41148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 BEFORE  ·  점 예측만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15544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57200" y="23774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"15 분 지연"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"15 min delay"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2461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💭 얼마나 믿어야 할까?
</a:t>
            </a:r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실제: 5분일 수도 40분일 수도
</a:t>
            </a:r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actually could be 5 or 40 min — 근거 없음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4880" y="960120"/>
            <a:ext cx="39319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43A04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960120"/>
            <a:ext cx="3931920" cy="41148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 AFTER  ·  신뢰구간 (Conformal)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1737360"/>
            <a:ext cx="3383280" cy="548640"/>
          </a:xfrm>
          <a:prstGeom prst="rect">
            <a:avLst/>
          </a:prstGeom>
          <a:solidFill>
            <a:srgbClr val="E3F2FD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94960" y="1828800"/>
            <a:ext cx="2651760" cy="36576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0" y="22860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22860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26060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28803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"6 ~ 41 분 지연"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4754880" y="33101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 90% confidence · MAPIE empirical 90.00%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0" y="37033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3A0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수학적으로 보장된 커버리지
</a:t>
            </a:r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관제사: "최악의 경우 41분까지 가능"
</a:t>
            </a:r>
            <a:pPr algn="ctr"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ATC can plan for worst case → quantified decision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/ 30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08 · END-TO-END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→ 의사결정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to Decision — a live example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097280"/>
            <a:ext cx="502920" cy="502920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1097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✈️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5720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ADS-B 수신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103120"/>
            <a:ext cx="1737360" cy="457200"/>
          </a:xfrm>
          <a:prstGeom prst="rect">
            <a:avLst/>
          </a:prstGeom>
          <a:solidFill>
            <a:srgbClr val="E3F2FD"/>
          </a:solidFill>
          <a:ln w="6350">
            <a:solidFill>
              <a:srgbClr val="1E88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12140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icao=a1b2c3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alt=10668 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77440" y="1005840"/>
            <a:ext cx="182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B300"/>
                </a:solidFill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514600" y="100584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06040" y="1097280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060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514600" y="1097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📨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251460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Kafka 도착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606040" y="2103120"/>
            <a:ext cx="1737360" cy="457200"/>
          </a:xfrm>
          <a:prstGeom prst="rect">
            <a:avLst/>
          </a:prstGeom>
          <a:solidFill>
            <a:srgbClr val="E3F2FD"/>
          </a:solidFill>
          <a:ln w="6350">
            <a:solidFill>
              <a:srgbClr val="0089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1760" y="212140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89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flight-position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089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Avro v2.0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34840" y="1005840"/>
            <a:ext cx="182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B300"/>
                </a:solidFill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0" y="100584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3440" y="1097280"/>
            <a:ext cx="502920" cy="502920"/>
          </a:xfrm>
          <a:prstGeom prst="ellipse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72000" y="1097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🧊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457200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Iceberg Silver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63440" y="2103120"/>
            <a:ext cx="1737360" cy="457200"/>
          </a:xfrm>
          <a:prstGeom prst="rect">
            <a:avLst/>
          </a:prstGeom>
          <a:solidFill>
            <a:srgbClr val="E3F2FD"/>
          </a:solidFill>
          <a:ln w="6350">
            <a:solidFill>
              <a:srgbClr val="37474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09160" y="212140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flight_features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cols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492240" y="1005840"/>
            <a:ext cx="182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B300"/>
                </a:solidFill>
              </a:rPr>
              <a:t>→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629400" y="100584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20840" y="1097280"/>
            <a:ext cx="502920" cy="50292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629400" y="1097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🌳</a:t>
            </a:r>
            <a:endParaRPr lang="en-US" sz="3200" dirty="0"/>
          </a:p>
        </p:txBody>
      </p:sp>
      <p:sp>
        <p:nvSpPr>
          <p:cNvPr id="35" name="Text 33"/>
          <p:cNvSpPr/>
          <p:nvPr/>
        </p:nvSpPr>
        <p:spPr>
          <a:xfrm>
            <a:off x="662940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예측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720840" y="2103120"/>
            <a:ext cx="1737360" cy="457200"/>
          </a:xfrm>
          <a:prstGeom prst="rect">
            <a:avLst/>
          </a:prstGeom>
          <a:solidFill>
            <a:srgbClr val="E3F2FD"/>
          </a:solidFill>
          <a:ln w="6350">
            <a:solidFill>
              <a:srgbClr val="FFB3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0" y="212140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 = 20 min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B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R² 0.43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7200" y="278892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43A04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457200" y="2880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457200" y="3520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Conformal 구간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48640" y="3886200"/>
            <a:ext cx="1737360" cy="457200"/>
          </a:xfrm>
          <a:prstGeom prst="rect">
            <a:avLst/>
          </a:prstGeom>
          <a:solidFill>
            <a:srgbClr val="E3F2FD"/>
          </a:solidFill>
          <a:ln w="6350">
            <a:solidFill>
              <a:srgbClr val="43A04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" y="390448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[12, 40] min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90% conf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2377440" y="2788920"/>
            <a:ext cx="182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B300"/>
                </a:solidFill>
              </a:rPr>
              <a:t>→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2514600" y="278892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8E24A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606040" y="2880360"/>
            <a:ext cx="502920" cy="502920"/>
          </a:xfrm>
          <a:prstGeom prst="ellipse">
            <a:avLst/>
          </a:prstGeom>
          <a:solidFill>
            <a:srgbClr val="8E24AA"/>
          </a:solidFill>
          <a:ln w="12700">
            <a:solidFill>
              <a:srgbClr val="8E24A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604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2514600" y="2880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</a:t>
            </a:r>
            <a:endParaRPr lang="en-US" sz="3200" dirty="0"/>
          </a:p>
        </p:txBody>
      </p:sp>
      <p:sp>
        <p:nvSpPr>
          <p:cNvPr id="50" name="Text 48"/>
          <p:cNvSpPr/>
          <p:nvPr/>
        </p:nvSpPr>
        <p:spPr>
          <a:xfrm>
            <a:off x="2514600" y="3520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+ LLM 조언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06040" y="3886200"/>
            <a:ext cx="1737360" cy="457200"/>
          </a:xfrm>
          <a:prstGeom prst="rect">
            <a:avLst/>
          </a:prstGeom>
          <a:solidFill>
            <a:srgbClr val="E3F2FD"/>
          </a:solidFill>
          <a:ln w="6350">
            <a:solidFill>
              <a:srgbClr val="8E24A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51760" y="390448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E2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"승객 안내 준비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E2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FAA AIM 7-1"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434840" y="2788920"/>
            <a:ext cx="182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B300"/>
                </a:solidFill>
              </a:rPr>
              <a:t>→</a:t>
            </a:r>
            <a:endParaRPr lang="en-US" sz="2000" dirty="0"/>
          </a:p>
        </p:txBody>
      </p:sp>
      <p:sp>
        <p:nvSpPr>
          <p:cNvPr id="54" name="Shape 52"/>
          <p:cNvSpPr/>
          <p:nvPr/>
        </p:nvSpPr>
        <p:spPr>
          <a:xfrm>
            <a:off x="4572000" y="278892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663440" y="2880360"/>
            <a:ext cx="502920" cy="502920"/>
          </a:xfrm>
          <a:prstGeom prst="ellipse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6344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4572000" y="2880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</a:t>
            </a:r>
            <a:endParaRPr lang="en-US" sz="3200" dirty="0"/>
          </a:p>
        </p:txBody>
      </p:sp>
      <p:sp>
        <p:nvSpPr>
          <p:cNvPr id="58" name="Text 56"/>
          <p:cNvSpPr/>
          <p:nvPr/>
        </p:nvSpPr>
        <p:spPr>
          <a:xfrm>
            <a:off x="4572000" y="3520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관제사 대시보드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663440" y="3886200"/>
            <a:ext cx="1737360" cy="457200"/>
          </a:xfrm>
          <a:prstGeom prst="rect">
            <a:avLst/>
          </a:prstGeom>
          <a:solidFill>
            <a:srgbClr val="E3F2FD"/>
          </a:solidFill>
          <a:ln w="6350">
            <a:solidFill>
              <a:srgbClr val="EF535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09160" y="390448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&lt;5s 전체 지연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EF53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&lt;42ms 서빙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/ 30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09 · TAKEAWAYS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학생을 위한 핵심 교훈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Takeaways for Students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097280"/>
            <a:ext cx="502920" cy="502920"/>
          </a:xfrm>
          <a:prstGeom prst="ellipse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234440" y="1051560"/>
            <a:ext cx="7452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EF53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10698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데이터는 raw 부터 완벽하지 않다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71600" y="13533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 data is never clean</a:t>
            </a:r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 cleaning 단계를 절대 건너뛰지 마라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1801368"/>
            <a:ext cx="502920" cy="50292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801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234440" y="1755648"/>
            <a:ext cx="7452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1600" y="17739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engineering &gt; 모델 크기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2057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Features &gt; Model size</a:t>
            </a:r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 실제: 5 features 추가로 R² +335% (P1)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505456"/>
            <a:ext cx="502920" cy="50292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5054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234440" y="2459736"/>
            <a:ext cx="7452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24780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시계열은 절대 shuffle 하지 마라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2761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089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Never shuffle time-series</a:t>
            </a:r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 Temporal leakage 는 가장 흔한 치명적 실수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3209544"/>
            <a:ext cx="502920" cy="502920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2095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234440" y="3163824"/>
            <a:ext cx="7452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3182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선택은 정확도만이 아니다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71600" y="34655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Accuracy is not the only metric</a:t>
            </a:r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 해석성 · 운영성 · 유지비 모두 고려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3913632"/>
            <a:ext cx="502920" cy="502920"/>
          </a:xfrm>
          <a:prstGeom prst="ellipse">
            <a:avLst/>
          </a:prstGeom>
          <a:solidFill>
            <a:srgbClr val="8E24AA"/>
          </a:solidFill>
          <a:ln w="12700">
            <a:solidFill>
              <a:srgbClr val="8E24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913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1234440" y="3867912"/>
            <a:ext cx="7452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8E24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3886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지식이 곧 경쟁력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371600" y="4169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8E24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Domain knowledge = competitive edge</a:t>
            </a:r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 EUROCONTROL 연구 → Rotation feature 설계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/ 30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657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10 · DISCUSSION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24688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&amp; 토론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57607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7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 — questions for discussion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</a:t>
            </a:r>
            <a:endParaRPr lang="en-US" sz="6000" dirty="0"/>
          </a:p>
        </p:txBody>
      </p:sp>
      <p:sp>
        <p:nvSpPr>
          <p:cNvPr id="8" name="Shape 6"/>
          <p:cNvSpPr/>
          <p:nvPr/>
        </p:nvSpPr>
        <p:spPr>
          <a:xfrm>
            <a:off x="731520" y="1874520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3852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1901952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Iceberg 가 그냥 parquet 보다 낫나요?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Why Iceberg over plain parquet?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404872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468880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9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432304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Conformal 말고 Bayesian CI 는 안 되나요?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Why not Bayesian credible interval?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935224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99923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2962656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Per-phase 7개 대신 phase 를 feature 로 넣으면?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Why not just use phase as a feature?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465576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52958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5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3493008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5.7M 행 전부 말고 샘플만 써도 되나요?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Is 10% sampling OK?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3995928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8E24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059936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E24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4023360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161 chunks 로 충분한가요?</a:t>
            </a:r>
            <a:pPr indent="0" marL="0">
              <a:buNone/>
            </a:pPr>
            <a:r>
              <a:rPr lang="en-US" sz="9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Is 161 chunks enough for RAG?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4910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SkyOps Intelligence · 데이터 교육용 자료 · 2026-04-19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9103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 / 30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Thank You — Questions Welcome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2560320"/>
            <a:ext cx="7315200" cy="1783080"/>
          </a:xfrm>
          <a:prstGeom prst="roundRect">
            <a:avLst>
              <a:gd name="adj" fmla="val 5128"/>
            </a:avLst>
          </a:prstGeom>
          <a:solidFill>
            <a:srgbClr val="FAFAFA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6517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  Resources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297180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🐙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00200" y="29718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91840" y="297180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github.com/biz-doublej/SkyOps-Intelligence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322783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00200" y="322783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docs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32278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docs/data_collection.md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483864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🧑‍🏫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600200" y="34838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Reproduction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91840" y="34838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docs/reproduction_guide.md (564 lines)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39896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00200" y="373989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ADRs 7개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91840" y="373989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docs/adr/ (001~007)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399592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📧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600200" y="399592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399592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doublej.biz01@gmail.com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3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DoubleJ 팀 / 정재원  ·  </a:t>
            </a:r>
            <a:pPr algn="ctr" indent="0" marL="0">
              <a:buNone/>
            </a:pPr>
            <a:r>
              <a:rPr lang="en-US" sz="1100" dirty="0">
                <a:solidFill>
                  <a:srgbClr val="E3F2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빅데이터과 캡스톤디자인  ·  </a:t>
            </a:r>
            <a:pPr algn="ctr" indent="0" marL="0">
              <a:buNone/>
            </a:pPr>
            <a:r>
              <a:rPr lang="en-US" sz="1100" i="1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v2.2.0 · 2026-04-19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빅데이터과 캡스톤디자인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SkyOps Intelligence — 항공 데이터 교육용 자료</dc:title>
  <dc:subject>PptxGenJS Presentation</dc:subject>
  <dc:creator>DoubleJ · 정재원</dc:creator>
  <cp:lastModifiedBy>DoubleJ · 정재원</cp:lastModifiedBy>
  <cp:revision>1</cp:revision>
  <dcterms:created xsi:type="dcterms:W3CDTF">2026-04-21T06:35:53Z</dcterms:created>
  <dcterms:modified xsi:type="dcterms:W3CDTF">2026-04-21T06:35:53Z</dcterms:modified>
</cp:coreProperties>
</file>