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✈ SkyOps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SkyOps Intelligence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항공 운항 이상 탐지 및 AI 관제 보조 플랫폼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B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「이상을 탐지하고, 원인을 설명하고, 대응 절차를 5초 이내에 자동 생성합니다」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909C"/>
                </a:solidFill>
              </a:rPr>
              <a:t>발표자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정재원 </a:t>
            </a:r>
            <a:pPr indent="0" marL="0">
              <a:buNone/>
            </a:pPr>
            <a:r>
              <a:rPr lang="en-US" sz="1200" dirty="0">
                <a:solidFill>
                  <a:srgbClr val="78909C"/>
                </a:solidFill>
              </a:rPr>
              <a:t>  ·  지도교수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조상구 교수님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2026학년도 1학기 캡스톤디자인 최종 발표 · 빅데이터과 · DoubleJ팀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73152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 · CONTENTS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순서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9144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소개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만들었는가, 무엇을 해결하는가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29844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2984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12984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5-Layer 구조와 데이터 흐름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68249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16824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 파이프라인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168249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· OpenSky · FAA SWIM · METAR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06654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0665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모델 · 지연 예측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206654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XGBoost + Conformal Prediction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45059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24505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모델 · 이상 탐지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24505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Per-phase Isolation Forest + Active Learning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83464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28346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· AI 어시스턴트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0" y="28346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Qwen2.5-7B + QLoRA + DPO + RAG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21868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32186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서빙 · 대시보드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0" y="32186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13 endpoints + Next.js 16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60273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360273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MLOps &amp; Engineering Package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0" y="360273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Observability + Data Governance + IaC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398678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97280" y="39867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지표 &amp; 진화 과정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0" y="398678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 → P8 roadmap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37083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97280" y="43708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&amp; 한계 · Q&amp;A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0" y="43708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동작 + 향후 계획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9103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SkyOps Intelligence · 2026-04-16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29600" y="49103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28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73152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01 · 프로젝트 소개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요약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「항공 관제사를 위한 실시간 AI 파트너」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B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탐지 → 원인 자연어 설명 → 대응 절차 자동 생성, 5초 이내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86000"/>
            <a:ext cx="45720" cy="9601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15분 선행 지연 예측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517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XGBoost + Conformal — 예측값 + 90% 신뢰구간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2286000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2286000"/>
            <a:ext cx="45720" cy="9601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실시간 이상 탐지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26517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비행 단계별 Isolation Forest ×7 + 자동 학습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0" y="2286000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2286000"/>
            <a:ext cx="45720" cy="9601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자연어 원인 설명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80760" y="26517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QLoRA+DPO 파인튜닝 한국어 LLM + RAG 161 chunks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383280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383280"/>
            <a:ext cx="45720" cy="9601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474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실시간 NOTAM 통합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37490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FAA SWIM 실연동 (60초에 219건 검증)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3383280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3383280"/>
            <a:ext cx="45720" cy="9601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474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관제 대시보드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37490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16 · 7 페이지 · 실시간 지도/히트맵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43600" y="3383280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0" y="3383280"/>
            <a:ext cx="45720" cy="9601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3474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승객 안내문 자동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80760" y="37490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유형별 안내방송문 생성 + 승인 흐름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9103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SkyOps Intelligence · 2026-04-16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29600" y="49103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28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73152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01 · 프로젝트 소개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항공 운항 AI 인가?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4023360" cy="45720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60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항공 운영의 3대 문제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53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❗ 지연 예측 불투명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「얼마나 늦어질지」는 예측되지만 「얼마나 확신 가능한지」는 없음. 관제사는 "예상 15분 지연"만 보고 결정해야 함.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53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❗ 이상 탐지 false positive 과다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임계값 Rule 로는 이륙 중 정상적 급상승도 이상으로 오탐. 알람 피로(alert fatigue) 심각.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53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❗ 의사결정 보조 부재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규정·NOTAM·SOP 가 수백 페이지. 비상 시 즉시 참조 불가. 경험 많은 관제사에게만 의존.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914400"/>
            <a:ext cx="402336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960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SkyOps 의 해결 접근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확률적 예측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1783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Conformal Prediction 으로 「90% 확률로 6~41분 지연」 형태의 신뢰구간 제공 → 관제사가 위험 감수 정도를 정량적으로 판단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Phase-aware 탐지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2743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비행 단계(이착륙·순항·접근) 별로 별도 IF 모델 ×7 + Active Learning → alert fatigue 67% 감소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AI 어시스턴트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703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특화 LLM + RAG 가 규정·SOP 에서 해당 절차를 자동 추출. 5초 이내 자연어 설명 + 승객 안내문 생성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103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SkyOps Intelligence · 2026-04-16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9103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28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73152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02 · 시스템 아키텍처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5-Layer 구조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188720" cy="65836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875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37360" y="914400"/>
            <a:ext cx="6949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96012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OpenSky ADS-B · NOAA METAR · FAA SWIM · KAC 공공데이터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572768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673352"/>
            <a:ext cx="1188720" cy="6583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4650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19933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스트리밍 처리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737360" y="1673352"/>
            <a:ext cx="6949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1719072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Apache Kafka + Avro Schema Registry → PyFlink → Redis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331720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432304"/>
            <a:ext cx="1188720" cy="65836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50545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7523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737360" y="2432304"/>
            <a:ext cx="6949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2478024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XGBoost (지연) · Per-phase IF ×7 (이상) · Qwen2.5-7B (LLM)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090672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191256"/>
            <a:ext cx="1188720" cy="65836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2644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35112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서빙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737360" y="3191256"/>
            <a:ext cx="6949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0" y="3236976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15 endpoints + vLLM AWQ + ChromaDB RAG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120" y="3849624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950208"/>
            <a:ext cx="118872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0233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2702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737360" y="3950208"/>
            <a:ext cx="6949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0" y="3995928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16 · 7 페이지 · Leaflet 지도 + Cloudflare Tunnel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9103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SkyOps Intelligence · 2026-04-16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0" y="49103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28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73152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03 · 데이터 수집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4가지 실시간 데이터 소스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91440" cy="17830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OpenSky Network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ADS-B 비행 위치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5087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API, 유럽·아시아 커버리지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7373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항공기 위치 (위도·경도·고도·속도) 를 10초 주기로 수집. 전 세계 약 35,000개 지상 수신기에서 익명 기여.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331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사용처  </a:t>
            </a:r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비행 경로 추적, 실시간 지도, 이상 탐지의 물리적 feature 입력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91440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914400"/>
            <a:ext cx="91440" cy="17830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NOAA / KMA METAR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2344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기상 관측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15087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30분마다 세계 공항 기상 보고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92040" y="17373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기상(바람·시정·운고·기온) 은 지연의 가장 큰 단일 원인. METAR 는 국제 표준 포맷.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2331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사용처  </a:t>
            </a:r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XGBoost 지연 예측 feature, 기상 기반 GDP 감지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83464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834640"/>
            <a:ext cx="91440" cy="17830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926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FAA SWIM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31546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NOTAM 실시간 피드 🔥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34290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Solace JMS over SMF/TLS (프로덕션급)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36576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 FAA 의 공식 System Wide Information Management. 활주로 폐쇄·항법시설 장애 등 운항 안전 공지.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251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사용처  </a:t>
            </a:r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NOTAM 통합 (60초에 219건 수신 검증 완료)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283464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2834640"/>
            <a:ext cx="91440" cy="178308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926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한국공항공사 ACDM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92040" y="31546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53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공공데이터포털 API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34290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53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인천·김포 운항정보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92040" y="36576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공항 specific 데이터. EUROCONTROL NM B2B 계약 없이도 한국 trafffic 활용 가능한 대안.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92040" y="4251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53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사용처  </a:t>
            </a:r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ATFM 지연 상황 inference (GDP · CTOT 추정)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9103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SkyOps Intelligence · 2026-04-16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0" y="49103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28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73152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03 · 데이터 수집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Apache Kafka — 왜 썼나?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왜 Kafka 인가?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28600" cy="22860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3716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항공 데이터는 초당 수천 건 (ADS-B) — HTTP REST 로는 backpressure 감당 불가. Kafka 의 pub-sub + 로그 저장 모델이 적합.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228600" cy="22860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031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0574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탐지·지연 예측·시각화가 모두 같은 데이터를 소비해야 함. Kafka 는 하나의 producer → 여러 consumer 를 효율적으로 지원.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228600" cy="22860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889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27432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실패 시 재처리(replay) 필수. Kafka 의 offset + 로그 기반 저장으로 「어제 14시부터 다시 읽기」 가능.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228600" cy="22860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74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4290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Schema Registry (Avro) 와 결합하면 producer/consumer 간 계약 강제 → 필드 잘못 보내면 즉시 reject.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914400"/>
            <a:ext cx="3840480" cy="35661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📡 Kafka Topics (6개 · Avro v2.0)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B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flight-position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12080" y="1572768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ADS-B 비행 위치 · 10초 단위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0" y="1828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B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weather-event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2029968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METAR/TAF 기상 · 30분 단위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0" y="2286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B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notam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2487168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FAA SWIM NOTAM · 실시간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0" y="2743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B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atfm-restriction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12080" y="2944368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ATFM GDP/slot · on-demand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0" y="3200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B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alert-decision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0" y="3401568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탐지 결과 · 실시간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0" y="3657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B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acdm-milestone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3858768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A-CDM 16 milestone · P8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9103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SkyOps Intelligence · 2026-04-16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29600" y="49103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28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73152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03 · 데이터 수집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PyFlink + Redis — 실시간 처리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4023360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60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Apache Flink (PyFlink)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Flink? — 왜 Spark 가 아닌가?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True streaming — Spark 는 micro-batch 지만 Flink 는 이벤트 단위 실시간 처리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Event-time + Watermark — 네트워크 지연으로 늦게 도착하는 ADS-B 이벤트도 올바른 시간 기준 집계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5분 Tumbling Window 로 공항별 시간당 출발/도착 편수 집계 → XGBoost feature 주입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5661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CEP (Complex Event Processing) 룰 엔진으로 이상 패턴 감지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914400"/>
            <a:ext cx="4023360" cy="41148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960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🔴 Redis — In-memory Store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Redis? — 마이크로초 latency 필요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17830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관제사가 대시보드에서 실시간 항공기 위치를 보려면 p95 &lt; 30ms 응답 필수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3774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DB 조회 대신 Redis Sorted Set 에 aircraft state 캐싱 — RAM 기반 μs 단위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9718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Debouncing (알람 억제) — TTL 60s 키로 같은 이상 반복 방지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35661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Feast Feature Store online layer — 지연 예측 feature 즉시 제공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103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SkyOps Intelligence · 2026-04-16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9103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28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73152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04 · ML 모델 · 지연 예측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XGBoost 인가?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XGBoost (Extreme Gradient Boosting)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캐글 대회·실무 Tabular 데이터의 사실상 표준 — 2014 Tianqi Chen 개발, 트리 기반 앙상블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1280160" cy="5486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45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737360" y="1645920"/>
            <a:ext cx="6949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16459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캐글 대회 우승 모델 대부분 · tabular 데이터에서 딥러닝 대비 동등 이상 성능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1280160" cy="5486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86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737360" y="2286000"/>
            <a:ext cx="6949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22860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학습 + 히스토그램 기반 split → 5.7M rows 4분 학습 (RTX 3070 없이도 CPU 로 가능)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1280160" cy="5486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26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해석성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737360" y="2926080"/>
            <a:ext cx="6949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29260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SHAP TreeExplainer 지원 → 「왜 이 항공편이 지연될 거라고 예측했는가」 feature 기여도 시각화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1280160" cy="54864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5661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robust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737360" y="3566160"/>
            <a:ext cx="6949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0" y="3566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결측값·이상치에 강함 · categorical encoding 자동 처리 · normalization 불필요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3708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✈ 우리 프로젝트 실측 결과: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RMSE 28.18분  ·  Test R² 0.4328  ·  분류 정확도 89.04%  ·  학습 시간 4분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9103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SkyOps Intelligence · 2026-04-16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9103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28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73152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04 · ML 모델 · 지연 예측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P0+P1: 평가 정직화 + 운항 네트워크 Feature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P0: TimeSeriesSplit 전환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2801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KFold(shuffle=True) 는 미래 데이터로 과거를 예측하는 temporal leakage 발생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TimeSeriesSplit walk-forward validation 으로 교체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011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결과:  </a:t>
            </a:r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 표준편차 ±0.30 → ±6.14</a:t>
            </a:r>
            <a:pPr indent="0" marL="0">
              <a:buNone/>
            </a:pPr>
            <a:r>
              <a:rPr lang="en-US" sz="900" i="1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(시간대별 변동성 정직 노출)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P1: Rotation Features 5종 추가 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EUROCONTROL CODA: 지연의 45%는 reactionary (전편 지연의 파급)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00600" y="1600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rotation_depth · prev_leg_arr_delay · turnaround_min · is_first_leg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00600" y="2057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결과:  </a:t>
            </a:r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R² 0.0996 → </a:t>
            </a:r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0.4328 (+335%)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803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 → P1 성능 변화 (TimeSeriesSplit + Rotation features)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2743200" cy="246888"/>
          </a:xfrm>
          <a:prstGeom prst="rect">
            <a:avLst/>
          </a:prstGeom>
          <a:solidFill>
            <a:srgbClr val="1E88E5"/>
          </a:solidFill>
          <a:ln w="6350">
            <a:solidFill>
              <a:srgbClr val="E3F2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24612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3246120"/>
            <a:ext cx="2286000" cy="246888"/>
          </a:xfrm>
          <a:prstGeom prst="rect">
            <a:avLst/>
          </a:prstGeom>
          <a:solidFill>
            <a:srgbClr val="1E88E5"/>
          </a:solidFill>
          <a:ln w="6350">
            <a:solidFill>
              <a:srgbClr val="E3F2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324612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 Baseline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0" y="3246120"/>
            <a:ext cx="2286000" cy="246888"/>
          </a:xfrm>
          <a:prstGeom prst="rect">
            <a:avLst/>
          </a:prstGeom>
          <a:solidFill>
            <a:srgbClr val="1E88E5"/>
          </a:solidFill>
          <a:ln w="6350">
            <a:solidFill>
              <a:srgbClr val="E3F2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324612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최종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0" y="3246120"/>
            <a:ext cx="1371600" cy="246888"/>
          </a:xfrm>
          <a:prstGeom prst="rect">
            <a:avLst/>
          </a:prstGeom>
          <a:solidFill>
            <a:srgbClr val="1E88E5"/>
          </a:solidFill>
          <a:ln w="6350">
            <a:solidFill>
              <a:srgbClr val="E3F2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0" y="324612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502152"/>
            <a:ext cx="2743200" cy="246888"/>
          </a:xfrm>
          <a:prstGeom prst="rect">
            <a:avLst/>
          </a:prstGeom>
          <a:solidFill>
            <a:srgbClr val="E3F2FD"/>
          </a:solidFill>
          <a:ln w="6350">
            <a:solidFill>
              <a:srgbClr val="E3F2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50215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 RMSE (분)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3502152"/>
            <a:ext cx="2286000" cy="246888"/>
          </a:xfrm>
          <a:prstGeom prst="rect">
            <a:avLst/>
          </a:prstGeom>
          <a:solidFill>
            <a:srgbClr val="E3F2FD"/>
          </a:solidFill>
          <a:ln w="6350">
            <a:solidFill>
              <a:srgbClr val="E3F2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0" y="350215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24.60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0" y="3502152"/>
            <a:ext cx="2286000" cy="246888"/>
          </a:xfrm>
          <a:prstGeom prst="rect">
            <a:avLst/>
          </a:prstGeom>
          <a:solidFill>
            <a:srgbClr val="E3F2FD"/>
          </a:solidFill>
          <a:ln w="6350">
            <a:solidFill>
              <a:srgbClr val="E3F2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0" y="350215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22.61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772400" y="3502152"/>
            <a:ext cx="1371600" cy="246888"/>
          </a:xfrm>
          <a:prstGeom prst="rect">
            <a:avLst/>
          </a:prstGeom>
          <a:solidFill>
            <a:srgbClr val="E3F2FD"/>
          </a:solidFill>
          <a:ln w="6350">
            <a:solidFill>
              <a:srgbClr val="E3F2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0" y="350215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-8.1%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758184"/>
            <a:ext cx="27432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3F2F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758184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RMSE (분)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0" y="3758184"/>
            <a:ext cx="22860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3F2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0" y="375818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36.52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0" y="3758184"/>
            <a:ext cx="22860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3F2F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0" y="375818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28.18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772400" y="3758184"/>
            <a:ext cx="13716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3F2F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0" y="375818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-22.8%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4014216"/>
            <a:ext cx="2743200" cy="246888"/>
          </a:xfrm>
          <a:prstGeom prst="rect">
            <a:avLst/>
          </a:prstGeom>
          <a:solidFill>
            <a:srgbClr val="E3F2FD"/>
          </a:solidFill>
          <a:ln w="6350">
            <a:solidFill>
              <a:srgbClr val="E3F2F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014216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R²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0" y="4014216"/>
            <a:ext cx="2286000" cy="246888"/>
          </a:xfrm>
          <a:prstGeom prst="rect">
            <a:avLst/>
          </a:prstGeom>
          <a:solidFill>
            <a:srgbClr val="E3F2FD"/>
          </a:solidFill>
          <a:ln w="6350">
            <a:solidFill>
              <a:srgbClr val="E3F2F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0" y="4014216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0.0996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86400" y="4014216"/>
            <a:ext cx="2286000" cy="246888"/>
          </a:xfrm>
          <a:prstGeom prst="rect">
            <a:avLst/>
          </a:prstGeom>
          <a:solidFill>
            <a:srgbClr val="E3F2FD"/>
          </a:solidFill>
          <a:ln w="6350">
            <a:solidFill>
              <a:srgbClr val="E3F2F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0" y="4014216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0.4328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772400" y="4014216"/>
            <a:ext cx="1371600" cy="246888"/>
          </a:xfrm>
          <a:prstGeom prst="rect">
            <a:avLst/>
          </a:prstGeom>
          <a:solidFill>
            <a:srgbClr val="E3F2FD"/>
          </a:solidFill>
          <a:ln w="6350">
            <a:solidFill>
              <a:srgbClr val="E3F2F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72400" y="401421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+335% 🔥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4270248"/>
            <a:ext cx="27432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3F2F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27024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5-Fold CV std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200400" y="4270248"/>
            <a:ext cx="22860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3F2F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0" y="427024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±6.14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486400" y="4270248"/>
            <a:ext cx="22860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3F2F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0" y="427024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±1.51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772400" y="4270248"/>
            <a:ext cx="13716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3F2F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72400" y="427024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4배 안정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57200" y="4526280"/>
            <a:ext cx="2743200" cy="246888"/>
          </a:xfrm>
          <a:prstGeom prst="rect">
            <a:avLst/>
          </a:prstGeom>
          <a:solidFill>
            <a:srgbClr val="E3F2FD"/>
          </a:solidFill>
          <a:ln w="6350">
            <a:solidFill>
              <a:srgbClr val="E3F2F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452628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Val-Test gap (분)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200400" y="4526280"/>
            <a:ext cx="2286000" cy="246888"/>
          </a:xfrm>
          <a:prstGeom prst="rect">
            <a:avLst/>
          </a:prstGeom>
          <a:solidFill>
            <a:srgbClr val="E3F2FD"/>
          </a:solidFill>
          <a:ln w="6350">
            <a:solidFill>
              <a:srgbClr val="E3F2F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0" y="452628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486400" y="4526280"/>
            <a:ext cx="2286000" cy="246888"/>
          </a:xfrm>
          <a:prstGeom prst="rect">
            <a:avLst/>
          </a:prstGeom>
          <a:solidFill>
            <a:srgbClr val="E3F2FD"/>
          </a:solidFill>
          <a:ln w="6350">
            <a:solidFill>
              <a:srgbClr val="E3F2F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86400" y="452628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5.5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772400" y="4526280"/>
            <a:ext cx="1371600" cy="246888"/>
          </a:xfrm>
          <a:prstGeom prst="rect">
            <a:avLst/>
          </a:prstGeom>
          <a:solidFill>
            <a:srgbClr val="E3F2FD"/>
          </a:solidFill>
          <a:ln w="6350">
            <a:solidFill>
              <a:srgbClr val="E3F2F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772400" y="452628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절반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4320" y="49103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SkyOps Intelligence · 2026-04-16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229600" y="49103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28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73152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04 · ML 모델 · 지연 예측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Conformal Prediction — 확률적 예측구간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왜 Conformal Prediction 인가?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예측: 「15분 지연될 겁니다」 → 정말 15분? 실제는 5분일 수도 40분일 수도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4023360" cy="1371600"/>
          </a:xfrm>
          <a:prstGeom prst="rect">
            <a:avLst/>
          </a:prstGeom>
          <a:solidFill>
            <a:srgbClr val="E3F2FD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53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전통적 point estimate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"예상 지연 15분"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얼마나 확신할 수 있나? 모름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위험 감수 판단 불가능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Heuristic confidence (high/low) 는 근거 없음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691640"/>
            <a:ext cx="4023360" cy="1371600"/>
          </a:xfrm>
          <a:prstGeom prst="rect">
            <a:avLst/>
          </a:prstGeom>
          <a:solidFill>
            <a:srgbClr val="00897B">
              <a:alpha val="15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Conformal prediction interval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21031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"90% 확률로 6~41분 지연"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분포 가정 없이 수학적으로 보장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Empirical coverage 실측 90.00%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관제사가 정량적 위험 판단 가능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8229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918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방식 — MAPIE 1.3 (Model Agnostic Prediction Intervals Estimator)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61188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Split Conformal:  </a:t>
            </a:r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 → 별도 calibration set 에서 절대 residual 계산 → 양측 대칭 interval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CQR (P4+):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Conformalized Quantile Regression → low/high quantile 모델 2개 + conformity score → 비대칭 interval (기상 왜곡 분포 반영)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B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어디에 쓰이나: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 진단, 금융 VaR, 자율주행 안전 margin — 이론 보장 유효 예측구간이 필요한 고위험 도메인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9103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SkyOps Intelligence · 2026-04-16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49103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28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73152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05 · ML 모델 · 이상 탐지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Isolation Forest 원리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🌲 Isolation Forest (2008, Liu et al.)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「이상치는 소수이고 다른 데이터와 거리가 멀다」— 트리에서 빨리 isolation 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40233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아이디어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랜덤 트리들을 만들어서 data 를 재귀적으로 분할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5420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정상 data 는 깊은 트리에서 분리됨 (path long)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98094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이상 data 는 얕은 트리에서 분리됨 (path short)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41985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여러 트리의 평균 path length 로 anomaly score 계산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8587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비지도 학습 — label 없어도 동작 (항공 사고 data 는 희귀)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691640"/>
            <a:ext cx="40233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Autoencoder / One-class SVM 이 아닌가?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21031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Autoencoder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23042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딥러닝은 GPU 필요 + 학습 안정성 떨어짐. IF 는 CPU 에서 분 단위 학습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00600" y="26700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One-class SVM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28712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SVM 은 O(n²~n³) 로 대용량에 느림. IF 는 O(n log n)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00600" y="32369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통계적 규칙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343814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"고도 &gt; 40,000ft" 같은 단일 threshold 는 cruise 정상을 오탐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0600" y="38039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LSTM Autoencoder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40050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시계열 학습 복잡. 현재 snapshot feature 로도 충분한 성능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103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SkyOps Intelligence · 2026-04-16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9103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28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73152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05 · ML 모델 · 이상 탐지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P5+: Phase-aware Per-phase IF ×7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비행 단계별로 정상이 완전히 다르다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CRUISE 에서 30,000ft 는 정상 · LANDING 에서 30,000ft 는 비정상. 단일 모델로는 구분 불가.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2057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691640"/>
            <a:ext cx="2057400" cy="3200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28216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TAXI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contam 0.02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2585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활주로 이동 — 저고도·저속. 이상: 속도 급증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14600" y="1691640"/>
            <a:ext cx="2057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4600" y="1691640"/>
            <a:ext cx="2057400" cy="3200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1728216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TAKEOFF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1460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contam 0.03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22585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이륙 — 고속 가속. 이상: 고도 급락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63440" y="1691640"/>
            <a:ext cx="2057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691640"/>
            <a:ext cx="2057400" cy="3200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728216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CLIMB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contam 0.04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22585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상승 — 일정 VS. 이상: 급격한 방향 변경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812280" y="1691640"/>
            <a:ext cx="2057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12280" y="1691640"/>
            <a:ext cx="2057400" cy="3200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1728216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CRUISE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1228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contam 0.05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03720" y="22585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순항 — 대부분 시간. 이상: 고도 급변·emergency squawk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65760" y="2926080"/>
            <a:ext cx="2057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2926080"/>
            <a:ext cx="2057400" cy="3200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962656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329184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contam 0.04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34930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하강 — -500~-1500 fpm. 이상: 너무 빠른 하강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514600" y="2926080"/>
            <a:ext cx="2057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14600" y="2926080"/>
            <a:ext cx="2057400" cy="3200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14600" y="2962656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514600" y="329184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contam 0.06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606040" y="34930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— 공항 반경 30NM. 안전 요주의 (사고 빈발)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663440" y="2926080"/>
            <a:ext cx="2057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2926080"/>
            <a:ext cx="2057400" cy="3200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2962656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LANDING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663440" y="329184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contam 0.06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54880" y="34930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착륙 — 최저 고도. 이상: 복행 후 동일 시나리오 반복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812280" y="2926080"/>
            <a:ext cx="2057400" cy="1143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4944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결과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949440" y="32918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phase classifier 와 결합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heuristic 대비 90.3% agreement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alert fatigue 67% 감소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9103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SkyOps Intelligence · 2026-04-16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229600" y="49103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28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73152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05 · ML 모델 · 이상 탐지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Active Learning 자동 재학습 Loop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🔄 분석가 피드백 → 모델 재학습 자동화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103120" cy="5486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이상 탐지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1371600"/>
            <a:ext cx="6035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13716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API가 AnomalyEvent 생성 · alert_id 할당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63040" y="1920240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2103120" cy="5486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11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분석가 라벨링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51760" y="2011680"/>
            <a:ext cx="6035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20116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dashboard에서 TP/FP/Uncertain 클릭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63040" y="2560320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2103120" cy="5486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51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자동 분석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51760" y="2651760"/>
            <a:ext cx="6035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88920" y="265176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Airflow daily 02:00 · FP rate 계산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63040" y="3200400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291840"/>
            <a:ext cx="2103120" cy="54864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291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contamination tune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651760" y="3291840"/>
            <a:ext cx="6035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88920" y="32918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 &gt; 35% → 낮춤 · FP &lt; 10% → 높임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463040" y="3840480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931920"/>
            <a:ext cx="2103120" cy="5486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931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IF 재학습 + 핫리로드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651760" y="3931920"/>
            <a:ext cx="6035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88920" y="39319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.reload_signal → ModelStore mtime watch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59943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P7-C Bandit v2:  </a:t>
            </a:r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Thompson sampling on Beta(1+TP, 1+FP) + (type, phase) 다양성 라운드로빈 → homogeneous queue 해소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9103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SkyOps Intelligence · 2026-04-16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29600" y="49103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28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73152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06 · LLM · AI 어시스턴트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Qwen2.5-7B 인가?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Qwen2.5-7B-Instruct (Alibaba, 2024)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7B 파라미터 instruction-tuned LLM · Apache 2.0 오픈소스 · 18조 토큰 학습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783080"/>
            <a:ext cx="4206240" cy="3200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19656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Llama-3-8B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1488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동등 성능, 중국어·한국어 품질 우위 (ATC 대화 학습에 유리)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78308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783080"/>
            <a:ext cx="4206240" cy="3200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819656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Gemini/GPT-4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1488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On-premise 가능 (항공 안전 데이터 외부 전송 금지)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78892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788920"/>
            <a:ext cx="4206240" cy="3200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825496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Qwen 72B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1546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7B 면 RTX 3070 8GB (AWQ 4-bit) 로 40 tok/s 가능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78892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2788920"/>
            <a:ext cx="4206240" cy="32004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825496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Mistral-7B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1546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평가 benchmark (KMMLU, KoBEST) 점수 우위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00507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✈ 실제 파인튜닝 결과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" y="42519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QLoRA Train Loss 0.1053  ·  </a:t>
            </a:r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Eval Token Accuracy 97.88%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DPO Rewards Accuracy </a:t>
            </a:r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학습 데이터 13,969건 + 한국 SFT 3,500 시드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9103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SkyOps Intelligence · 2026-04-16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49103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28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73152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06 · LLM · AI 어시스턴트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QLoRA — 4-bit Quantized LoRA Fine-tuning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875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7B 모델을 RTX 3070 (8GB VRAM) 에 어떻게 학습할 것인가?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20700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 Fine-tuning 은 ~60GB VRAM 필요 · QLoRA 로 6GB 까지 축소 → 홈 GPU 에서 학습 가능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2286000" cy="6858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4-bit Quantization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34640" y="1737360"/>
            <a:ext cx="58521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173736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 model 가중치를 FP16 → NF4 (4-bit NormalFloat) 로 압축. 16배 메모리 절감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2286000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14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LoRA Adapter 추가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834640" y="2514600"/>
            <a:ext cx="58521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25146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가중치는 frozen · Low-Rank Adapter 행렬만 학습 (rank=64). 학습 파라미터 0.1% 수준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2286000" cy="6858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918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Gradient Checkpointing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834640" y="3291840"/>
            <a:ext cx="58521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329184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Forward pass 결과를 저장 대신 재계산 → 메모리 시간 tradeoff · 대용량 배치 가능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37083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🖥 학습 spec:  </a:t>
            </a:r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RTX 3070 (8GB) · 학습시간 9시간 · batch 4 · 총 데이터 13,969건 · TRL SFTTrainer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9103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SkyOps Intelligence · 2026-04-16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9103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28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73152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06 · LLM · AI 어시스턴트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DPO — 선호도 학습 (Human Alignment)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"학습된 모델이 생성하는 답변 중 어떤 게 더 좋은가?"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SFT 만으로는 "정답" 은 학습해도 "선호되는 답변 스타일" 은 학습 못 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DPO (Direct Preference Optimization)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chosen / rejected 페어만으로 학습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Reward Model 불필요 → 간단 + 안정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RLHF 3단계 축소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2023 Stanford, NeurIPS Best Paper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691640"/>
            <a:ext cx="4023360" cy="182880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(항공 도메인)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21031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</a:t>
            </a:r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"윈드시어 감지 시 대응은?"
</a:t>
            </a:r>
            <a:pPr indent="0" marL="0">
              <a:buNone/>
            </a:pPr>
            <a:r>
              <a:rPr lang="en-US" sz="90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chosen: </a:t>
            </a:r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활주로 진입 대기, ATC 통보, 승객 안내. 필요 시 공항 변경 고려.
</a:t>
            </a:r>
            <a:pPr indent="0" marL="0">
              <a:buNone/>
            </a:pPr>
            <a:r>
              <a:rPr lang="en-US" sz="900" b="1" dirty="0">
                <a:solidFill>
                  <a:srgbClr val="EF53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rejected: </a:t>
            </a:r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Windshear detected. Follow the procedure.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7307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 DPO 가 주로 쓰이는 곳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402336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ChatGPT / Claude  </a:t>
            </a:r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(OpenAI, Anthropic 이 alignment 에 DPO 계열 사용)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의료 AI  </a:t>
            </a:r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(환자 친화적 언어 선호)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법률 AI  </a:t>
            </a:r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(한국 법률 용어 정확도 우선)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우리 프로젝트  </a:t>
            </a:r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영어 잔존·중국어 코드스위칭·공손어 누락을 rejected 로 학습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9103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SkyOps Intelligence · 2026-04-16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49103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28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73152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06 · LLM · AI 어시스턴트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— Retrieval-Augmented Generation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LLM 이 모르는 최신 규정·NOTAM 어떻게 답하나?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Fine-tuning 만으로는 최신 NOTAM, 공항별 SOP 커버 불가 → RAG 로 외부 지식 주입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965960" cy="10972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「RKSI 활주로 15L 폐쇄 시 대응?」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23160" y="21945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606040" y="1737360"/>
            <a:ext cx="1965960" cy="10972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828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Embed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97480" y="21488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BAAI/bge-m3 로 쿼리 벡터화 (1024차원)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21945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1737360"/>
            <a:ext cx="1965960" cy="10972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828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Retrieve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1488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ChromaDB 161 chunks에서 top-k=4 검색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20840" y="21945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903720" y="1737360"/>
            <a:ext cx="1965960" cy="109728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1828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5160" y="21488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Qwen2.5 + 검색 컨텍스트로 답변 생성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82296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2004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📚 ChromaDB — 왜 이 벡터 DB?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3520440"/>
            <a:ext cx="7955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오픈소스·파이썬 우선  </a:t>
            </a:r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(vs Pinecone 유료, Weaviate 복잡)
</a:t>
            </a:r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임베디드 모드  </a:t>
            </a:r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(SQLite + Parquet) — 별도 서버 불필요, persist 지원
</a:t>
            </a:r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BAAI/bge-m3 임베딩  </a:t>
            </a:r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다국어 (한국어·영어·중국어 동시), MTEB benchmark 최상위
</a:t>
            </a:r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코퍼스 구성  </a:t>
            </a:r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FAA AIM (26), ICAO Annex (20), SOP (25), runbook (18), RKSI specific (15), airport_ops (21), notam samples (13), faa_ac (12), atc/기타 (11) = </a:t>
            </a:r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161 chunks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9103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SkyOps Intelligence · 2026-04-16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9103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28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73152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07 · 서빙 · 대시보드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+ vLLM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402336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875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FastAPI 2.1.1 (15 endpoints)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FastAPI 인가?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Pydantic v2 — request/response schema 자동 검증. Typo 즉시 거부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Swagger UI 자동 — /docs 에서 interactive 문서화 (Flask 는 별도 library 필요)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788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Async / await 네이티브 — vLLM · Redis · DB 동시 호출 병목 없음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291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WebSocket first-class — dashboard 실시간 push 에 필수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3794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ADR-001 Phase 1 후 router 6개 분리 (api.py 1120→107라인)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914400"/>
            <a:ext cx="4023360" cy="4572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9875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🚀 vLLM — 고성능 LLM 서빙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vLLM 인가? (vs HuggingFace Transformers)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1783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PagedAttention — GPU 메모리를 OS 페이징처럼 관리. 메모리 fragmentation 해소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2286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Continuous batching — 요청들이 각자 다른 길이여도 GPU 유휴 없이 처리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2788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AWQ 4-bit — 정확도 유지하며 모델 크기 4배 압축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3291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OpenAI 호환 API — 기존 code 수정 없이 drop-in replacement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3794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RTX 3070 에서 40 tok/s (Transformers 13 tok/s 대비 3배)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103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SkyOps Intelligence · 2026-04-16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9103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28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73152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07 · 서빙 · 대시보드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16 관제 대시보드 (7 페이지)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645920" cy="4572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개요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94560" y="914400"/>
            <a:ext cx="1188720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914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914400"/>
            <a:ext cx="5212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914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카드 4종 + 최근 알림 + 항공기 요약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444752"/>
            <a:ext cx="1645920" cy="4572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4447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지도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94560" y="1444752"/>
            <a:ext cx="1188720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144475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/map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0" y="1444752"/>
            <a:ext cx="5212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144475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Leaflet 라이브맵 (WebSocket + SWR fallback)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1975104"/>
            <a:ext cx="1645920" cy="4572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9751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탐지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1975104"/>
            <a:ext cx="1188720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94560" y="197510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/anomaly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0" y="1975104"/>
            <a:ext cx="5212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19751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알림 피드 + 심각도 필터 + AI 분석 버튼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505456"/>
            <a:ext cx="1645920" cy="4572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50545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NOTAM 실시간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94560" y="2505456"/>
            <a:ext cx="1188720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94560" y="250545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/notam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74720" y="2505456"/>
            <a:ext cx="5212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11880" y="250545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SWIM 실 데이터 + 4 severity 필터 + 공항별 분포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035808"/>
            <a:ext cx="1645920" cy="4572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0358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예측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94560" y="3035808"/>
            <a:ext cx="1188720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94560" y="30358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74720" y="3035808"/>
            <a:ext cx="5212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11880" y="30358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항공사/공항 폼 + Conformal interval 표시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566160"/>
            <a:ext cx="1645920" cy="4572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566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혼잡도 맵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194560" y="3566160"/>
            <a:ext cx="1188720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94560" y="3566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/heatmap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474720" y="3566160"/>
            <a:ext cx="5212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11880" y="3566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MapLibre GL H3 R5 히트맵 (5초 갱신)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4096512"/>
            <a:ext cx="1645920" cy="4572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0965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어시스턴트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194560" y="4096512"/>
            <a:ext cx="1188720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94560" y="409651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/chat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74720" y="4096512"/>
            <a:ext cx="5212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11880" y="40965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채팅 + 시나리오 3종 + 승객 안내문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9103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SkyOps Intelligence · 2026-04-16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229600" y="49103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28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73152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08 · MLOps &amp; Engineering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MLOps 전체 파이프라인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463040" cy="4572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관리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0" y="91440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914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MLflow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31920" y="914400"/>
            <a:ext cx="4754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914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run 기록 · 하이퍼파라미터 · metrics · artifact 관리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444752"/>
            <a:ext cx="146304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4447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0" y="1444752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14447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Airflow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31920" y="1444752"/>
            <a:ext cx="4754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14447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1회 재학습 DAG · Active Learning retrain (02:00 UTC)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1975104"/>
            <a:ext cx="1463040" cy="4572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9751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드리프트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11680" y="1975104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197510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EvidentlyAI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31920" y="1975104"/>
            <a:ext cx="4754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0" y="197510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Population Stability Index · 입력 분포 변화 자동 감지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505456"/>
            <a:ext cx="1463040" cy="45720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50545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Store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011680" y="2505456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03120" y="25054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931920" y="2505456"/>
            <a:ext cx="4754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0" y="250545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 parquet + Online Redis db=1 · training-serving skew 방지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035808"/>
            <a:ext cx="1463040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0358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Lake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011680" y="3035808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03120" y="30358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Apache Iceberg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931920" y="3035808"/>
            <a:ext cx="4754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0" y="30358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Bronze/Silver/Gold 10 테이블 · snapshot · time-travel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566160"/>
            <a:ext cx="1463040" cy="4572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566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Lineage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11680" y="356616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03120" y="3566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OpenLineage + Marquez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31920" y="3566160"/>
            <a:ext cx="4754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23360" y="3566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dataset ↔ model ↔ deployment 추적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4096512"/>
            <a:ext cx="146304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09651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Schema Registry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011680" y="4096512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03120" y="40965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Confluent Avro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931920" y="4096512"/>
            <a:ext cx="4754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23360" y="40965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topics (flight/weather/notam/atfm/alert) · BACKWARD compat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9103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SkyOps Intelligence · 2026-04-16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229600" y="49103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/ 28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73152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08 · MLOps &amp; Engineering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Observability 스택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"배포한 서비스가 실제로 건강한가?" 를 측정 + 경보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463040" cy="5669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7218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Jaeger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70992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분산 Trace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11680" y="1417320"/>
            <a:ext cx="6675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141732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하나의 전 구간 (FastAPI → XGBoost → Redis) 추적 · p99 병목 시각화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1463040" cy="56692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1226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Prometheus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35000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시계열 메트릭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011680" y="2057400"/>
            <a:ext cx="6675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8840" y="205740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서비스별 QPS · latency · error rate 수집 · PromQL 쿼리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697480"/>
            <a:ext cx="1463040" cy="56692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523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Grafana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99008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+ 경보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011680" y="2697480"/>
            <a:ext cx="6675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48840" y="269748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9-panel SLO 대시보드 + 3 alert rules (ErrorRate/Latency/Drift)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37560"/>
            <a:ext cx="1463040" cy="56692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3924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OpenTelemetry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63016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계측 표준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011680" y="3337560"/>
            <a:ext cx="6675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48840" y="333756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코드에서 OTLP gRPC 로 방출 · vendor-neutral (Datadog, New Relic 호환)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977640"/>
            <a:ext cx="1463040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0325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Marquez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270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OpenLineage UI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011680" y="3977640"/>
            <a:ext cx="6675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48840" y="397764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학습 run ↔ 입력 dataset ↔ 출력 table 연결 그래프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9103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SkyOps Intelligence · 2026-04-16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0" y="49103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/ 28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73152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09 · 성능 지표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XGBoost 지연 예측 + IF 이상 탐지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011680" cy="111556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24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22.61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4813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 RMSE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(분)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-8.1% vs P0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68880" y="914400"/>
            <a:ext cx="2011680" cy="11155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024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0.4328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68880" y="14813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R²
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68880" y="17830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+335% vs P0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2011680" cy="111556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585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89.04%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65760" y="27157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 정확도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(delay)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30175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+4.88%p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468880" y="2148840"/>
            <a:ext cx="2011680" cy="111556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22585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90.00%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2468880" y="27157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Conformal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coverage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68880" y="30175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달성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63440" y="914400"/>
            <a:ext cx="4023360" cy="35661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LLM + RAG 지표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9204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 Loss (QLoRA)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0" y="1463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0.1053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1892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Eval Token Accuracy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0" y="18928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97.88%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23225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DPO Rewards Accuracy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32320" y="232257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92040" y="27523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ROUGE-L (평가)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32320" y="27523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0.169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31821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BLEU-1 (평가)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32320" y="31821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0.121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204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chunks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32320" y="3611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161 (6→161, +2583%)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40416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Korean SFT/DPO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32320" y="40416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3,000 + 500 pairs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9103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SkyOps Intelligence · 2026-04-16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29600" y="49103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/ 28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73152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09 · 성능 지표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 → P8 Sprint Roadmap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731520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914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정직화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9144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TimeSeriesSplit — CV std ±0.3→±6.14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325880"/>
            <a:ext cx="73152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2588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13258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Rotation features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13258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R² 0.10→0.43 (+335%) · Conformal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737360"/>
            <a:ext cx="731520" cy="34747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73736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1737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Phase-aware anomaly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0" y="17373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Per-phase multiplier · Debounce · ADR-001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148840"/>
            <a:ext cx="731520" cy="34747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1488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2148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 분리 + OTel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0" y="21488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api.py 1120→107라인 · Active Learning 분석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560320"/>
            <a:ext cx="73152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56032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P4+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25603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Packaging + ADR-002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0" y="25603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pyproject.toml · ChromaDB 95 · CQR · Docker/k8s/CI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971800"/>
            <a:ext cx="731520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97180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P5+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80160" y="29718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FAA SWIM 실연동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0" y="29718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Solace SMF/TLS · 219건/60s · ML phase · Per-phase IF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383280"/>
            <a:ext cx="73152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38328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80160" y="3383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Feast + Iceberg + AL loop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0" y="33832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Store · Medallion · Grafana 9-panel · 161 chunks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794760"/>
            <a:ext cx="731520" cy="34747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79476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P7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280160" y="37947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Bandit + OpenLineage + k8s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0" y="37947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Thompson · Marquez · Argo Rollouts · PSA · NetPol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4206240"/>
            <a:ext cx="731520" cy="34747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2062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P8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280160" y="4206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 배포 + IaC + Evidence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657600" y="42062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Helm/Terraform · Cosign/SBOM · audit + HITL · Runbooks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9103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SkyOps Intelligence · 2026-04-16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229600" y="49103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/ 28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73152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09 · 성능 지표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🔥 P5+ 하이라이트 · FAA SWIM 실연동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B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219</a:t>
            </a:r>
            <a:endParaRPr lang="en-US" sz="100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 수신 / 60초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0" y="1097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미 FAA System Wide Information Management 직접 구독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74720" y="150876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스택:
</a:t>
            </a:r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Solace PubSub+ SMF over TLS 1.2 
</a:t>
            </a:r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ems2.swim.faa.gov:55443 (프로덕션 엔드포인트)
</a:t>
            </a:r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AIXM 5.1 XML + FAA event: namespace 파서
</a:t>
            </a:r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Q-code → NOTAM class (QNDAS, QMRLC 등)
</a:t>
            </a:r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c_rehash TLS trust store (DigiCert G2)
</a:t>
            </a:r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로그: </a:t>
            </a:r>
            <a:pPr indent="0" marL="0">
              <a:buNone/>
            </a:pPr>
            <a:r>
              <a:rPr lang="en-US" sz="1100" i="1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received=219 published=219 parse_err=0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9103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SkyOps Intelligence · 2026-04-16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9103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/ 28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73152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10 · 시연 &amp; 마무리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데모 5 시나리오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731520" cy="6400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280160" y="914400"/>
            <a:ext cx="7406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9601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진입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12344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Leaflet 지도에 한반도 상공 항공기 마커 · WebSocket 실시간 업데이트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731520" cy="6400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459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🔥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80160" y="1645920"/>
            <a:ext cx="7406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16916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NOTAM 라이브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19659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/notam 페이지 · FAA SWIM 실 데이터 · severity 필터 · Q-code 표시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731520" cy="6400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280160" y="2377440"/>
            <a:ext cx="7406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242316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예측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26974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KE081 ICN→CJU · XGBoost 결과 + Conformal 신뢰구간 (6~41분)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731520" cy="6400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089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🚨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280160" y="3108960"/>
            <a:ext cx="7406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17320" y="31546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탐지 + AI 분석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17320" y="34290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CRUISE 중 고도 급변 감지 → LLM 자동 설명 생성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731520" cy="6400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8404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1280160" y="3840480"/>
            <a:ext cx="7406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17320" y="388620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어시스턴트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17320" y="41605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채팅: 「윈드시어 대응 절차」 → FAA AIM 인용한 한국어 답변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9103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SkyOps Intelligence · 2026-04-16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29600" y="49103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/ 28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73152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10 · 시연 &amp; 마무리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및 P9+ 계획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4023360" cy="41148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875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현재 한계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4173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학습 데이터 Kaggle 13,969건 (미국 국내선) · 한국 공항 특성 미반영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19842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Isolation Forest F1 0.345 — label 품질 의존 · Active Learning 데이터 누적 필요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55117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LLM vLLM 서빙 시 RTX 3070 에서 40 tok/s (목표 100+ tok/s)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11810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EUROCONTROL NM B2B · KAC 실 API credentials 미보유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6850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Multi-region ADR-003 은 Proposed 상태 (GKE 배포 미완)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914400"/>
            <a:ext cx="4023360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9875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🚀 P9+ 로드맵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4173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한국공항공사 운항 데이터 수집 → 국내 공항 지연 예측 재학습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18928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Active Learning 실운영 데이터 누적 (3개월) → IF F1 목표 0.85+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236829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vLLM Tensor Parallelism · 멀티 GPU 로 100+ tok/s 달성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284378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EUROCONTROL NM B2B 계약 · ATFM 실시간 CTOT 수신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33192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GCP GKE Phase A 배포 + ADR-003 Multi-region Phase B/C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3794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Kyverno policy · image 서명 admission gate 프로덕션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9103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SkyOps Intelligence · 2026-04-16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9103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 / 28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188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질문과 토론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B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감사합니다 —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297680"/>
            <a:ext cx="9144000" cy="8412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389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github.com/biz-doublej/SkyOps-Intelligence
</a:t>
            </a:r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docs/reproduction_guide.md (564 라인) · docs/adr/ × 3 · docs/runbooks/ × 7
</a:t>
            </a:r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정재원 (DoubleJ) · jjw050727@naver.com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빅데이터과 캡스톤디자인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SkyOps Intelligence — 실시간 항공 운항 AI 플랫폼</dc:title>
  <dc:subject>PptxGenJS Presentation</dc:subject>
  <dc:creator>DoubleJ / 정재원</dc:creator>
  <cp:lastModifiedBy>DoubleJ / 정재원</cp:lastModifiedBy>
  <cp:revision>1</cp:revision>
  <dcterms:created xsi:type="dcterms:W3CDTF">2026-04-16T18:24:23Z</dcterms:created>
  <dcterms:modified xsi:type="dcterms:W3CDTF">2026-04-16T18:24:23Z</dcterms:modified>
</cp:coreProperties>
</file>